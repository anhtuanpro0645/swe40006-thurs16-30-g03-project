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7" r:id="rId4"/>
    <p:sldMasterId id="2147483691" r:id="rId5"/>
    <p:sldMasterId id="2147483700" r:id="rId6"/>
    <p:sldMasterId id="2147483709" r:id="rId7"/>
  </p:sldMasterIdLst>
  <p:notesMasterIdLst>
    <p:notesMasterId r:id="rId18"/>
  </p:notesMasterIdLst>
  <p:handoutMasterIdLst>
    <p:handoutMasterId r:id="rId19"/>
  </p:handoutMasterIdLst>
  <p:sldIdLst>
    <p:sldId id="285" r:id="rId8"/>
    <p:sldId id="262" r:id="rId9"/>
    <p:sldId id="426" r:id="rId10"/>
    <p:sldId id="427" r:id="rId11"/>
    <p:sldId id="428" r:id="rId12"/>
    <p:sldId id="430" r:id="rId13"/>
    <p:sldId id="429" r:id="rId14"/>
    <p:sldId id="431" r:id="rId15"/>
    <p:sldId id="433" r:id="rId16"/>
    <p:sldId id="425" r:id="rId17"/>
  </p:sldIdLst>
  <p:sldSz cx="12192000" cy="6858000"/>
  <p:notesSz cx="6858000" cy="9144000"/>
  <p:embeddedFontLst>
    <p:embeddedFont>
      <p:font typeface="Barlow Light" panose="00000400000000000000" pitchFamily="2" charset="0"/>
      <p:regular r:id="rId20"/>
      <p:italic r:id="rId21"/>
    </p:embeddedFont>
    <p:embeddedFont>
      <p:font typeface="Barlow SemiBold" panose="00000700000000000000" pitchFamily="2" charset="0"/>
      <p:regular r:id="rId22"/>
      <p:bold r:id="rId23"/>
      <p:italic r:id="rId24"/>
      <p:boldItalic r:id="rId25"/>
    </p:embeddedFont>
    <p:embeddedFont>
      <p:font typeface="Consolas" panose="020B0609020204030204" pitchFamily="49" charset="0"/>
      <p:regular r:id="rId26"/>
      <p:bold r:id="rId27"/>
      <p:italic r:id="rId28"/>
      <p:boldItalic r:id="rId29"/>
    </p:embeddedFont>
    <p:embeddedFont>
      <p:font typeface="Montserrat" panose="00000500000000000000" pitchFamily="2" charset="0"/>
      <p:regular r:id="rId30"/>
      <p:bold r:id="rId31"/>
      <p:italic r:id="rId32"/>
      <p:boldItalic r:id="rId33"/>
    </p:embeddedFont>
    <p:embeddedFont>
      <p:font typeface="Open Sans" panose="020B0606030504020204" pitchFamily="34" charset="0"/>
      <p:regular r:id="rId34"/>
      <p:bold r:id="rId35"/>
      <p:italic r:id="rId36"/>
      <p:boldItalic r:id="rId37"/>
    </p:embeddedFont>
    <p:embeddedFont>
      <p:font typeface="Open Sans Extrabold" panose="020B0906030804020204" pitchFamily="34" charset="0"/>
      <p:bold r:id="rId38"/>
      <p:italic r:id="rId39"/>
      <p:boldItalic r:id="rId40"/>
    </p:embeddedFont>
    <p:embeddedFont>
      <p:font typeface="Open Sans Light" panose="020B0306030504020204" pitchFamily="34" charset="0"/>
      <p:regular r:id="rId41"/>
      <p:italic r:id="rId42"/>
    </p:embeddedFont>
    <p:embeddedFont>
      <p:font typeface="Open Sans Semibold" panose="020B0706030804020204" pitchFamily="34"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5A5"/>
    <a:srgbClr val="3D3A3B"/>
    <a:srgbClr val="E7E7E8"/>
    <a:srgbClr val="00CB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p:restoredTop sz="78108"/>
  </p:normalViewPr>
  <p:slideViewPr>
    <p:cSldViewPr snapToGrid="0" snapToObjects="1">
      <p:cViewPr varScale="1">
        <p:scale>
          <a:sx n="83" d="100"/>
          <a:sy n="83" d="100"/>
        </p:scale>
        <p:origin x="1782" y="7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notesMaster" Target="notesMasters/notesMaster1.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font" Target="fonts/font10.fntdata"/><Relationship Id="rId11" Type="http://schemas.openxmlformats.org/officeDocument/2006/relationships/slide" Target="slides/slide4.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font" Target="fonts/font26.fntdata"/><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handoutMaster" Target="handoutMasters/handoutMaster1.xml"/><Relationship Id="rId31" Type="http://schemas.openxmlformats.org/officeDocument/2006/relationships/font" Target="fonts/font12.fntdata"/><Relationship Id="rId44" Type="http://schemas.openxmlformats.org/officeDocument/2006/relationships/font" Target="fonts/font25.fntdata"/><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font" Target="fonts/font27.fntdata"/><Relationship Id="rId20" Type="http://schemas.openxmlformats.org/officeDocument/2006/relationships/font" Target="fonts/font1.fntdata"/><Relationship Id="rId41" Type="http://schemas.openxmlformats.org/officeDocument/2006/relationships/font" Target="fonts/font22.fntdata"/><Relationship Id="rId1" Type="http://schemas.openxmlformats.org/officeDocument/2006/relationships/customXml" Target="../customXml/item1.xml"/><Relationship Id="rId6"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7E11E6-8150-AF44-AFE7-DF986568B2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7F99326-1140-9949-874B-CD046F3049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5A953B-9909-7344-830D-F654C8372957}" type="datetimeFigureOut">
              <a:rPr lang="en-US" smtClean="0"/>
              <a:t>18-Oct-26</a:t>
            </a:fld>
            <a:endParaRPr lang="en-US"/>
          </a:p>
        </p:txBody>
      </p:sp>
      <p:sp>
        <p:nvSpPr>
          <p:cNvPr id="4" name="Footer Placeholder 3">
            <a:extLst>
              <a:ext uri="{FF2B5EF4-FFF2-40B4-BE49-F238E27FC236}">
                <a16:creationId xmlns:a16="http://schemas.microsoft.com/office/drawing/2014/main" id="{AE5CB73C-BF19-5C49-9411-5E8924F194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D62293-26BF-CA45-A807-782718E6AF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848B1-B0DD-424F-802B-05423415D106}" type="slidenum">
              <a:rPr lang="en-US" smtClean="0"/>
              <a:t>‹#›</a:t>
            </a:fld>
            <a:endParaRPr lang="en-US"/>
          </a:p>
        </p:txBody>
      </p:sp>
    </p:spTree>
    <p:extLst>
      <p:ext uri="{BB962C8B-B14F-4D97-AF65-F5344CB8AC3E}">
        <p14:creationId xmlns:p14="http://schemas.microsoft.com/office/powerpoint/2010/main" val="562753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2CC0F-9473-0047-886D-57B7E191AF4C}" type="datetimeFigureOut">
              <a:rPr lang="en-US" smtClean="0"/>
              <a:t>18-Oct-26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D582C-B91B-2B4F-BB3D-6012B5620939}" type="slidenum">
              <a:rPr lang="en-US" smtClean="0"/>
              <a:t>‹#›</a:t>
            </a:fld>
            <a:endParaRPr lang="en-US" dirty="0"/>
          </a:p>
        </p:txBody>
      </p:sp>
    </p:spTree>
    <p:extLst>
      <p:ext uri="{BB962C8B-B14F-4D97-AF65-F5344CB8AC3E}">
        <p14:creationId xmlns:p14="http://schemas.microsoft.com/office/powerpoint/2010/main" val="997835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MINH (0:30). Good afternoon everyone. We are Group 3. I'm Minh, the application developer. With me are Tuan, who built the CI/CD pipeline and leads the team, Vinh, who owns testing and QA, and Duc, who owns the servers and monitoring. Our project is a URL shortener, and the point of it is the pipeline that delivers it.</a:t>
            </a:r>
          </a:p>
          <a:p>
            <a:r>
              <a:t>TUAN: at this moment, merge the prepared demo pull request on your laptop. Say nothing. The pipeline needs about 5 minutes and must be finished by slide 8.</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MINH (0:10). Read the acknowledgement, or pause on it for a few seconds, then move 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MINH (1:00). Our whole project fits in one sentence: a developer pushes to main, and tested code reaches Production after one click of approval. The strip shows the four environments the unit asks for: GitHub as the code repository, GitHub Actions as the CI and build server, a Staging server on AWS EC2 for automated testing, and a separate Production server. Here is how we split the work, and each of us will present the part we built. We'll finish with a live demo and then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MINH (1:30). Context first. The unit asked every team to build a DevOps toolchain with four environment instances and a web application to push through it, in four levels. The problem we are solving is the one every team faces without a pipeline. Deploying by hand is slow and repetitive. Nothing stops a broken commit from reaching users. Nobody can see what version is running in Production or how it is performing. And when a release goes wrong, there is no quick way back. Our pipeline answers each of those: automated builds and deploys, tests that gate every change, monitoring on Production, and versioned images so we can roll back. On the right you can see the four levels of the unit, and the ticks: we completed all four.</a:t>
            </a:r>
          </a:p>
        </p:txBody>
      </p:sp>
      <p:sp>
        <p:nvSpPr>
          <p:cNvPr id="4" name="Slide Number Placeholder 3"/>
          <p:cNvSpPr>
            <a:spLocks noGrp="1"/>
          </p:cNvSpPr>
          <p:nvPr>
            <p:ph type="sldNum" sz="quarter" idx="5"/>
          </p:nvPr>
        </p:nvSpPr>
        <p:spPr/>
        <p:txBody>
          <a:bodyPr/>
          <a:lstStyle/>
          <a:p>
            <a:fld id="{93BD582C-B91B-2B4F-BB3D-6012B5620939}" type="slidenum">
              <a:rPr lang="en-US" smtClean="0"/>
              <a:t>4</a:t>
            </a:fld>
            <a:endParaRPr lang="en-US" dirty="0"/>
          </a:p>
        </p:txBody>
      </p:sp>
    </p:spTree>
    <p:extLst>
      <p:ext uri="{BB962C8B-B14F-4D97-AF65-F5344CB8AC3E}">
        <p14:creationId xmlns:p14="http://schemas.microsoft.com/office/powerpoint/2010/main" val="1610416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MINH (1:30). The application is a URL shortener. You paste a long link, get a short one, and every click is recorded and shown on a statistics page. It runs as three containers: Nginx serving the Vue front end, a Node and Express API, and PostgreSQL. One Compose file runs the same three containers on our laptops, on Staging and on Production. Only the environment file changes.</a:t>
            </a:r>
          </a:p>
          <a:p>
            <a:r>
              <a:t>The table lists our four environments. GitHub is the repository, with a branch per issue and a protected main. GitHub Actions is the CI server: lint, unit and integration tests, image build, a Trivy security scan, and the push to the container registry. Staging is a small EC2 instance where every merge is deployed and the end-to-end tests run. Production is a separate instance that only receives an image that has passed all of that.</a:t>
            </a:r>
          </a:p>
          <a:p>
            <a:r>
              <a:t>Our automation boundary: everything up to Staging and the end-to-end tests is automatic. Production needs one human approval, which is deliberate. And these are the targets we set ourselves in the Project Brief. Tuan will show how we did against them.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TUAN (1:30). This table compares the targets we wrote in the Project Brief with what we measured. Coverage: we targeted 80 percent and reached 98.7 percent, with 121 unit tests, 3 integration tests against a real PostgreSQL, and 4 Playwright end-to-end tests against Staging. Speed: the target was under 5 minutes from push to Production. On this run, Staging was live after 2 minutes 21 seconds, the end-to-end tests finished at 3 minutes 7, and Production was live at 4 minutes 56, and that includes about a minute waiting for the approval click. Security: Trivy scans both images on every run and a fixable critical vulnerability fails the build. Every merge deploys to Staging with a health smoke test. Monitoring is live on Production. Rollback is the last piece and is in progress.</a:t>
            </a:r>
          </a:p>
          <a:p>
            <a:r>
              <a:t>The chart on the right is one real run on main. The three test jobs run in parallel, then the two images build in parallel, then Staging, end-to-end, the approval wait in grey, and Production in red.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DUC (2:30). This is the architecture. A developer pushes a branch and opens a pull request on GitHub. GitHub Actions lints, runs the unit and integration tests, builds the two Docker images, scans them with Trivy, and pushes them to the GitHub Container Registry tagged with the commit SHA. The same image is then deployed to Staging, where a smoke test and the Playwright end-to-end tests run. If they pass, the run waits for one approval, and the identical image goes to Production. Production also runs the monitoring stack: Prometheus scrapes the API's metrics endpoint plus node_exporter and cAdvisor, and Grafana shows CPU, memory, disk, network, request rate and p95 latency.</a:t>
            </a:r>
          </a:p>
          <a:p>
            <a:r>
              <a:t>Design concepts: build once and promote the same image, so what we tested is what runs. Same Compose file and deploy script on both servers, so Staging is a true rehearsal. Trunk-based development with a branch per issue. And a health endpoint that gates every deployment.</a:t>
            </a:r>
          </a:p>
          <a:p>
            <a:r>
              <a:t>Trade-offs: GitHub Actions over Jenkins because there is no server to run or patch, and the pipeline lives next to the code. EC2 over DigitalOcean or local VMs for public IPs, security groups and the free tier, and I had used EC2 before. Docker Compose over Kubernetes because three containers on one host do not justify a cluster. Prometheus and Grafana over CloudWatch because they are open source, run beside the app, and cost nothing. And one JavaScript stack for tests, with Playwright for end-to-end.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VINH (2:00). Four problems that only appeared when the parts met, and how we handled them.</a:t>
            </a:r>
          </a:p>
          <a:p>
            <a:r>
              <a:t>One. Our metrics label every request with its route pattern. Tuan noticed in review that failed requests inside a mounted router were labelled wrongly, because Express resets the base URL when an error leaves the router. Minh reproduced it, added a one-line middleware that remembers the mount path, and wrote a unit test where the database query rejects. The test now guards it.</a:t>
            </a:r>
          </a:p>
          <a:p>
            <a:r>
              <a:t>Two. The monitoring stack had to join the app's Docker network on Production before the app was deployed there. Creating the network by hand would have broken the first real deploy, because Compose checks the network labels. So Tuan ran the first deploy with the normal deploy script and Prometheus joins the network as external.</a:t>
            </a:r>
          </a:p>
          <a:p>
            <a:r>
              <a:t>Three. Our SSH user is called deploy and it was stored as a secret. GitHub masks secrets in logs, so every word deploy in the logs became three stars, including step names. We moved the user name to a variable; only the host, key and host key stay secret.</a:t>
            </a:r>
          </a:p>
          <a:p>
            <a:r>
              <a:t>Four. Prometheus must reach the metrics endpoint but the internet must not. Nginx returns 404 for slash metrics, Prometheus scrapes the API directly on the Docker network, and Express uses case-sensitive routing so slash capital METRICS cannot slip past.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TUAN (steps 1 to 3, 1:30). At the start of the talk I merged a pull request that changes one line of visible text on the home page. Here is the run it triggered. The test jobs, the two image builds, the Trivy scan, the Staging deploy and the end-to-end tests are all green, and here is the commit SHA. The run is waiting for approval. I'll approve it now. Production takes about a minute: pull the image, restart the containers, health check.</a:t>
            </a:r>
          </a:p>
          <a:p>
            <a:r>
              <a:t>MINH (steps 4 and 5, 1:30). While that finishes, this is the live site. Refresh: the new text is there, and the footer shows the first seven characters of the same SHA. I'll paste a long URL, get a short link, open it a few times, and the stats page shows the clicks per day, browsers and referrers.</a:t>
            </a:r>
          </a:p>
          <a:p>
            <a:r>
              <a:t>DUC (step 6, 0:30). Grafana on Production: the request rate panel shows the clicks Minh just made, split by route, and p95 latency stays around a few milliseconds.</a:t>
            </a:r>
          </a:p>
          <a:p>
            <a:r>
              <a:t>TUAN (step 7, 0:30). Finally, rollback: redeploy the previous SHA with one command, and the footer shows the old version again. If anything fails live, we switch to the recorded video.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MINH (0:30). That is our pipeline. The code, the workflow, the deploy scripts and the monitoring configuration are all in the repository. We're happy to take questions. Pipeline and deployment questions go to Tuan, testing to Vinh, servers and Grafana to Duc, the app to 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7.jpg"/><Relationship Id="rId4"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arge logo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B89EEF8-F59E-404A-ADC6-4CDB120479DB}"/>
              </a:ext>
            </a:extLst>
          </p:cNvPr>
          <p:cNvPicPr>
            <a:picLocks noChangeAspect="1"/>
          </p:cNvPicPr>
          <p:nvPr/>
        </p:nvPicPr>
        <p:blipFill>
          <a:blip r:embed="rId2"/>
          <a:stretch>
            <a:fillRect/>
          </a:stretch>
        </p:blipFill>
        <p:spPr>
          <a:xfrm>
            <a:off x="9984686" y="422097"/>
            <a:ext cx="1762621" cy="855390"/>
          </a:xfrm>
          <a:prstGeom prst="rect">
            <a:avLst/>
          </a:prstGeom>
          <a:ln w="6350">
            <a:noFill/>
          </a:ln>
        </p:spPr>
      </p:pic>
      <p:pic>
        <p:nvPicPr>
          <p:cNvPr id="3" name="Picture 2">
            <a:extLst>
              <a:ext uri="{FF2B5EF4-FFF2-40B4-BE49-F238E27FC236}">
                <a16:creationId xmlns:a16="http://schemas.microsoft.com/office/drawing/2014/main" id="{3AA94B2B-C868-468D-91DC-8F17D0A5F9D5}"/>
              </a:ext>
            </a:extLst>
          </p:cNvPr>
          <p:cNvPicPr>
            <a:picLocks noChangeAspect="1"/>
          </p:cNvPicPr>
          <p:nvPr userDrawn="1"/>
        </p:nvPicPr>
        <p:blipFill>
          <a:blip r:embed="rId2"/>
          <a:stretch>
            <a:fillRect/>
          </a:stretch>
        </p:blipFill>
        <p:spPr>
          <a:xfrm>
            <a:off x="9984686" y="422097"/>
            <a:ext cx="1762621" cy="855390"/>
          </a:xfrm>
          <a:prstGeom prst="rect">
            <a:avLst/>
          </a:prstGeom>
          <a:ln w="6350">
            <a:noFill/>
          </a:ln>
        </p:spPr>
      </p:pic>
    </p:spTree>
    <p:extLst>
      <p:ext uri="{BB962C8B-B14F-4D97-AF65-F5344CB8AC3E}">
        <p14:creationId xmlns:p14="http://schemas.microsoft.com/office/powerpoint/2010/main" val="15458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mall logo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9D304B-F131-D04E-9BB2-C234FACCF3FA}"/>
              </a:ext>
            </a:extLst>
          </p:cNvPr>
          <p:cNvPicPr>
            <a:picLocks noChangeAspect="1"/>
          </p:cNvPicPr>
          <p:nvPr/>
        </p:nvPicPr>
        <p:blipFill>
          <a:blip r:embed="rId2"/>
          <a:stretch>
            <a:fillRect/>
          </a:stretch>
        </p:blipFill>
        <p:spPr>
          <a:xfrm>
            <a:off x="10886515" y="6104792"/>
            <a:ext cx="989746" cy="480318"/>
          </a:xfrm>
          <a:prstGeom prst="rect">
            <a:avLst/>
          </a:prstGeom>
          <a:ln w="6350">
            <a:noFill/>
          </a:ln>
        </p:spPr>
      </p:pic>
      <p:pic>
        <p:nvPicPr>
          <p:cNvPr id="3" name="Picture 2">
            <a:extLst>
              <a:ext uri="{FF2B5EF4-FFF2-40B4-BE49-F238E27FC236}">
                <a16:creationId xmlns:a16="http://schemas.microsoft.com/office/drawing/2014/main" id="{A7CE54F5-4EC8-495D-B871-5FDD7F4764F9}"/>
              </a:ext>
            </a:extLst>
          </p:cNvPr>
          <p:cNvPicPr>
            <a:picLocks noChangeAspect="1"/>
          </p:cNvPicPr>
          <p:nvPr userDrawn="1"/>
        </p:nvPicPr>
        <p:blipFill>
          <a:blip r:embed="rId2"/>
          <a:stretch>
            <a:fillRect/>
          </a:stretch>
        </p:blipFill>
        <p:spPr>
          <a:xfrm>
            <a:off x="10886515" y="6104792"/>
            <a:ext cx="989746" cy="480318"/>
          </a:xfrm>
          <a:prstGeom prst="rect">
            <a:avLst/>
          </a:prstGeom>
          <a:ln w="6350">
            <a:noFill/>
          </a:ln>
        </p:spPr>
      </p:pic>
    </p:spTree>
    <p:extLst>
      <p:ext uri="{BB962C8B-B14F-4D97-AF65-F5344CB8AC3E}">
        <p14:creationId xmlns:p14="http://schemas.microsoft.com/office/powerpoint/2010/main" val="1771913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718929" y="2445781"/>
            <a:ext cx="7152861" cy="865622"/>
          </a:xfrm>
          <a:prstGeom prst="rect">
            <a:avLst/>
          </a:prstGeom>
        </p:spPr>
        <p:txBody>
          <a:bodyPr wrap="square" anchor="t" anchorCtr="0">
            <a:spAutoFit/>
          </a:bodyPr>
          <a:lstStyle>
            <a:lvl1pPr algn="l">
              <a:lnSpc>
                <a:spcPts val="6620"/>
              </a:lnSpc>
              <a:defRPr sz="5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4" name="Subtitle 2">
            <a:extLst>
              <a:ext uri="{FF2B5EF4-FFF2-40B4-BE49-F238E27FC236}">
                <a16:creationId xmlns:a16="http://schemas.microsoft.com/office/drawing/2014/main" id="{19EECD76-5546-394C-A08F-DB8E115F0080}"/>
              </a:ext>
            </a:extLst>
          </p:cNvPr>
          <p:cNvSpPr>
            <a:spLocks noGrp="1"/>
          </p:cNvSpPr>
          <p:nvPr>
            <p:ph type="subTitle" idx="1" hasCustomPrompt="1"/>
          </p:nvPr>
        </p:nvSpPr>
        <p:spPr>
          <a:xfrm>
            <a:off x="718929" y="3382499"/>
            <a:ext cx="7152861" cy="432811"/>
          </a:xfrm>
          <a:prstGeom prst="rect">
            <a:avLst/>
          </a:prstGeom>
        </p:spPr>
        <p:txBody>
          <a:bodyPr wrap="square" anchor="t" anchorCtr="0">
            <a:spAutoFit/>
          </a:bodyPr>
          <a:lstStyle>
            <a:lvl1pPr marL="0" indent="0" algn="l">
              <a:lnSpc>
                <a:spcPts val="2860"/>
              </a:lnSpc>
              <a:spcAft>
                <a:spcPts val="0"/>
              </a:spcAft>
              <a:buNone/>
              <a:defRPr sz="2400" b="0" i="0" cap="none" baseline="0">
                <a:solidFill>
                  <a:srgbClr val="000000"/>
                </a:solidFill>
                <a:latin typeface="Barlow Light" pitchFamily="2" charset="77"/>
                <a:ea typeface="DIN 2014 Light" panose="020B0404020202020204"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subtitle</a:t>
            </a:r>
            <a:endParaRPr lang="en-US" dirty="0"/>
          </a:p>
        </p:txBody>
      </p:sp>
      <p:sp>
        <p:nvSpPr>
          <p:cNvPr id="5" name="Text Placeholder 3">
            <a:extLst>
              <a:ext uri="{FF2B5EF4-FFF2-40B4-BE49-F238E27FC236}">
                <a16:creationId xmlns:a16="http://schemas.microsoft.com/office/drawing/2014/main" id="{B35A7696-ECE8-C940-A4FE-4B77CA605C4E}"/>
              </a:ext>
            </a:extLst>
          </p:cNvPr>
          <p:cNvSpPr>
            <a:spLocks noGrp="1"/>
          </p:cNvSpPr>
          <p:nvPr>
            <p:ph type="body" sz="quarter" idx="10" hasCustomPrompt="1"/>
          </p:nvPr>
        </p:nvSpPr>
        <p:spPr>
          <a:xfrm>
            <a:off x="718929" y="4114378"/>
            <a:ext cx="3497815" cy="284578"/>
          </a:xfrm>
          <a:prstGeom prst="rect">
            <a:avLst/>
          </a:prstGeom>
        </p:spPr>
        <p:txBody>
          <a:bodyPr>
            <a:normAutofit/>
          </a:bodyPr>
          <a:lstStyle>
            <a:lvl1pPr marL="0" indent="0" algn="l">
              <a:buFontTx/>
              <a:buNone/>
              <a:defRPr sz="140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6" name="Text Placeholder 3">
            <a:extLst>
              <a:ext uri="{FF2B5EF4-FFF2-40B4-BE49-F238E27FC236}">
                <a16:creationId xmlns:a16="http://schemas.microsoft.com/office/drawing/2014/main" id="{CDC6E18F-FA4E-DF49-843E-38F72D48BA93}"/>
              </a:ext>
            </a:extLst>
          </p:cNvPr>
          <p:cNvSpPr>
            <a:spLocks noGrp="1"/>
          </p:cNvSpPr>
          <p:nvPr>
            <p:ph type="body" sz="quarter" idx="11" hasCustomPrompt="1"/>
          </p:nvPr>
        </p:nvSpPr>
        <p:spPr>
          <a:xfrm>
            <a:off x="718929" y="4442370"/>
            <a:ext cx="3497815" cy="284578"/>
          </a:xfrm>
          <a:prstGeom prst="rect">
            <a:avLst/>
          </a:prstGeom>
        </p:spPr>
        <p:txBody>
          <a:bodyPr>
            <a:normAutofit/>
          </a:bodyPr>
          <a:lstStyle>
            <a:lvl1pPr marL="0" indent="0" algn="l">
              <a:buFontTx/>
              <a:buNone/>
              <a:defRPr sz="140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52909" t="68124" r="2" b="10595"/>
          <a:stretch/>
        </p:blipFill>
        <p:spPr>
          <a:xfrm>
            <a:off x="8102009" y="3233854"/>
            <a:ext cx="3662391" cy="3300759"/>
          </a:xfrm>
          <a:prstGeom prst="rect">
            <a:avLst/>
          </a:prstGeom>
        </p:spPr>
      </p:pic>
      <p:pic>
        <p:nvPicPr>
          <p:cNvPr id="8" name="Picture 7">
            <a:extLst>
              <a:ext uri="{FF2B5EF4-FFF2-40B4-BE49-F238E27FC236}">
                <a16:creationId xmlns:a16="http://schemas.microsoft.com/office/drawing/2014/main" id="{9A92F9E7-BC4A-CD44-9374-3963AC3F1A2C}"/>
              </a:ext>
            </a:extLst>
          </p:cNvPr>
          <p:cNvPicPr>
            <a:picLocks noChangeAspect="1"/>
          </p:cNvPicPr>
          <p:nvPr/>
        </p:nvPicPr>
        <p:blipFill>
          <a:blip r:embed="rId3"/>
          <a:stretch>
            <a:fillRect/>
          </a:stretch>
        </p:blipFill>
        <p:spPr>
          <a:xfrm>
            <a:off x="9984686" y="422097"/>
            <a:ext cx="1762621" cy="855390"/>
          </a:xfrm>
          <a:prstGeom prst="rect">
            <a:avLst/>
          </a:prstGeom>
          <a:ln w="6350">
            <a:noFill/>
          </a:ln>
        </p:spPr>
      </p:pic>
      <p:pic>
        <p:nvPicPr>
          <p:cNvPr id="10" name="Picture 9">
            <a:extLst>
              <a:ext uri="{FF2B5EF4-FFF2-40B4-BE49-F238E27FC236}">
                <a16:creationId xmlns:a16="http://schemas.microsoft.com/office/drawing/2014/main" id="{6427B3FD-0E2F-1A45-9E15-2CEF5BB47DA6}"/>
              </a:ext>
            </a:extLst>
          </p:cNvPr>
          <p:cNvPicPr>
            <a:picLocks noChangeAspect="1"/>
          </p:cNvPicPr>
          <p:nvPr/>
        </p:nvPicPr>
        <p:blipFill rotWithShape="1">
          <a:blip r:embed="rId2"/>
          <a:srcRect l="3874" t="49360" r="52758" b="42026"/>
          <a:stretch/>
        </p:blipFill>
        <p:spPr>
          <a:xfrm>
            <a:off x="271667" y="323388"/>
            <a:ext cx="3372988" cy="1336079"/>
          </a:xfrm>
          <a:prstGeom prst="rect">
            <a:avLst/>
          </a:prstGeom>
        </p:spPr>
      </p:pic>
    </p:spTree>
    <p:extLst>
      <p:ext uri="{BB962C8B-B14F-4D97-AF65-F5344CB8AC3E}">
        <p14:creationId xmlns:p14="http://schemas.microsoft.com/office/powerpoint/2010/main" val="365932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with one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489720" y="5565272"/>
            <a:ext cx="1814147"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430280" y="1869345"/>
            <a:ext cx="5618375" cy="865622"/>
          </a:xfrm>
          <a:prstGeom prst="rect">
            <a:avLst/>
          </a:prstGeom>
        </p:spPr>
        <p:txBody>
          <a:bodyPr wrap="square" anchor="t" anchorCtr="0">
            <a:spAutoFit/>
          </a:bodyPr>
          <a:lstStyle>
            <a:lvl1pPr algn="l">
              <a:lnSpc>
                <a:spcPts val="6620"/>
              </a:lnSpc>
              <a:defRPr sz="5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430280" y="2806063"/>
            <a:ext cx="5618375" cy="432811"/>
          </a:xfrm>
          <a:prstGeom prst="rect">
            <a:avLst/>
          </a:prstGeom>
        </p:spPr>
        <p:txBody>
          <a:bodyPr wrap="square" anchor="t" anchorCtr="0">
            <a:spAutoFit/>
          </a:bodyPr>
          <a:lstStyle>
            <a:lvl1pPr marL="0" indent="0" algn="l">
              <a:lnSpc>
                <a:spcPts val="2860"/>
              </a:lnSpc>
              <a:spcAft>
                <a:spcPts val="0"/>
              </a:spcAft>
              <a:buNone/>
              <a:defRPr sz="2400" b="0" i="0" cap="none" baseline="0">
                <a:solidFill>
                  <a:srgbClr val="000000"/>
                </a:solidFill>
                <a:latin typeface="Barlow Light" pitchFamily="2" charset="77"/>
                <a:ea typeface="DIN 2014 Light" panose="020B0404020202020204"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430280" y="3537942"/>
            <a:ext cx="3497815" cy="284578"/>
          </a:xfrm>
          <a:prstGeom prst="rect">
            <a:avLst/>
          </a:prstGeom>
        </p:spPr>
        <p:txBody>
          <a:bodyPr>
            <a:normAutofit/>
          </a:bodyPr>
          <a:lstStyle>
            <a:lvl1pPr marL="0" indent="0" algn="l">
              <a:buFontTx/>
              <a:buNone/>
              <a:defRPr sz="140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430280" y="3865934"/>
            <a:ext cx="3497815" cy="284578"/>
          </a:xfrm>
          <a:prstGeom prst="rect">
            <a:avLst/>
          </a:prstGeom>
        </p:spPr>
        <p:txBody>
          <a:bodyPr>
            <a:normAutofit/>
          </a:bodyPr>
          <a:lstStyle>
            <a:lvl1pPr marL="0" indent="0" algn="l">
              <a:buFontTx/>
              <a:buNone/>
              <a:defRPr sz="140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userDrawn="1"/>
        </p:nvPicPr>
        <p:blipFill rotWithShape="1">
          <a:blip r:embed="rId3"/>
          <a:srcRect l="-4606" t="49360" r="68851" b="45400"/>
          <a:stretch/>
        </p:blipFill>
        <p:spPr>
          <a:xfrm>
            <a:off x="131977" y="323389"/>
            <a:ext cx="2780907" cy="812754"/>
          </a:xfrm>
          <a:prstGeom prst="rect">
            <a:avLst/>
          </a:prstGeom>
        </p:spPr>
      </p:pic>
      <p:grpSp>
        <p:nvGrpSpPr>
          <p:cNvPr id="17" name="Group 16">
            <a:extLst>
              <a:ext uri="{FF2B5EF4-FFF2-40B4-BE49-F238E27FC236}">
                <a16:creationId xmlns:a16="http://schemas.microsoft.com/office/drawing/2014/main" id="{A83BEE6D-49FB-440F-98D5-CB1C44202049}"/>
              </a:ext>
            </a:extLst>
          </p:cNvPr>
          <p:cNvGrpSpPr/>
          <p:nvPr userDrawn="1"/>
        </p:nvGrpSpPr>
        <p:grpSpPr>
          <a:xfrm>
            <a:off x="5557919" y="4760536"/>
            <a:ext cx="5618375" cy="1980506"/>
            <a:chOff x="5557919" y="4760536"/>
            <a:chExt cx="5618375" cy="1980506"/>
          </a:xfrm>
        </p:grpSpPr>
        <p:pic>
          <p:nvPicPr>
            <p:cNvPr id="8" name="Picture 7">
              <a:extLst>
                <a:ext uri="{FF2B5EF4-FFF2-40B4-BE49-F238E27FC236}">
                  <a16:creationId xmlns:a16="http://schemas.microsoft.com/office/drawing/2014/main" id="{2320B6F8-8E52-F940-BA78-A0A2B78F1B1F}"/>
                </a:ext>
              </a:extLst>
            </p:cNvPr>
            <p:cNvPicPr>
              <a:picLocks noChangeAspect="1"/>
            </p:cNvPicPr>
            <p:nvPr userDrawn="1"/>
          </p:nvPicPr>
          <p:blipFill rotWithShape="1">
            <a:blip r:embed="rId3"/>
            <a:srcRect l="32480" t="77968" r="-4719" b="9263"/>
            <a:stretch/>
          </p:blipFill>
          <p:spPr>
            <a:xfrm>
              <a:off x="5557919" y="4760536"/>
              <a:ext cx="5618375" cy="1980506"/>
            </a:xfrm>
            <a:prstGeom prst="rect">
              <a:avLst/>
            </a:prstGeom>
          </p:spPr>
        </p:pic>
        <p:sp>
          <p:nvSpPr>
            <p:cNvPr id="16" name="Rectangle 15">
              <a:extLst>
                <a:ext uri="{FF2B5EF4-FFF2-40B4-BE49-F238E27FC236}">
                  <a16:creationId xmlns:a16="http://schemas.microsoft.com/office/drawing/2014/main" id="{3637A5EF-1CCA-4630-996C-77608B56F8B3}"/>
                </a:ext>
              </a:extLst>
            </p:cNvPr>
            <p:cNvSpPr/>
            <p:nvPr userDrawn="1"/>
          </p:nvSpPr>
          <p:spPr>
            <a:xfrm>
              <a:off x="6748272" y="4837176"/>
              <a:ext cx="4361688" cy="99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Picture Placeholder 14">
            <a:extLst>
              <a:ext uri="{FF2B5EF4-FFF2-40B4-BE49-F238E27FC236}">
                <a16:creationId xmlns:a16="http://schemas.microsoft.com/office/drawing/2014/main" id="{D6B6C16E-6CB1-4D84-B65E-7BE162FA3C70}"/>
              </a:ext>
            </a:extLst>
          </p:cNvPr>
          <p:cNvSpPr>
            <a:spLocks noGrp="1"/>
          </p:cNvSpPr>
          <p:nvPr>
            <p:ph type="pic" sz="quarter" idx="12" hasCustomPrompt="1"/>
          </p:nvPr>
        </p:nvSpPr>
        <p:spPr>
          <a:xfrm>
            <a:off x="6953175" y="404813"/>
            <a:ext cx="4833937" cy="5197475"/>
          </a:xfrm>
          <a:prstGeom prst="rect">
            <a:avLst/>
          </a:prstGeom>
        </p:spPr>
        <p:txBody>
          <a:bodyPr/>
          <a:lstStyle>
            <a:lvl1pPr>
              <a:defRPr sz="1400"/>
            </a:lvl1pPr>
          </a:lstStyle>
          <a:p>
            <a:r>
              <a:rPr lang="en-US" dirty="0"/>
              <a:t>Click icon to add image</a:t>
            </a:r>
          </a:p>
        </p:txBody>
      </p:sp>
    </p:spTree>
    <p:extLst>
      <p:ext uri="{BB962C8B-B14F-4D97-AF65-F5344CB8AC3E}">
        <p14:creationId xmlns:p14="http://schemas.microsoft.com/office/powerpoint/2010/main" val="2787306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with two imag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489720" y="5565272"/>
            <a:ext cx="1814147"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430280" y="1869345"/>
            <a:ext cx="6506097" cy="865622"/>
          </a:xfrm>
          <a:prstGeom prst="rect">
            <a:avLst/>
          </a:prstGeom>
        </p:spPr>
        <p:txBody>
          <a:bodyPr wrap="square" anchor="t" anchorCtr="0">
            <a:spAutoFit/>
          </a:bodyPr>
          <a:lstStyle>
            <a:lvl1pPr algn="l">
              <a:lnSpc>
                <a:spcPts val="6620"/>
              </a:lnSpc>
              <a:defRPr sz="5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430280" y="2806063"/>
            <a:ext cx="6506097" cy="432811"/>
          </a:xfrm>
          <a:prstGeom prst="rect">
            <a:avLst/>
          </a:prstGeom>
        </p:spPr>
        <p:txBody>
          <a:bodyPr wrap="square" anchor="t" anchorCtr="0">
            <a:spAutoFit/>
          </a:bodyPr>
          <a:lstStyle>
            <a:lvl1pPr marL="0" indent="0" algn="l">
              <a:lnSpc>
                <a:spcPts val="2860"/>
              </a:lnSpc>
              <a:spcAft>
                <a:spcPts val="0"/>
              </a:spcAft>
              <a:buNone/>
              <a:defRPr sz="2400" b="0" i="0" cap="none" baseline="0">
                <a:solidFill>
                  <a:srgbClr val="000000"/>
                </a:solidFill>
                <a:latin typeface="Barlow Light" pitchFamily="2" charset="77"/>
                <a:ea typeface="DIN 2014 Light" panose="020B0404020202020204"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430280" y="3537942"/>
            <a:ext cx="3497815" cy="284578"/>
          </a:xfrm>
          <a:prstGeom prst="rect">
            <a:avLst/>
          </a:prstGeom>
        </p:spPr>
        <p:txBody>
          <a:bodyPr>
            <a:normAutofit/>
          </a:bodyPr>
          <a:lstStyle>
            <a:lvl1pPr marL="0" indent="0" algn="l">
              <a:buFontTx/>
              <a:buNone/>
              <a:defRPr sz="140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430280" y="3865934"/>
            <a:ext cx="3497815" cy="284578"/>
          </a:xfrm>
          <a:prstGeom prst="rect">
            <a:avLst/>
          </a:prstGeom>
        </p:spPr>
        <p:txBody>
          <a:bodyPr>
            <a:normAutofit/>
          </a:bodyPr>
          <a:lstStyle>
            <a:lvl1pPr marL="0" indent="0" algn="l">
              <a:buFontTx/>
              <a:buNone/>
              <a:defRPr sz="140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131977" y="323389"/>
            <a:ext cx="2780907" cy="812754"/>
          </a:xfrm>
          <a:prstGeom prst="rect">
            <a:avLst/>
          </a:prstGeom>
        </p:spPr>
      </p:pic>
      <p:pic>
        <p:nvPicPr>
          <p:cNvPr id="16" name="Picture 15">
            <a:extLst>
              <a:ext uri="{FF2B5EF4-FFF2-40B4-BE49-F238E27FC236}">
                <a16:creationId xmlns:a16="http://schemas.microsoft.com/office/drawing/2014/main" id="{71B7D4E7-3C73-7A4A-946D-63804544EC4C}"/>
              </a:ext>
            </a:extLst>
          </p:cNvPr>
          <p:cNvPicPr>
            <a:picLocks noChangeAspect="1"/>
          </p:cNvPicPr>
          <p:nvPr/>
        </p:nvPicPr>
        <p:blipFill rotWithShape="1">
          <a:blip r:embed="rId3"/>
          <a:srcRect l="52634" t="78297" r="1" b="10595"/>
          <a:stretch/>
        </p:blipFill>
        <p:spPr>
          <a:xfrm>
            <a:off x="8080513" y="4811775"/>
            <a:ext cx="3683888" cy="1722838"/>
          </a:xfrm>
          <a:prstGeom prst="rect">
            <a:avLst/>
          </a:prstGeom>
        </p:spPr>
      </p:pic>
      <p:pic>
        <p:nvPicPr>
          <p:cNvPr id="11" name="Picture 10">
            <a:extLst>
              <a:ext uri="{FF2B5EF4-FFF2-40B4-BE49-F238E27FC236}">
                <a16:creationId xmlns:a16="http://schemas.microsoft.com/office/drawing/2014/main" id="{4E0CDDDD-6F87-BF44-8B03-FC4E347C60AE}"/>
              </a:ext>
            </a:extLst>
          </p:cNvPr>
          <p:cNvPicPr>
            <a:picLocks noChangeAspect="1"/>
          </p:cNvPicPr>
          <p:nvPr/>
        </p:nvPicPr>
        <p:blipFill rotWithShape="1">
          <a:blip r:embed="rId3"/>
          <a:srcRect l="37923" t="71919" r="51711" b="23057"/>
          <a:stretch/>
        </p:blipFill>
        <p:spPr>
          <a:xfrm>
            <a:off x="6936377" y="3822520"/>
            <a:ext cx="806206" cy="779297"/>
          </a:xfrm>
          <a:prstGeom prst="rect">
            <a:avLst/>
          </a:prstGeom>
        </p:spPr>
      </p:pic>
      <p:sp>
        <p:nvSpPr>
          <p:cNvPr id="21" name="Picture Placeholder 7">
            <a:extLst>
              <a:ext uri="{FF2B5EF4-FFF2-40B4-BE49-F238E27FC236}">
                <a16:creationId xmlns:a16="http://schemas.microsoft.com/office/drawing/2014/main" id="{A52323EE-F917-4344-990B-84E13A1D887E}"/>
              </a:ext>
            </a:extLst>
          </p:cNvPr>
          <p:cNvSpPr>
            <a:spLocks noGrp="1"/>
          </p:cNvSpPr>
          <p:nvPr>
            <p:ph type="pic" sz="quarter" idx="12" hasCustomPrompt="1"/>
          </p:nvPr>
        </p:nvSpPr>
        <p:spPr>
          <a:xfrm>
            <a:off x="7875588" y="452438"/>
            <a:ext cx="4316412" cy="4270375"/>
          </a:xfrm>
          <a:prstGeom prst="rect">
            <a:avLst/>
          </a:prstGeom>
        </p:spPr>
        <p:txBody>
          <a:bodyPr/>
          <a:lstStyle>
            <a:lvl1pPr marL="0" indent="0">
              <a:buNone/>
              <a:defRPr sz="1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image</a:t>
            </a:r>
          </a:p>
        </p:txBody>
      </p:sp>
      <p:sp>
        <p:nvSpPr>
          <p:cNvPr id="23" name="Picture Placeholder 21">
            <a:extLst>
              <a:ext uri="{FF2B5EF4-FFF2-40B4-BE49-F238E27FC236}">
                <a16:creationId xmlns:a16="http://schemas.microsoft.com/office/drawing/2014/main" id="{2EAF4550-BE04-4D85-8140-CAEE531D6063}"/>
              </a:ext>
            </a:extLst>
          </p:cNvPr>
          <p:cNvSpPr>
            <a:spLocks noGrp="1"/>
          </p:cNvSpPr>
          <p:nvPr>
            <p:ph type="pic" sz="quarter" idx="13" hasCustomPrompt="1"/>
          </p:nvPr>
        </p:nvSpPr>
        <p:spPr>
          <a:xfrm>
            <a:off x="5722938" y="4722813"/>
            <a:ext cx="2152650" cy="1722437"/>
          </a:xfrm>
          <a:prstGeom prst="rect">
            <a:avLst/>
          </a:prstGeom>
        </p:spPr>
        <p:txBody>
          <a:bodyPr/>
          <a:lstStyle>
            <a:lvl1pPr marL="0" indent="0">
              <a:buNone/>
              <a:defRPr sz="1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image</a:t>
            </a:r>
          </a:p>
        </p:txBody>
      </p:sp>
    </p:spTree>
    <p:extLst>
      <p:ext uri="{BB962C8B-B14F-4D97-AF65-F5344CB8AC3E}">
        <p14:creationId xmlns:p14="http://schemas.microsoft.com/office/powerpoint/2010/main" val="1839165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cknowledgement of Countr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0301E3A-AEBD-1049-9450-8220EE1A20E1}"/>
              </a:ext>
            </a:extLst>
          </p:cNvPr>
          <p:cNvPicPr>
            <a:picLocks noChangeAspect="1"/>
          </p:cNvPicPr>
          <p:nvPr userDrawn="1"/>
        </p:nvPicPr>
        <p:blipFill rotWithShape="1">
          <a:blip r:embed="rId2"/>
          <a:srcRect l="30498" t="84569" r="1" b="10595"/>
          <a:stretch/>
        </p:blipFill>
        <p:spPr>
          <a:xfrm>
            <a:off x="6358878" y="5784573"/>
            <a:ext cx="5405523" cy="750039"/>
          </a:xfrm>
          <a:prstGeom prst="rect">
            <a:avLst/>
          </a:prstGeom>
        </p:spPr>
      </p:pic>
      <p:pic>
        <p:nvPicPr>
          <p:cNvPr id="11" name="Picture 10">
            <a:extLst>
              <a:ext uri="{FF2B5EF4-FFF2-40B4-BE49-F238E27FC236}">
                <a16:creationId xmlns:a16="http://schemas.microsoft.com/office/drawing/2014/main" id="{690B0078-646E-0A42-AFBD-3E03F49122A2}"/>
              </a:ext>
            </a:extLst>
          </p:cNvPr>
          <p:cNvPicPr>
            <a:picLocks noChangeAspect="1"/>
          </p:cNvPicPr>
          <p:nvPr/>
        </p:nvPicPr>
        <p:blipFill rotWithShape="1">
          <a:blip r:embed="rId2"/>
          <a:srcRect l="-4606" t="49360" r="68851" b="45400"/>
          <a:stretch/>
        </p:blipFill>
        <p:spPr>
          <a:xfrm>
            <a:off x="131977" y="323389"/>
            <a:ext cx="2780907" cy="812754"/>
          </a:xfrm>
          <a:prstGeom prst="rect">
            <a:avLst/>
          </a:prstGeom>
        </p:spPr>
      </p:pic>
      <p:sp>
        <p:nvSpPr>
          <p:cNvPr id="2" name="TextBox 1">
            <a:extLst>
              <a:ext uri="{FF2B5EF4-FFF2-40B4-BE49-F238E27FC236}">
                <a16:creationId xmlns:a16="http://schemas.microsoft.com/office/drawing/2014/main" id="{C2021D86-4D96-E542-A7AA-52E138A56A16}"/>
              </a:ext>
            </a:extLst>
          </p:cNvPr>
          <p:cNvSpPr txBox="1"/>
          <p:nvPr/>
        </p:nvSpPr>
        <p:spPr>
          <a:xfrm>
            <a:off x="427599" y="2792273"/>
            <a:ext cx="4592809" cy="2708434"/>
          </a:xfrm>
          <a:prstGeom prst="rect">
            <a:avLst/>
          </a:prstGeom>
          <a:noFill/>
        </p:spPr>
        <p:txBody>
          <a:bodyPr wrap="square" rtlCol="0">
            <a:spAutoFit/>
          </a:bodyPr>
          <a:lstStyle/>
          <a:p>
            <a:r>
              <a:rPr lang="en-GB" sz="1000" b="0" i="0" dirty="0">
                <a:latin typeface="Open Sans Light" panose="020B0306030504020204" pitchFamily="34" charset="0"/>
                <a:ea typeface="Open Sans Light" panose="020B0306030504020204" pitchFamily="34" charset="0"/>
                <a:cs typeface="Open Sans Light" panose="020B0306030504020204" pitchFamily="34" charset="0"/>
              </a:rPr>
              <a:t>We respectfully acknowledge the </a:t>
            </a:r>
            <a:r>
              <a:rPr lang="en-GB" sz="1000" b="0" i="0" dirty="0" err="1">
                <a:latin typeface="Open Sans Light" panose="020B0306030504020204" pitchFamily="34" charset="0"/>
                <a:ea typeface="Open Sans Light" panose="020B0306030504020204" pitchFamily="34" charset="0"/>
                <a:cs typeface="Open Sans Light" panose="020B0306030504020204" pitchFamily="34" charset="0"/>
              </a:rPr>
              <a:t>Wurundjeri</a:t>
            </a:r>
            <a:r>
              <a:rPr lang="en-GB" sz="1000" b="0" i="0" dirty="0">
                <a:latin typeface="Open Sans Light" panose="020B0306030504020204" pitchFamily="34" charset="0"/>
                <a:ea typeface="Open Sans Light" panose="020B0306030504020204" pitchFamily="34" charset="0"/>
                <a:cs typeface="Open Sans Light" panose="020B0306030504020204" pitchFamily="34" charset="0"/>
              </a:rPr>
              <a:t> People of the Kulin Nation, who are the Traditional Owners of the land on which Swinburne’s Australian campuses are located in Melbourne’s east and outer-east, and pay our respect to their Elders past, present and emerging.</a:t>
            </a:r>
          </a:p>
          <a:p>
            <a:endParaRPr lang="en-GB" sz="100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1000" b="0" i="0" dirty="0">
                <a:latin typeface="Open Sans Light" panose="020B0306030504020204" pitchFamily="34" charset="0"/>
                <a:ea typeface="Open Sans Light" panose="020B0306030504020204" pitchFamily="34" charset="0"/>
                <a:cs typeface="Open Sans Light" panose="020B0306030504020204" pitchFamily="34" charset="0"/>
              </a:rPr>
              <a:t>We are honoured to recognise our connection to </a:t>
            </a:r>
            <a:r>
              <a:rPr lang="en-GB" sz="1000" b="0" i="0" dirty="0" err="1">
                <a:latin typeface="Open Sans Light" panose="020B0306030504020204" pitchFamily="34" charset="0"/>
                <a:ea typeface="Open Sans Light" panose="020B0306030504020204" pitchFamily="34" charset="0"/>
                <a:cs typeface="Open Sans Light" panose="020B0306030504020204" pitchFamily="34" charset="0"/>
              </a:rPr>
              <a:t>Wurundjeri</a:t>
            </a:r>
            <a:r>
              <a:rPr lang="en-GB" sz="1000" b="0" i="0" dirty="0">
                <a:latin typeface="Open Sans Light" panose="020B0306030504020204" pitchFamily="34" charset="0"/>
                <a:ea typeface="Open Sans Light" panose="020B0306030504020204" pitchFamily="34" charset="0"/>
                <a:cs typeface="Open Sans Light" panose="020B0306030504020204" pitchFamily="34" charset="0"/>
              </a:rPr>
              <a:t> Country, history, culture, and spirituality through these locations, and strive to ensure that we operate in a manner that respects and honours the Elders and Ancestors of these lands.</a:t>
            </a:r>
          </a:p>
          <a:p>
            <a:endParaRPr lang="en-GB" sz="100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1000" b="0" i="0" dirty="0">
                <a:latin typeface="Open Sans Light" panose="020B0306030504020204" pitchFamily="34" charset="0"/>
                <a:ea typeface="Open Sans Light" panose="020B0306030504020204" pitchFamily="34" charset="0"/>
                <a:cs typeface="Open Sans Light" panose="020B0306030504020204" pitchFamily="34" charset="0"/>
              </a:rPr>
              <a:t>We also respectfully acknowledge Swinburne’s Aboriginal and Torres Strait Islander staff, students, alumni, partners and visitors.</a:t>
            </a:r>
          </a:p>
          <a:p>
            <a:endParaRPr lang="en-GB" sz="1000" b="0" i="0" dirty="0">
              <a:latin typeface="Open Sans Light" panose="020B0306030504020204" pitchFamily="34" charset="0"/>
              <a:ea typeface="Open Sans Light" panose="020B0306030504020204" pitchFamily="34" charset="0"/>
              <a:cs typeface="Open Sans Light" panose="020B0306030504020204" pitchFamily="34" charset="0"/>
            </a:endParaRPr>
          </a:p>
          <a:p>
            <a:r>
              <a:rPr lang="en-GB" sz="1000" b="0" i="0" dirty="0">
                <a:latin typeface="Open Sans Light" panose="020B0306030504020204" pitchFamily="34" charset="0"/>
                <a:ea typeface="Open Sans Light" panose="020B0306030504020204" pitchFamily="34" charset="0"/>
                <a:cs typeface="Open Sans Light" panose="020B0306030504020204" pitchFamily="34" charset="0"/>
              </a:rPr>
              <a:t>We also acknowledge and respect the Traditional Owners of lands across Australia, their Elders, Ancestors, cultures, and heritage, and recognise the continuing sovereignties of all Aboriginal and Torres Strait Islander Nations.</a:t>
            </a:r>
          </a:p>
          <a:p>
            <a:endParaRPr lang="en-US" sz="1000" b="0" i="0"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3" name="TextBox 12">
            <a:extLst>
              <a:ext uri="{FF2B5EF4-FFF2-40B4-BE49-F238E27FC236}">
                <a16:creationId xmlns:a16="http://schemas.microsoft.com/office/drawing/2014/main" id="{553F0F09-72F3-3441-9402-E373F8E5EB3F}"/>
              </a:ext>
            </a:extLst>
          </p:cNvPr>
          <p:cNvSpPr txBox="1"/>
          <p:nvPr/>
        </p:nvSpPr>
        <p:spPr>
          <a:xfrm>
            <a:off x="434508" y="1858410"/>
            <a:ext cx="5661492" cy="523220"/>
          </a:xfrm>
          <a:prstGeom prst="rect">
            <a:avLst/>
          </a:prstGeom>
          <a:noFill/>
        </p:spPr>
        <p:txBody>
          <a:bodyPr wrap="square" rtlCol="0">
            <a:spAutoFit/>
          </a:bodyPr>
          <a:lstStyle/>
          <a:p>
            <a:r>
              <a:rPr lang="en-US" sz="2800" b="0" i="0" dirty="0">
                <a:latin typeface="Barlow Light" pitchFamily="2" charset="77"/>
                <a:ea typeface="DIN 2014 Light" panose="020B0404020202020204" pitchFamily="34" charset="77"/>
              </a:rPr>
              <a:t>Acknowledgement of Country</a:t>
            </a:r>
          </a:p>
        </p:txBody>
      </p:sp>
      <p:pic>
        <p:nvPicPr>
          <p:cNvPr id="7" name="Picture 6">
            <a:extLst>
              <a:ext uri="{FF2B5EF4-FFF2-40B4-BE49-F238E27FC236}">
                <a16:creationId xmlns:a16="http://schemas.microsoft.com/office/drawing/2014/main" id="{93A067CD-E520-DC4D-B83A-C56E5FCC5470}"/>
              </a:ext>
            </a:extLst>
          </p:cNvPr>
          <p:cNvPicPr>
            <a:picLocks noChangeAspect="1"/>
          </p:cNvPicPr>
          <p:nvPr userDrawn="1"/>
        </p:nvPicPr>
        <p:blipFill rotWithShape="1">
          <a:blip r:embed="rId3"/>
          <a:srcRect l="14921" t="28383" r="14498" b="18249"/>
          <a:stretch/>
        </p:blipFill>
        <p:spPr>
          <a:xfrm>
            <a:off x="7434470" y="404038"/>
            <a:ext cx="4757530" cy="5198999"/>
          </a:xfrm>
          <a:prstGeom prst="rect">
            <a:avLst/>
          </a:prstGeom>
        </p:spPr>
      </p:pic>
      <p:pic>
        <p:nvPicPr>
          <p:cNvPr id="8" name="Picture 7">
            <a:extLst>
              <a:ext uri="{FF2B5EF4-FFF2-40B4-BE49-F238E27FC236}">
                <a16:creationId xmlns:a16="http://schemas.microsoft.com/office/drawing/2014/main" id="{3C35ED88-E76B-A544-B183-904F87143897}"/>
              </a:ext>
            </a:extLst>
          </p:cNvPr>
          <p:cNvPicPr>
            <a:picLocks noChangeAspect="1"/>
          </p:cNvPicPr>
          <p:nvPr userDrawn="1"/>
        </p:nvPicPr>
        <p:blipFill rotWithShape="1">
          <a:blip r:embed="rId2"/>
          <a:srcRect l="30498" t="79189" r="57973" b="15495"/>
          <a:stretch/>
        </p:blipFill>
        <p:spPr>
          <a:xfrm>
            <a:off x="6358878" y="4950069"/>
            <a:ext cx="896687" cy="824566"/>
          </a:xfrm>
          <a:prstGeom prst="rect">
            <a:avLst/>
          </a:prstGeom>
        </p:spPr>
      </p:pic>
    </p:spTree>
    <p:extLst>
      <p:ext uri="{BB962C8B-B14F-4D97-AF65-F5344CB8AC3E}">
        <p14:creationId xmlns:p14="http://schemas.microsoft.com/office/powerpoint/2010/main" val="306086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A883F-D7EF-994A-8C0A-250C680E9DAC}"/>
              </a:ext>
            </a:extLst>
          </p:cNvPr>
          <p:cNvPicPr>
            <a:picLocks noChangeAspect="1"/>
          </p:cNvPicPr>
          <p:nvPr userDrawn="1"/>
        </p:nvPicPr>
        <p:blipFill>
          <a:blip r:embed="rId2"/>
          <a:stretch>
            <a:fillRect/>
          </a:stretch>
        </p:blipFill>
        <p:spPr>
          <a:xfrm>
            <a:off x="489720" y="5565272"/>
            <a:ext cx="1814147" cy="880395"/>
          </a:xfrm>
          <a:prstGeom prst="rect">
            <a:avLst/>
          </a:prstGeom>
          <a:ln w="6350">
            <a:noFill/>
          </a:ln>
        </p:spPr>
      </p:pic>
      <p:sp>
        <p:nvSpPr>
          <p:cNvPr id="4" name="Title 1">
            <a:extLst>
              <a:ext uri="{FF2B5EF4-FFF2-40B4-BE49-F238E27FC236}">
                <a16:creationId xmlns:a16="http://schemas.microsoft.com/office/drawing/2014/main" id="{7C9E8C4A-1C6F-0847-BF94-B8F6F086A0C5}"/>
              </a:ext>
            </a:extLst>
          </p:cNvPr>
          <p:cNvSpPr>
            <a:spLocks noGrp="1"/>
          </p:cNvSpPr>
          <p:nvPr>
            <p:ph type="ctrTitle" hasCustomPrompt="1"/>
          </p:nvPr>
        </p:nvSpPr>
        <p:spPr>
          <a:xfrm>
            <a:off x="430280" y="1869344"/>
            <a:ext cx="5413929" cy="1781257"/>
          </a:xfrm>
          <a:prstGeom prst="rect">
            <a:avLst/>
          </a:prstGeom>
        </p:spPr>
        <p:txBody>
          <a:bodyPr wrap="square" anchor="t" anchorCtr="0">
            <a:spAutoFit/>
          </a:bodyPr>
          <a:lstStyle>
            <a:lvl1pPr algn="l">
              <a:lnSpc>
                <a:spcPct val="100000"/>
              </a:lnSpc>
              <a:defRPr sz="5400" b="0" i="0" cap="none" baseline="0">
                <a:solidFill>
                  <a:srgbClr val="000000"/>
                </a:solidFill>
                <a:latin typeface="Barlow Light" pitchFamily="2" charset="77"/>
                <a:ea typeface="DIN 2014 Light" panose="020B0404020202020204" pitchFamily="34" charset="77"/>
              </a:defRPr>
            </a:lvl1pPr>
          </a:lstStyle>
          <a:p>
            <a:r>
              <a:rPr lang="en-US" dirty="0"/>
              <a:t>Click to edit section title</a:t>
            </a:r>
          </a:p>
        </p:txBody>
      </p:sp>
      <p:pic>
        <p:nvPicPr>
          <p:cNvPr id="9" name="Picture 8">
            <a:extLst>
              <a:ext uri="{FF2B5EF4-FFF2-40B4-BE49-F238E27FC236}">
                <a16:creationId xmlns:a16="http://schemas.microsoft.com/office/drawing/2014/main" id="{96CB0E58-519D-1C4A-9758-18D74E94D9C4}"/>
              </a:ext>
            </a:extLst>
          </p:cNvPr>
          <p:cNvPicPr>
            <a:picLocks noChangeAspect="1"/>
          </p:cNvPicPr>
          <p:nvPr userDrawn="1"/>
        </p:nvPicPr>
        <p:blipFill rotWithShape="1">
          <a:blip r:embed="rId3"/>
          <a:srcRect l="52909" t="68124" r="2" b="12204"/>
          <a:stretch/>
        </p:blipFill>
        <p:spPr>
          <a:xfrm>
            <a:off x="8102009" y="3233854"/>
            <a:ext cx="3662391" cy="3051199"/>
          </a:xfrm>
          <a:prstGeom prst="rect">
            <a:avLst/>
          </a:prstGeom>
        </p:spPr>
      </p:pic>
      <p:pic>
        <p:nvPicPr>
          <p:cNvPr id="10" name="Picture 9">
            <a:extLst>
              <a:ext uri="{FF2B5EF4-FFF2-40B4-BE49-F238E27FC236}">
                <a16:creationId xmlns:a16="http://schemas.microsoft.com/office/drawing/2014/main" id="{A25B9D3D-C254-FE4D-B97F-D0D03F4FA938}"/>
              </a:ext>
            </a:extLst>
          </p:cNvPr>
          <p:cNvPicPr>
            <a:picLocks noChangeAspect="1"/>
          </p:cNvPicPr>
          <p:nvPr userDrawn="1"/>
        </p:nvPicPr>
        <p:blipFill rotWithShape="1">
          <a:blip r:embed="rId3"/>
          <a:srcRect l="3874" t="49360" r="52758" b="42026"/>
          <a:stretch/>
        </p:blipFill>
        <p:spPr>
          <a:xfrm>
            <a:off x="271667" y="323388"/>
            <a:ext cx="3372988" cy="1336079"/>
          </a:xfrm>
          <a:prstGeom prst="rect">
            <a:avLst/>
          </a:prstGeom>
        </p:spPr>
      </p:pic>
      <p:sp>
        <p:nvSpPr>
          <p:cNvPr id="14" name="Rectangle 13">
            <a:extLst>
              <a:ext uri="{FF2B5EF4-FFF2-40B4-BE49-F238E27FC236}">
                <a16:creationId xmlns:a16="http://schemas.microsoft.com/office/drawing/2014/main" id="{CF0FB895-CEDF-407A-8EBB-D14839C388BA}"/>
              </a:ext>
            </a:extLst>
          </p:cNvPr>
          <p:cNvSpPr/>
          <p:nvPr userDrawn="1"/>
        </p:nvSpPr>
        <p:spPr>
          <a:xfrm>
            <a:off x="8287473" y="6445667"/>
            <a:ext cx="3476927" cy="412333"/>
          </a:xfrm>
          <a:prstGeom prst="rect">
            <a:avLst/>
          </a:prstGeom>
          <a:solidFill>
            <a:srgbClr val="E7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381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430280" y="449927"/>
            <a:ext cx="9687755" cy="584775"/>
          </a:xfrm>
          <a:prstGeom prst="rect">
            <a:avLst/>
          </a:prstGeom>
        </p:spPr>
        <p:txBody>
          <a:bodyPr wrap="square" anchor="t" anchorCtr="0">
            <a:spAutoFit/>
          </a:bodyPr>
          <a:lstStyle>
            <a:lvl1pPr algn="l">
              <a:lnSpc>
                <a:spcPct val="100000"/>
              </a:lnSpc>
              <a:defRPr sz="32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userDrawn="1"/>
        </p:nvPicPr>
        <p:blipFill rotWithShape="1">
          <a:blip r:embed="rId2"/>
          <a:srcRect l="79226" t="68124" r="1" b="10595"/>
          <a:stretch/>
        </p:blipFill>
        <p:spPr>
          <a:xfrm>
            <a:off x="10260623" y="211344"/>
            <a:ext cx="1615638" cy="3300759"/>
          </a:xfrm>
          <a:prstGeom prst="rect">
            <a:avLst/>
          </a:prstGeom>
        </p:spPr>
      </p:pic>
      <p:pic>
        <p:nvPicPr>
          <p:cNvPr id="9" name="Picture 8">
            <a:extLst>
              <a:ext uri="{FF2B5EF4-FFF2-40B4-BE49-F238E27FC236}">
                <a16:creationId xmlns:a16="http://schemas.microsoft.com/office/drawing/2014/main" id="{294273B4-A5A6-EE41-BD37-13F7331B8F52}"/>
              </a:ext>
            </a:extLst>
          </p:cNvPr>
          <p:cNvPicPr>
            <a:picLocks noChangeAspect="1"/>
          </p:cNvPicPr>
          <p:nvPr userDrawn="1"/>
        </p:nvPicPr>
        <p:blipFill>
          <a:blip r:embed="rId3"/>
          <a:stretch>
            <a:fillRect/>
          </a:stretch>
        </p:blipFill>
        <p:spPr>
          <a:xfrm>
            <a:off x="10886515" y="6104792"/>
            <a:ext cx="989746" cy="480318"/>
          </a:xfrm>
          <a:prstGeom prst="rect">
            <a:avLst/>
          </a:prstGeom>
          <a:ln w="6350">
            <a:noFill/>
          </a:ln>
        </p:spPr>
      </p:pic>
      <p:sp>
        <p:nvSpPr>
          <p:cNvPr id="12" name="Subtitle 2">
            <a:extLst>
              <a:ext uri="{FF2B5EF4-FFF2-40B4-BE49-F238E27FC236}">
                <a16:creationId xmlns:a16="http://schemas.microsoft.com/office/drawing/2014/main" id="{4611B57F-60E4-BF40-AC95-C9DB86A26E2D}"/>
              </a:ext>
            </a:extLst>
          </p:cNvPr>
          <p:cNvSpPr>
            <a:spLocks noGrp="1"/>
          </p:cNvSpPr>
          <p:nvPr>
            <p:ph type="subTitle" idx="1" hasCustomPrompt="1"/>
          </p:nvPr>
        </p:nvSpPr>
        <p:spPr>
          <a:xfrm>
            <a:off x="430280" y="2247150"/>
            <a:ext cx="9687754" cy="276999"/>
          </a:xfrm>
          <a:prstGeom prst="rect">
            <a:avLst/>
          </a:prstGeom>
        </p:spPr>
        <p:txBody>
          <a:bodyPr wrap="square" anchor="t" anchorCtr="0">
            <a:spAutoFit/>
          </a:bodyPr>
          <a:lstStyle>
            <a:lvl1pPr marL="0" indent="0" algn="l">
              <a:lnSpc>
                <a:spcPct val="100000"/>
              </a:lnSpc>
              <a:spcAft>
                <a:spcPts val="0"/>
              </a:spcAft>
              <a:buNone/>
              <a:defRPr sz="12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body copy</a:t>
            </a:r>
          </a:p>
        </p:txBody>
      </p:sp>
      <p:sp>
        <p:nvSpPr>
          <p:cNvPr id="5" name="Text Placeholder 4">
            <a:extLst>
              <a:ext uri="{FF2B5EF4-FFF2-40B4-BE49-F238E27FC236}">
                <a16:creationId xmlns:a16="http://schemas.microsoft.com/office/drawing/2014/main" id="{9241AB50-6DF5-0046-88B5-CCF309E40D51}"/>
              </a:ext>
            </a:extLst>
          </p:cNvPr>
          <p:cNvSpPr>
            <a:spLocks noGrp="1"/>
          </p:cNvSpPr>
          <p:nvPr>
            <p:ph type="body" sz="quarter" idx="10" hasCustomPrompt="1"/>
          </p:nvPr>
        </p:nvSpPr>
        <p:spPr>
          <a:xfrm>
            <a:off x="430280" y="1508852"/>
            <a:ext cx="9687754" cy="517525"/>
          </a:xfrm>
          <a:prstGeom prst="rect">
            <a:avLst/>
          </a:prstGeom>
        </p:spPr>
        <p:txBody>
          <a:bodyPr/>
          <a:lstStyle>
            <a:lvl1pPr marL="0" indent="0">
              <a:buNone/>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8" name="Text Placeholder 7">
            <a:extLst>
              <a:ext uri="{FF2B5EF4-FFF2-40B4-BE49-F238E27FC236}">
                <a16:creationId xmlns:a16="http://schemas.microsoft.com/office/drawing/2014/main" id="{D59D4BD1-E32E-4B45-9EE2-0025BDBB56AB}"/>
              </a:ext>
            </a:extLst>
          </p:cNvPr>
          <p:cNvSpPr>
            <a:spLocks noGrp="1"/>
          </p:cNvSpPr>
          <p:nvPr>
            <p:ph type="body" sz="quarter" idx="11" hasCustomPrompt="1"/>
          </p:nvPr>
        </p:nvSpPr>
        <p:spPr>
          <a:xfrm>
            <a:off x="430280" y="6335873"/>
            <a:ext cx="5049837" cy="249237"/>
          </a:xfrm>
          <a:prstGeom prst="rect">
            <a:avLst/>
          </a:prstGeom>
        </p:spPr>
        <p:txBody>
          <a:bodyPr/>
          <a:lstStyle>
            <a:lvl1pPr marL="0" indent="0">
              <a:buNone/>
              <a:defRPr sz="8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Tree>
    <p:extLst>
      <p:ext uri="{BB962C8B-B14F-4D97-AF65-F5344CB8AC3E}">
        <p14:creationId xmlns:p14="http://schemas.microsoft.com/office/powerpoint/2010/main" val="274706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 slide one imag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143AD1-9D72-DE4B-8F1E-2D6B178E53FC}"/>
              </a:ext>
            </a:extLst>
          </p:cNvPr>
          <p:cNvPicPr>
            <a:picLocks noChangeAspect="1"/>
          </p:cNvPicPr>
          <p:nvPr userDrawn="1"/>
        </p:nvPicPr>
        <p:blipFill>
          <a:blip r:embed="rId2"/>
          <a:stretch>
            <a:fillRect/>
          </a:stretch>
        </p:blipFill>
        <p:spPr>
          <a:xfrm>
            <a:off x="10886515" y="6104792"/>
            <a:ext cx="989746" cy="480318"/>
          </a:xfrm>
          <a:prstGeom prst="rect">
            <a:avLst/>
          </a:prstGeom>
          <a:ln w="6350">
            <a:noFill/>
          </a:ln>
        </p:spPr>
      </p:pic>
      <p:pic>
        <p:nvPicPr>
          <p:cNvPr id="9" name="Picture 8">
            <a:extLst>
              <a:ext uri="{FF2B5EF4-FFF2-40B4-BE49-F238E27FC236}">
                <a16:creationId xmlns:a16="http://schemas.microsoft.com/office/drawing/2014/main" id="{492117D9-7D31-CF43-ADFD-F98B62BD9934}"/>
              </a:ext>
            </a:extLst>
          </p:cNvPr>
          <p:cNvPicPr>
            <a:picLocks noChangeAspect="1"/>
          </p:cNvPicPr>
          <p:nvPr userDrawn="1"/>
        </p:nvPicPr>
        <p:blipFill rotWithShape="1">
          <a:blip r:embed="rId3"/>
          <a:srcRect l="47527" t="78481" r="2" b="14827"/>
          <a:stretch/>
        </p:blipFill>
        <p:spPr>
          <a:xfrm>
            <a:off x="7683335" y="4840357"/>
            <a:ext cx="4081066" cy="1037930"/>
          </a:xfrm>
          <a:prstGeom prst="rect">
            <a:avLst/>
          </a:prstGeom>
        </p:spPr>
      </p:pic>
      <p:sp>
        <p:nvSpPr>
          <p:cNvPr id="10" name="Title 1">
            <a:extLst>
              <a:ext uri="{FF2B5EF4-FFF2-40B4-BE49-F238E27FC236}">
                <a16:creationId xmlns:a16="http://schemas.microsoft.com/office/drawing/2014/main" id="{6086E4EA-34C8-E244-8CAB-C02FEF4020AE}"/>
              </a:ext>
            </a:extLst>
          </p:cNvPr>
          <p:cNvSpPr>
            <a:spLocks noGrp="1"/>
          </p:cNvSpPr>
          <p:nvPr>
            <p:ph type="ctrTitle" hasCustomPrompt="1"/>
          </p:nvPr>
        </p:nvSpPr>
        <p:spPr>
          <a:xfrm>
            <a:off x="430280" y="449927"/>
            <a:ext cx="6904799" cy="584775"/>
          </a:xfrm>
          <a:prstGeom prst="rect">
            <a:avLst/>
          </a:prstGeom>
        </p:spPr>
        <p:txBody>
          <a:bodyPr wrap="square" anchor="t" anchorCtr="0">
            <a:spAutoFit/>
          </a:bodyPr>
          <a:lstStyle>
            <a:lvl1pPr algn="l">
              <a:lnSpc>
                <a:spcPct val="100000"/>
              </a:lnSpc>
              <a:defRPr sz="32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13" name="Subtitle 2">
            <a:extLst>
              <a:ext uri="{FF2B5EF4-FFF2-40B4-BE49-F238E27FC236}">
                <a16:creationId xmlns:a16="http://schemas.microsoft.com/office/drawing/2014/main" id="{1AE31527-290E-A24C-AA95-FA74345F0FD2}"/>
              </a:ext>
            </a:extLst>
          </p:cNvPr>
          <p:cNvSpPr>
            <a:spLocks noGrp="1"/>
          </p:cNvSpPr>
          <p:nvPr>
            <p:ph type="subTitle" idx="1" hasCustomPrompt="1"/>
          </p:nvPr>
        </p:nvSpPr>
        <p:spPr>
          <a:xfrm>
            <a:off x="430280" y="2247150"/>
            <a:ext cx="6904798" cy="276999"/>
          </a:xfrm>
          <a:prstGeom prst="rect">
            <a:avLst/>
          </a:prstGeom>
        </p:spPr>
        <p:txBody>
          <a:bodyPr wrap="square" anchor="t" anchorCtr="0">
            <a:spAutoFit/>
          </a:bodyPr>
          <a:lstStyle>
            <a:lvl1pPr marL="0" indent="0" algn="l">
              <a:lnSpc>
                <a:spcPct val="100000"/>
              </a:lnSpc>
              <a:spcAft>
                <a:spcPts val="0"/>
              </a:spcAft>
              <a:buNone/>
              <a:defRPr sz="12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body copy</a:t>
            </a:r>
          </a:p>
        </p:txBody>
      </p:sp>
      <p:sp>
        <p:nvSpPr>
          <p:cNvPr id="14" name="Text Placeholder 4">
            <a:extLst>
              <a:ext uri="{FF2B5EF4-FFF2-40B4-BE49-F238E27FC236}">
                <a16:creationId xmlns:a16="http://schemas.microsoft.com/office/drawing/2014/main" id="{E259A720-FEE8-5141-B4A1-A0D410B4C308}"/>
              </a:ext>
            </a:extLst>
          </p:cNvPr>
          <p:cNvSpPr>
            <a:spLocks noGrp="1"/>
          </p:cNvSpPr>
          <p:nvPr>
            <p:ph type="body" sz="quarter" idx="10" hasCustomPrompt="1"/>
          </p:nvPr>
        </p:nvSpPr>
        <p:spPr>
          <a:xfrm>
            <a:off x="430280" y="1508852"/>
            <a:ext cx="6904798" cy="517525"/>
          </a:xfrm>
          <a:prstGeom prst="rect">
            <a:avLst/>
          </a:prstGeom>
        </p:spPr>
        <p:txBody>
          <a:bodyPr/>
          <a:lstStyle>
            <a:lvl1pPr marL="0" indent="0">
              <a:buNone/>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15" name="Text Placeholder 7">
            <a:extLst>
              <a:ext uri="{FF2B5EF4-FFF2-40B4-BE49-F238E27FC236}">
                <a16:creationId xmlns:a16="http://schemas.microsoft.com/office/drawing/2014/main" id="{198469BC-0212-0841-B9E2-4583B2ABE91D}"/>
              </a:ext>
            </a:extLst>
          </p:cNvPr>
          <p:cNvSpPr>
            <a:spLocks noGrp="1"/>
          </p:cNvSpPr>
          <p:nvPr>
            <p:ph type="body" sz="quarter" idx="11" hasCustomPrompt="1"/>
          </p:nvPr>
        </p:nvSpPr>
        <p:spPr>
          <a:xfrm>
            <a:off x="430280" y="6335873"/>
            <a:ext cx="5049837" cy="249237"/>
          </a:xfrm>
          <a:prstGeom prst="rect">
            <a:avLst/>
          </a:prstGeom>
        </p:spPr>
        <p:txBody>
          <a:bodyPr/>
          <a:lstStyle>
            <a:lvl1pPr marL="0" indent="0">
              <a:buNone/>
              <a:defRPr sz="8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16" name="Picture Placeholder 2">
            <a:extLst>
              <a:ext uri="{FF2B5EF4-FFF2-40B4-BE49-F238E27FC236}">
                <a16:creationId xmlns:a16="http://schemas.microsoft.com/office/drawing/2014/main" id="{04CD2C42-FE07-4F3E-B6EF-9DF80CF9FEA7}"/>
              </a:ext>
            </a:extLst>
          </p:cNvPr>
          <p:cNvSpPr>
            <a:spLocks noGrp="1"/>
          </p:cNvSpPr>
          <p:nvPr>
            <p:ph type="pic" sz="quarter" idx="12" hasCustomPrompt="1"/>
          </p:nvPr>
        </p:nvSpPr>
        <p:spPr>
          <a:xfrm>
            <a:off x="7875588" y="449263"/>
            <a:ext cx="4316412" cy="4273550"/>
          </a:xfrm>
          <a:prstGeom prst="rect">
            <a:avLst/>
          </a:prstGeom>
        </p:spPr>
        <p:txBody>
          <a:bodyPr/>
          <a:lstStyle>
            <a:lvl1pPr marL="0" indent="0">
              <a:buNone/>
              <a:defRPr sz="1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icon to add image</a:t>
            </a:r>
          </a:p>
        </p:txBody>
      </p:sp>
    </p:spTree>
    <p:extLst>
      <p:ext uri="{BB962C8B-B14F-4D97-AF65-F5344CB8AC3E}">
        <p14:creationId xmlns:p14="http://schemas.microsoft.com/office/powerpoint/2010/main" val="3885251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ody slide with tabl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143AD1-9D72-DE4B-8F1E-2D6B178E53FC}"/>
              </a:ext>
            </a:extLst>
          </p:cNvPr>
          <p:cNvPicPr>
            <a:picLocks noChangeAspect="1"/>
          </p:cNvPicPr>
          <p:nvPr/>
        </p:nvPicPr>
        <p:blipFill>
          <a:blip r:embed="rId2"/>
          <a:stretch>
            <a:fillRect/>
          </a:stretch>
        </p:blipFill>
        <p:spPr>
          <a:xfrm>
            <a:off x="10886515" y="6104792"/>
            <a:ext cx="989746" cy="480318"/>
          </a:xfrm>
          <a:prstGeom prst="rect">
            <a:avLst/>
          </a:prstGeom>
          <a:ln w="6350">
            <a:noFill/>
          </a:ln>
        </p:spPr>
      </p:pic>
      <p:pic>
        <p:nvPicPr>
          <p:cNvPr id="13" name="Picture 12">
            <a:extLst>
              <a:ext uri="{FF2B5EF4-FFF2-40B4-BE49-F238E27FC236}">
                <a16:creationId xmlns:a16="http://schemas.microsoft.com/office/drawing/2014/main" id="{47FA5ACD-3A97-B149-B36C-5AA415250D9B}"/>
              </a:ext>
            </a:extLst>
          </p:cNvPr>
          <p:cNvPicPr>
            <a:picLocks noChangeAspect="1"/>
          </p:cNvPicPr>
          <p:nvPr userDrawn="1"/>
        </p:nvPicPr>
        <p:blipFill rotWithShape="1">
          <a:blip r:embed="rId3"/>
          <a:srcRect l="79226" t="68124" r="-962" b="10595"/>
          <a:stretch/>
        </p:blipFill>
        <p:spPr>
          <a:xfrm>
            <a:off x="10260622" y="211344"/>
            <a:ext cx="1690585" cy="3300759"/>
          </a:xfrm>
          <a:prstGeom prst="rect">
            <a:avLst/>
          </a:prstGeom>
        </p:spPr>
      </p:pic>
      <p:sp>
        <p:nvSpPr>
          <p:cNvPr id="11" name="Title 1">
            <a:extLst>
              <a:ext uri="{FF2B5EF4-FFF2-40B4-BE49-F238E27FC236}">
                <a16:creationId xmlns:a16="http://schemas.microsoft.com/office/drawing/2014/main" id="{1E6306D7-3A2F-F940-9F7B-15EB392CABC8}"/>
              </a:ext>
            </a:extLst>
          </p:cNvPr>
          <p:cNvSpPr>
            <a:spLocks noGrp="1"/>
          </p:cNvSpPr>
          <p:nvPr>
            <p:ph type="ctrTitle" hasCustomPrompt="1"/>
          </p:nvPr>
        </p:nvSpPr>
        <p:spPr>
          <a:xfrm>
            <a:off x="430280" y="449927"/>
            <a:ext cx="9687755" cy="584775"/>
          </a:xfrm>
          <a:prstGeom prst="rect">
            <a:avLst/>
          </a:prstGeom>
        </p:spPr>
        <p:txBody>
          <a:bodyPr wrap="square" anchor="t" anchorCtr="0">
            <a:spAutoFit/>
          </a:bodyPr>
          <a:lstStyle>
            <a:lvl1pPr algn="l">
              <a:lnSpc>
                <a:spcPct val="100000"/>
              </a:lnSpc>
              <a:defRPr sz="32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14" name="Subtitle 2">
            <a:extLst>
              <a:ext uri="{FF2B5EF4-FFF2-40B4-BE49-F238E27FC236}">
                <a16:creationId xmlns:a16="http://schemas.microsoft.com/office/drawing/2014/main" id="{8DCA242E-7F41-D547-A34B-ECAD02B74087}"/>
              </a:ext>
            </a:extLst>
          </p:cNvPr>
          <p:cNvSpPr>
            <a:spLocks noGrp="1"/>
          </p:cNvSpPr>
          <p:nvPr>
            <p:ph type="subTitle" idx="1" hasCustomPrompt="1"/>
          </p:nvPr>
        </p:nvSpPr>
        <p:spPr>
          <a:xfrm>
            <a:off x="430280" y="2247150"/>
            <a:ext cx="9687754" cy="276999"/>
          </a:xfrm>
          <a:prstGeom prst="rect">
            <a:avLst/>
          </a:prstGeom>
        </p:spPr>
        <p:txBody>
          <a:bodyPr wrap="square" anchor="t" anchorCtr="0">
            <a:spAutoFit/>
          </a:bodyPr>
          <a:lstStyle>
            <a:lvl1pPr marL="0" indent="0" algn="l">
              <a:lnSpc>
                <a:spcPct val="100000"/>
              </a:lnSpc>
              <a:spcAft>
                <a:spcPts val="0"/>
              </a:spcAft>
              <a:buNone/>
              <a:defRPr sz="12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dirty="0"/>
              <a:t>You may add some body text to explain your table.</a:t>
            </a:r>
          </a:p>
        </p:txBody>
      </p:sp>
      <p:sp>
        <p:nvSpPr>
          <p:cNvPr id="15" name="Text Placeholder 4">
            <a:extLst>
              <a:ext uri="{FF2B5EF4-FFF2-40B4-BE49-F238E27FC236}">
                <a16:creationId xmlns:a16="http://schemas.microsoft.com/office/drawing/2014/main" id="{9E5544B2-7476-044A-821A-71516FF0BD77}"/>
              </a:ext>
            </a:extLst>
          </p:cNvPr>
          <p:cNvSpPr>
            <a:spLocks noGrp="1"/>
          </p:cNvSpPr>
          <p:nvPr>
            <p:ph type="body" sz="quarter" idx="10" hasCustomPrompt="1"/>
          </p:nvPr>
        </p:nvSpPr>
        <p:spPr>
          <a:xfrm>
            <a:off x="430280" y="1508852"/>
            <a:ext cx="9687754" cy="517525"/>
          </a:xfrm>
          <a:prstGeom prst="rect">
            <a:avLst/>
          </a:prstGeom>
        </p:spPr>
        <p:txBody>
          <a:bodyPr/>
          <a:lstStyle>
            <a:lvl1pPr marL="0" indent="0">
              <a:buNone/>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Click to edit subhead</a:t>
            </a:r>
          </a:p>
        </p:txBody>
      </p:sp>
      <p:sp>
        <p:nvSpPr>
          <p:cNvPr id="16" name="Text Placeholder 7">
            <a:extLst>
              <a:ext uri="{FF2B5EF4-FFF2-40B4-BE49-F238E27FC236}">
                <a16:creationId xmlns:a16="http://schemas.microsoft.com/office/drawing/2014/main" id="{5BA71D75-C832-624C-ADF5-2477EC2446C8}"/>
              </a:ext>
            </a:extLst>
          </p:cNvPr>
          <p:cNvSpPr>
            <a:spLocks noGrp="1"/>
          </p:cNvSpPr>
          <p:nvPr>
            <p:ph type="body" sz="quarter" idx="11" hasCustomPrompt="1"/>
          </p:nvPr>
        </p:nvSpPr>
        <p:spPr>
          <a:xfrm>
            <a:off x="430280" y="6335873"/>
            <a:ext cx="5049837" cy="249237"/>
          </a:xfrm>
          <a:prstGeom prst="rect">
            <a:avLst/>
          </a:prstGeom>
        </p:spPr>
        <p:txBody>
          <a:bodyPr/>
          <a:lstStyle>
            <a:lvl1pPr marL="0" indent="0">
              <a:buNone/>
              <a:defRPr sz="8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5" name="Table Placeholder 4">
            <a:extLst>
              <a:ext uri="{FF2B5EF4-FFF2-40B4-BE49-F238E27FC236}">
                <a16:creationId xmlns:a16="http://schemas.microsoft.com/office/drawing/2014/main" id="{8E0CB9A1-AA5A-1F45-81B8-6B21FDF845C8}"/>
              </a:ext>
            </a:extLst>
          </p:cNvPr>
          <p:cNvSpPr>
            <a:spLocks noGrp="1"/>
          </p:cNvSpPr>
          <p:nvPr>
            <p:ph type="tbl" sz="quarter" idx="12"/>
          </p:nvPr>
        </p:nvSpPr>
        <p:spPr>
          <a:xfrm>
            <a:off x="430281" y="3039762"/>
            <a:ext cx="9687754" cy="2309386"/>
          </a:xfrm>
          <a:prstGeom prst="rect">
            <a:avLst/>
          </a:prstGeom>
          <a:noFill/>
        </p:spPr>
        <p:txBody>
          <a:bodyPr/>
          <a:lstStyle>
            <a:lvl1pPr>
              <a:defRPr sz="1400"/>
            </a:lvl1pPr>
          </a:lstStyle>
          <a:p>
            <a:r>
              <a:rPr lang="en-US"/>
              <a:t>Click icon to add table</a:t>
            </a:r>
            <a:endParaRPr lang="en-US" dirty="0"/>
          </a:p>
        </p:txBody>
      </p:sp>
    </p:spTree>
    <p:extLst>
      <p:ext uri="{BB962C8B-B14F-4D97-AF65-F5344CB8AC3E}">
        <p14:creationId xmlns:p14="http://schemas.microsoft.com/office/powerpoint/2010/main" val="50941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ample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489720" y="5565272"/>
            <a:ext cx="1814147"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430280" y="1855804"/>
            <a:ext cx="6089790" cy="923330"/>
          </a:xfrm>
          <a:prstGeom prst="rect">
            <a:avLst/>
          </a:prstGeom>
        </p:spPr>
        <p:txBody>
          <a:bodyPr wrap="square" anchor="t" anchorCtr="0">
            <a:spAutoFit/>
          </a:bodyPr>
          <a:lstStyle>
            <a:lvl1pPr algn="l">
              <a:lnSpc>
                <a:spcPct val="100000"/>
              </a:lnSpc>
              <a:defRPr sz="5400" b="0" i="0" cap="none" baseline="0">
                <a:solidFill>
                  <a:srgbClr val="000000"/>
                </a:solidFill>
                <a:latin typeface="Barlow Light" pitchFamily="2" charset="77"/>
                <a:ea typeface="DIN 2014 Light" panose="020B0404020202020204" pitchFamily="34" charset="77"/>
              </a:defRPr>
            </a:lvl1pPr>
          </a:lstStyle>
          <a:p>
            <a:r>
              <a:rPr lang="en-US" dirty="0"/>
              <a:t>Swinburne life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430280" y="2885430"/>
            <a:ext cx="6089790" cy="432811"/>
          </a:xfrm>
          <a:prstGeom prst="rect">
            <a:avLst/>
          </a:prstGeom>
        </p:spPr>
        <p:txBody>
          <a:bodyPr wrap="square" anchor="t" anchorCtr="0">
            <a:spAutoFit/>
          </a:bodyPr>
          <a:lstStyle>
            <a:lvl1pPr marL="0" indent="0" algn="l">
              <a:lnSpc>
                <a:spcPts val="2860"/>
              </a:lnSpc>
              <a:spcAft>
                <a:spcPts val="0"/>
              </a:spcAft>
              <a:buNone/>
              <a:defRPr sz="2400" b="0" i="0" cap="none" baseline="0">
                <a:solidFill>
                  <a:srgbClr val="000000"/>
                </a:solidFill>
                <a:latin typeface="Barlow Light" pitchFamily="2" charset="77"/>
                <a:ea typeface="DIN 2014 Light" panose="020B0404020202020204"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It’s what you make it</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430280" y="3748813"/>
            <a:ext cx="3497815" cy="284578"/>
          </a:xfrm>
          <a:prstGeom prst="rect">
            <a:avLst/>
          </a:prstGeom>
        </p:spPr>
        <p:txBody>
          <a:bodyPr>
            <a:normAutofit/>
          </a:bodyPr>
          <a:lstStyle>
            <a:lvl1pPr marL="0" indent="0" algn="l">
              <a:buFontTx/>
              <a:buNone/>
              <a:defRPr sz="140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Sam Sample</a:t>
            </a:r>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430280" y="4076805"/>
            <a:ext cx="3497815" cy="284578"/>
          </a:xfrm>
          <a:prstGeom prst="rect">
            <a:avLst/>
          </a:prstGeom>
        </p:spPr>
        <p:txBody>
          <a:bodyPr>
            <a:normAutofit/>
          </a:bodyPr>
          <a:lstStyle>
            <a:lvl1pPr marL="0" indent="0" algn="l">
              <a:buFontTx/>
              <a:buNone/>
              <a:defRPr sz="140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23 April, 2021</a:t>
            </a:r>
          </a:p>
        </p:txBody>
      </p:sp>
      <p:pic>
        <p:nvPicPr>
          <p:cNvPr id="8" name="Picture 7">
            <a:extLst>
              <a:ext uri="{FF2B5EF4-FFF2-40B4-BE49-F238E27FC236}">
                <a16:creationId xmlns:a16="http://schemas.microsoft.com/office/drawing/2014/main" id="{2320B6F8-8E52-F940-BA78-A0A2B78F1B1F}"/>
              </a:ext>
            </a:extLst>
          </p:cNvPr>
          <p:cNvPicPr>
            <a:picLocks noChangeAspect="1"/>
          </p:cNvPicPr>
          <p:nvPr/>
        </p:nvPicPr>
        <p:blipFill rotWithShape="1">
          <a:blip r:embed="rId3"/>
          <a:srcRect l="32480" t="84250" r="-4719" b="9263"/>
          <a:stretch/>
        </p:blipFill>
        <p:spPr>
          <a:xfrm>
            <a:off x="5557919" y="5734878"/>
            <a:ext cx="5618375" cy="1006164"/>
          </a:xfrm>
          <a:prstGeom prst="rect">
            <a:avLst/>
          </a:prstGeom>
        </p:spPr>
      </p:pic>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131977" y="323389"/>
            <a:ext cx="2780907" cy="812754"/>
          </a:xfrm>
          <a:prstGeom prst="rect">
            <a:avLst/>
          </a:prstGeom>
        </p:spPr>
      </p:pic>
      <p:pic>
        <p:nvPicPr>
          <p:cNvPr id="10" name="Picture 9">
            <a:extLst>
              <a:ext uri="{FF2B5EF4-FFF2-40B4-BE49-F238E27FC236}">
                <a16:creationId xmlns:a16="http://schemas.microsoft.com/office/drawing/2014/main" id="{591A2690-5A04-4048-8F01-F3EEC9A22C8F}"/>
              </a:ext>
            </a:extLst>
          </p:cNvPr>
          <p:cNvPicPr>
            <a:picLocks noChangeAspect="1"/>
          </p:cNvPicPr>
          <p:nvPr/>
        </p:nvPicPr>
        <p:blipFill rotWithShape="1">
          <a:blip r:embed="rId4"/>
          <a:srcRect l="22459" t="13219" r="23662" b="-264"/>
          <a:stretch/>
        </p:blipFill>
        <p:spPr>
          <a:xfrm>
            <a:off x="6894485" y="404038"/>
            <a:ext cx="4834735" cy="5198999"/>
          </a:xfrm>
          <a:prstGeom prst="rect">
            <a:avLst/>
          </a:prstGeom>
        </p:spPr>
      </p:pic>
      <p:pic>
        <p:nvPicPr>
          <p:cNvPr id="11" name="Picture 10">
            <a:extLst>
              <a:ext uri="{FF2B5EF4-FFF2-40B4-BE49-F238E27FC236}">
                <a16:creationId xmlns:a16="http://schemas.microsoft.com/office/drawing/2014/main" id="{81A8A8EC-9FB9-444F-A69E-63E5196ED0BD}"/>
              </a:ext>
            </a:extLst>
          </p:cNvPr>
          <p:cNvPicPr>
            <a:picLocks noChangeAspect="1"/>
          </p:cNvPicPr>
          <p:nvPr/>
        </p:nvPicPr>
        <p:blipFill rotWithShape="1">
          <a:blip r:embed="rId3"/>
          <a:srcRect l="32480" t="77968" r="52977" b="15545"/>
          <a:stretch/>
        </p:blipFill>
        <p:spPr>
          <a:xfrm>
            <a:off x="5557920" y="4760536"/>
            <a:ext cx="1131116" cy="1006164"/>
          </a:xfrm>
          <a:prstGeom prst="rect">
            <a:avLst/>
          </a:prstGeom>
        </p:spPr>
      </p:pic>
    </p:spTree>
    <p:extLst>
      <p:ext uri="{BB962C8B-B14F-4D97-AF65-F5344CB8AC3E}">
        <p14:creationId xmlns:p14="http://schemas.microsoft.com/office/powerpoint/2010/main" val="912340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with one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489720" y="5565272"/>
            <a:ext cx="1814147"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430280" y="1869345"/>
            <a:ext cx="5618375" cy="865622"/>
          </a:xfrm>
          <a:prstGeom prst="rect">
            <a:avLst/>
          </a:prstGeom>
        </p:spPr>
        <p:txBody>
          <a:bodyPr wrap="square" anchor="t" anchorCtr="0">
            <a:spAutoFit/>
          </a:bodyPr>
          <a:lstStyle>
            <a:lvl1pPr algn="l">
              <a:lnSpc>
                <a:spcPts val="6620"/>
              </a:lnSpc>
              <a:defRPr sz="5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430280" y="2806063"/>
            <a:ext cx="5618375" cy="432811"/>
          </a:xfrm>
          <a:prstGeom prst="rect">
            <a:avLst/>
          </a:prstGeom>
        </p:spPr>
        <p:txBody>
          <a:bodyPr wrap="square" anchor="t" anchorCtr="0">
            <a:spAutoFit/>
          </a:bodyPr>
          <a:lstStyle>
            <a:lvl1pPr marL="0" indent="0" algn="l">
              <a:lnSpc>
                <a:spcPts val="2860"/>
              </a:lnSpc>
              <a:spcAft>
                <a:spcPts val="0"/>
              </a:spcAft>
              <a:buNone/>
              <a:defRPr sz="2400" b="0" i="0" cap="none" baseline="0">
                <a:solidFill>
                  <a:srgbClr val="000000"/>
                </a:solidFill>
                <a:latin typeface="Barlow Light" pitchFamily="2" charset="77"/>
                <a:ea typeface="DIN 2014 Light" panose="020B0404020202020204"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430280" y="3537942"/>
            <a:ext cx="3497815" cy="284578"/>
          </a:xfrm>
          <a:prstGeom prst="rect">
            <a:avLst/>
          </a:prstGeom>
        </p:spPr>
        <p:txBody>
          <a:bodyPr>
            <a:normAutofit/>
          </a:bodyPr>
          <a:lstStyle>
            <a:lvl1pPr marL="0" indent="0" algn="l">
              <a:buFontTx/>
              <a:buNone/>
              <a:defRPr sz="140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430280" y="3865934"/>
            <a:ext cx="3497815" cy="284578"/>
          </a:xfrm>
          <a:prstGeom prst="rect">
            <a:avLst/>
          </a:prstGeom>
        </p:spPr>
        <p:txBody>
          <a:bodyPr>
            <a:normAutofit/>
          </a:bodyPr>
          <a:lstStyle>
            <a:lvl1pPr marL="0" indent="0" algn="l">
              <a:buFontTx/>
              <a:buNone/>
              <a:defRPr sz="140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8" name="Picture 7">
            <a:extLst>
              <a:ext uri="{FF2B5EF4-FFF2-40B4-BE49-F238E27FC236}">
                <a16:creationId xmlns:a16="http://schemas.microsoft.com/office/drawing/2014/main" id="{2320B6F8-8E52-F940-BA78-A0A2B78F1B1F}"/>
              </a:ext>
            </a:extLst>
          </p:cNvPr>
          <p:cNvPicPr>
            <a:picLocks noChangeAspect="1"/>
          </p:cNvPicPr>
          <p:nvPr/>
        </p:nvPicPr>
        <p:blipFill rotWithShape="1">
          <a:blip r:embed="rId3"/>
          <a:srcRect l="32480" t="77968" r="-4719" b="9263"/>
          <a:stretch/>
        </p:blipFill>
        <p:spPr>
          <a:xfrm>
            <a:off x="5557919" y="4760536"/>
            <a:ext cx="5618375" cy="1980506"/>
          </a:xfrm>
          <a:prstGeom prst="rect">
            <a:avLst/>
          </a:prstGeom>
        </p:spPr>
      </p:pic>
      <p:pic>
        <p:nvPicPr>
          <p:cNvPr id="9" name="Picture 8">
            <a:extLst>
              <a:ext uri="{FF2B5EF4-FFF2-40B4-BE49-F238E27FC236}">
                <a16:creationId xmlns:a16="http://schemas.microsoft.com/office/drawing/2014/main" id="{9BF95770-577E-2F4F-90B8-2401D9014C37}"/>
              </a:ext>
            </a:extLst>
          </p:cNvPr>
          <p:cNvPicPr>
            <a:picLocks noChangeAspect="1"/>
          </p:cNvPicPr>
          <p:nvPr userDrawn="1"/>
        </p:nvPicPr>
        <p:blipFill rotWithShape="1">
          <a:blip r:embed="rId3"/>
          <a:srcRect l="-4606" t="49360" r="68851" b="45400"/>
          <a:stretch/>
        </p:blipFill>
        <p:spPr>
          <a:xfrm>
            <a:off x="131977" y="323389"/>
            <a:ext cx="2780907" cy="812754"/>
          </a:xfrm>
          <a:prstGeom prst="rect">
            <a:avLst/>
          </a:prstGeom>
        </p:spPr>
      </p:pic>
      <p:pic>
        <p:nvPicPr>
          <p:cNvPr id="10" name="Picture 9">
            <a:extLst>
              <a:ext uri="{FF2B5EF4-FFF2-40B4-BE49-F238E27FC236}">
                <a16:creationId xmlns:a16="http://schemas.microsoft.com/office/drawing/2014/main" id="{591A2690-5A04-4048-8F01-F3EEC9A22C8F}"/>
              </a:ext>
            </a:extLst>
          </p:cNvPr>
          <p:cNvPicPr>
            <a:picLocks noChangeAspect="1"/>
          </p:cNvPicPr>
          <p:nvPr userDrawn="1"/>
        </p:nvPicPr>
        <p:blipFill rotWithShape="1">
          <a:blip r:embed="rId4"/>
          <a:srcRect l="26846" t="13787" r="21181" b="2382"/>
          <a:stretch/>
        </p:blipFill>
        <p:spPr>
          <a:xfrm>
            <a:off x="6894485" y="404038"/>
            <a:ext cx="4834735" cy="5198999"/>
          </a:xfrm>
          <a:prstGeom prst="rect">
            <a:avLst/>
          </a:prstGeom>
        </p:spPr>
      </p:pic>
    </p:spTree>
    <p:extLst>
      <p:ext uri="{BB962C8B-B14F-4D97-AF65-F5344CB8AC3E}">
        <p14:creationId xmlns:p14="http://schemas.microsoft.com/office/powerpoint/2010/main" val="3626940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with two imag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9B950-D9DF-7541-A266-CE79D0A98ACE}"/>
              </a:ext>
            </a:extLst>
          </p:cNvPr>
          <p:cNvPicPr>
            <a:picLocks noChangeAspect="1"/>
          </p:cNvPicPr>
          <p:nvPr/>
        </p:nvPicPr>
        <p:blipFill>
          <a:blip r:embed="rId2"/>
          <a:stretch>
            <a:fillRect/>
          </a:stretch>
        </p:blipFill>
        <p:spPr>
          <a:xfrm>
            <a:off x="489720" y="5565272"/>
            <a:ext cx="1814147" cy="880395"/>
          </a:xfrm>
          <a:prstGeom prst="rect">
            <a:avLst/>
          </a:prstGeom>
          <a:ln w="6350">
            <a:noFill/>
          </a:ln>
        </p:spPr>
      </p:pic>
      <p:sp>
        <p:nvSpPr>
          <p:cNvPr id="4" name="Title 1">
            <a:extLst>
              <a:ext uri="{FF2B5EF4-FFF2-40B4-BE49-F238E27FC236}">
                <a16:creationId xmlns:a16="http://schemas.microsoft.com/office/drawing/2014/main" id="{45311258-8550-6F40-BB50-693D1D06791A}"/>
              </a:ext>
            </a:extLst>
          </p:cNvPr>
          <p:cNvSpPr>
            <a:spLocks noGrp="1"/>
          </p:cNvSpPr>
          <p:nvPr>
            <p:ph type="ctrTitle" hasCustomPrompt="1"/>
          </p:nvPr>
        </p:nvSpPr>
        <p:spPr>
          <a:xfrm>
            <a:off x="430280" y="1869345"/>
            <a:ext cx="6506097" cy="865622"/>
          </a:xfrm>
          <a:prstGeom prst="rect">
            <a:avLst/>
          </a:prstGeom>
        </p:spPr>
        <p:txBody>
          <a:bodyPr wrap="square" anchor="t" anchorCtr="0">
            <a:spAutoFit/>
          </a:bodyPr>
          <a:lstStyle>
            <a:lvl1pPr algn="l">
              <a:lnSpc>
                <a:spcPts val="6620"/>
              </a:lnSpc>
              <a:defRPr sz="5400" b="0" i="0" cap="none" baseline="0">
                <a:solidFill>
                  <a:srgbClr val="000000"/>
                </a:solidFill>
                <a:latin typeface="Barlow Light" pitchFamily="2" charset="77"/>
                <a:ea typeface="DIN 2014 Light" panose="020B0404020202020204" pitchFamily="34" charset="77"/>
              </a:defRPr>
            </a:lvl1pPr>
          </a:lstStyle>
          <a:p>
            <a:r>
              <a:rPr lang="en-US" dirty="0"/>
              <a:t>Click to edit title</a:t>
            </a:r>
          </a:p>
        </p:txBody>
      </p:sp>
      <p:sp>
        <p:nvSpPr>
          <p:cNvPr id="5" name="Subtitle 2">
            <a:extLst>
              <a:ext uri="{FF2B5EF4-FFF2-40B4-BE49-F238E27FC236}">
                <a16:creationId xmlns:a16="http://schemas.microsoft.com/office/drawing/2014/main" id="{F4A16839-F903-C14A-8C23-60C27B9ADE93}"/>
              </a:ext>
            </a:extLst>
          </p:cNvPr>
          <p:cNvSpPr>
            <a:spLocks noGrp="1"/>
          </p:cNvSpPr>
          <p:nvPr>
            <p:ph type="subTitle" idx="1" hasCustomPrompt="1"/>
          </p:nvPr>
        </p:nvSpPr>
        <p:spPr>
          <a:xfrm>
            <a:off x="430280" y="2806063"/>
            <a:ext cx="6506097" cy="432811"/>
          </a:xfrm>
          <a:prstGeom prst="rect">
            <a:avLst/>
          </a:prstGeom>
        </p:spPr>
        <p:txBody>
          <a:bodyPr wrap="square" anchor="t" anchorCtr="0">
            <a:spAutoFit/>
          </a:bodyPr>
          <a:lstStyle>
            <a:lvl1pPr marL="0" indent="0" algn="l">
              <a:lnSpc>
                <a:spcPts val="2860"/>
              </a:lnSpc>
              <a:spcAft>
                <a:spcPts val="0"/>
              </a:spcAft>
              <a:buNone/>
              <a:defRPr sz="2400" b="0" i="0" cap="none" baseline="0">
                <a:solidFill>
                  <a:srgbClr val="000000"/>
                </a:solidFill>
                <a:latin typeface="Barlow Light" pitchFamily="2" charset="77"/>
                <a:ea typeface="DIN 2014 Light" panose="020B0404020202020204" pitchFamily="34"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subtitle</a:t>
            </a:r>
            <a:endParaRPr lang="en-US" dirty="0"/>
          </a:p>
        </p:txBody>
      </p:sp>
      <p:sp>
        <p:nvSpPr>
          <p:cNvPr id="6" name="Text Placeholder 3">
            <a:extLst>
              <a:ext uri="{FF2B5EF4-FFF2-40B4-BE49-F238E27FC236}">
                <a16:creationId xmlns:a16="http://schemas.microsoft.com/office/drawing/2014/main" id="{BABE5CB6-B6EB-C044-A141-32611B898142}"/>
              </a:ext>
            </a:extLst>
          </p:cNvPr>
          <p:cNvSpPr>
            <a:spLocks noGrp="1"/>
          </p:cNvSpPr>
          <p:nvPr>
            <p:ph type="body" sz="quarter" idx="10" hasCustomPrompt="1"/>
          </p:nvPr>
        </p:nvSpPr>
        <p:spPr>
          <a:xfrm>
            <a:off x="430280" y="3537942"/>
            <a:ext cx="3497815" cy="284578"/>
          </a:xfrm>
          <a:prstGeom prst="rect">
            <a:avLst/>
          </a:prstGeom>
        </p:spPr>
        <p:txBody>
          <a:bodyPr>
            <a:normAutofit/>
          </a:bodyPr>
          <a:lstStyle>
            <a:lvl1pPr marL="0" indent="0" algn="l">
              <a:buFontTx/>
              <a:buNone/>
              <a:defRPr sz="140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7" name="Text Placeholder 3">
            <a:extLst>
              <a:ext uri="{FF2B5EF4-FFF2-40B4-BE49-F238E27FC236}">
                <a16:creationId xmlns:a16="http://schemas.microsoft.com/office/drawing/2014/main" id="{D34B6657-AB48-D24C-8CD9-DFE2033AD091}"/>
              </a:ext>
            </a:extLst>
          </p:cNvPr>
          <p:cNvSpPr>
            <a:spLocks noGrp="1"/>
          </p:cNvSpPr>
          <p:nvPr>
            <p:ph type="body" sz="quarter" idx="11" hasCustomPrompt="1"/>
          </p:nvPr>
        </p:nvSpPr>
        <p:spPr>
          <a:xfrm>
            <a:off x="430280" y="3865934"/>
            <a:ext cx="3497815" cy="284578"/>
          </a:xfrm>
          <a:prstGeom prst="rect">
            <a:avLst/>
          </a:prstGeom>
        </p:spPr>
        <p:txBody>
          <a:bodyPr>
            <a:normAutofit/>
          </a:bodyPr>
          <a:lstStyle>
            <a:lvl1pPr marL="0" indent="0" algn="l">
              <a:buFontTx/>
              <a:buNone/>
              <a:defRPr sz="140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9" name="Picture 8">
            <a:extLst>
              <a:ext uri="{FF2B5EF4-FFF2-40B4-BE49-F238E27FC236}">
                <a16:creationId xmlns:a16="http://schemas.microsoft.com/office/drawing/2014/main" id="{9BF95770-577E-2F4F-90B8-2401D9014C37}"/>
              </a:ext>
            </a:extLst>
          </p:cNvPr>
          <p:cNvPicPr>
            <a:picLocks noChangeAspect="1"/>
          </p:cNvPicPr>
          <p:nvPr/>
        </p:nvPicPr>
        <p:blipFill rotWithShape="1">
          <a:blip r:embed="rId3"/>
          <a:srcRect l="-4606" t="49360" r="68851" b="45400"/>
          <a:stretch/>
        </p:blipFill>
        <p:spPr>
          <a:xfrm>
            <a:off x="131977" y="323389"/>
            <a:ext cx="2780907" cy="812754"/>
          </a:xfrm>
          <a:prstGeom prst="rect">
            <a:avLst/>
          </a:prstGeom>
        </p:spPr>
      </p:pic>
      <p:pic>
        <p:nvPicPr>
          <p:cNvPr id="16" name="Picture 15">
            <a:extLst>
              <a:ext uri="{FF2B5EF4-FFF2-40B4-BE49-F238E27FC236}">
                <a16:creationId xmlns:a16="http://schemas.microsoft.com/office/drawing/2014/main" id="{71B7D4E7-3C73-7A4A-946D-63804544EC4C}"/>
              </a:ext>
            </a:extLst>
          </p:cNvPr>
          <p:cNvPicPr>
            <a:picLocks noChangeAspect="1"/>
          </p:cNvPicPr>
          <p:nvPr/>
        </p:nvPicPr>
        <p:blipFill rotWithShape="1">
          <a:blip r:embed="rId3"/>
          <a:srcRect l="52634" t="78297" r="1" b="10595"/>
          <a:stretch/>
        </p:blipFill>
        <p:spPr>
          <a:xfrm>
            <a:off x="8080513" y="4811775"/>
            <a:ext cx="3683888" cy="1722838"/>
          </a:xfrm>
          <a:prstGeom prst="rect">
            <a:avLst/>
          </a:prstGeom>
        </p:spPr>
      </p:pic>
      <p:pic>
        <p:nvPicPr>
          <p:cNvPr id="15" name="Picture 14">
            <a:extLst>
              <a:ext uri="{FF2B5EF4-FFF2-40B4-BE49-F238E27FC236}">
                <a16:creationId xmlns:a16="http://schemas.microsoft.com/office/drawing/2014/main" id="{0E56A9A7-BA5D-8F4F-87A5-52E81EF79B6E}"/>
              </a:ext>
            </a:extLst>
          </p:cNvPr>
          <p:cNvPicPr>
            <a:picLocks noChangeAspect="1"/>
          </p:cNvPicPr>
          <p:nvPr/>
        </p:nvPicPr>
        <p:blipFill rotWithShape="1">
          <a:blip r:embed="rId4"/>
          <a:srcRect l="7971" t="4838" r="27910"/>
          <a:stretch/>
        </p:blipFill>
        <p:spPr>
          <a:xfrm>
            <a:off x="7876014" y="452487"/>
            <a:ext cx="4315985" cy="4270342"/>
          </a:xfrm>
          <a:prstGeom prst="rect">
            <a:avLst/>
          </a:prstGeom>
        </p:spPr>
      </p:pic>
      <p:pic>
        <p:nvPicPr>
          <p:cNvPr id="14" name="Picture 13">
            <a:extLst>
              <a:ext uri="{FF2B5EF4-FFF2-40B4-BE49-F238E27FC236}">
                <a16:creationId xmlns:a16="http://schemas.microsoft.com/office/drawing/2014/main" id="{56A55381-D824-1843-9E81-B6C7DD276103}"/>
              </a:ext>
            </a:extLst>
          </p:cNvPr>
          <p:cNvPicPr>
            <a:picLocks noChangeAspect="1"/>
          </p:cNvPicPr>
          <p:nvPr/>
        </p:nvPicPr>
        <p:blipFill>
          <a:blip r:embed="rId5"/>
          <a:srcRect l="5833" r="5833"/>
          <a:stretch/>
        </p:blipFill>
        <p:spPr>
          <a:xfrm>
            <a:off x="5722463" y="4722829"/>
            <a:ext cx="2153551" cy="1722838"/>
          </a:xfrm>
          <a:prstGeom prst="rect">
            <a:avLst/>
          </a:prstGeom>
        </p:spPr>
      </p:pic>
      <p:pic>
        <p:nvPicPr>
          <p:cNvPr id="11" name="Picture 10">
            <a:extLst>
              <a:ext uri="{FF2B5EF4-FFF2-40B4-BE49-F238E27FC236}">
                <a16:creationId xmlns:a16="http://schemas.microsoft.com/office/drawing/2014/main" id="{4E0CDDDD-6F87-BF44-8B03-FC4E347C60AE}"/>
              </a:ext>
            </a:extLst>
          </p:cNvPr>
          <p:cNvPicPr>
            <a:picLocks noChangeAspect="1"/>
          </p:cNvPicPr>
          <p:nvPr/>
        </p:nvPicPr>
        <p:blipFill rotWithShape="1">
          <a:blip r:embed="rId3"/>
          <a:srcRect l="37923" t="71919" r="51711" b="23057"/>
          <a:stretch/>
        </p:blipFill>
        <p:spPr>
          <a:xfrm>
            <a:off x="6936377" y="3822520"/>
            <a:ext cx="806206" cy="779297"/>
          </a:xfrm>
          <a:prstGeom prst="rect">
            <a:avLst/>
          </a:prstGeom>
        </p:spPr>
      </p:pic>
    </p:spTree>
    <p:extLst>
      <p:ext uri="{BB962C8B-B14F-4D97-AF65-F5344CB8AC3E}">
        <p14:creationId xmlns:p14="http://schemas.microsoft.com/office/powerpoint/2010/main" val="1809820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mple_Section 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A883F-D7EF-994A-8C0A-250C680E9DAC}"/>
              </a:ext>
            </a:extLst>
          </p:cNvPr>
          <p:cNvPicPr>
            <a:picLocks noChangeAspect="1"/>
          </p:cNvPicPr>
          <p:nvPr/>
        </p:nvPicPr>
        <p:blipFill>
          <a:blip r:embed="rId2"/>
          <a:stretch>
            <a:fillRect/>
          </a:stretch>
        </p:blipFill>
        <p:spPr>
          <a:xfrm>
            <a:off x="489720" y="5565272"/>
            <a:ext cx="1814147" cy="880395"/>
          </a:xfrm>
          <a:prstGeom prst="rect">
            <a:avLst/>
          </a:prstGeom>
          <a:ln w="6350">
            <a:noFill/>
          </a:ln>
        </p:spPr>
      </p:pic>
      <p:sp>
        <p:nvSpPr>
          <p:cNvPr id="4" name="Title 1">
            <a:extLst>
              <a:ext uri="{FF2B5EF4-FFF2-40B4-BE49-F238E27FC236}">
                <a16:creationId xmlns:a16="http://schemas.microsoft.com/office/drawing/2014/main" id="{7C9E8C4A-1C6F-0847-BF94-B8F6F086A0C5}"/>
              </a:ext>
            </a:extLst>
          </p:cNvPr>
          <p:cNvSpPr>
            <a:spLocks noGrp="1"/>
          </p:cNvSpPr>
          <p:nvPr>
            <p:ph type="ctrTitle" hasCustomPrompt="1"/>
          </p:nvPr>
        </p:nvSpPr>
        <p:spPr>
          <a:xfrm>
            <a:off x="430280" y="1869345"/>
            <a:ext cx="7671729" cy="1781257"/>
          </a:xfrm>
          <a:prstGeom prst="rect">
            <a:avLst/>
          </a:prstGeom>
        </p:spPr>
        <p:txBody>
          <a:bodyPr wrap="square" anchor="t" anchorCtr="0">
            <a:spAutoFit/>
          </a:bodyPr>
          <a:lstStyle>
            <a:lvl1pPr algn="l">
              <a:lnSpc>
                <a:spcPct val="100000"/>
              </a:lnSpc>
              <a:defRPr sz="5400" b="0" i="0" cap="none" baseline="0">
                <a:solidFill>
                  <a:srgbClr val="000000"/>
                </a:solidFill>
                <a:latin typeface="Barlow Light" pitchFamily="2" charset="77"/>
                <a:ea typeface="DIN 2014 Light" panose="020B0404020202020204" pitchFamily="34" charset="77"/>
              </a:defRPr>
            </a:lvl1pPr>
          </a:lstStyle>
          <a:p>
            <a:r>
              <a:rPr lang="en-US" dirty="0"/>
              <a:t>Facilities </a:t>
            </a:r>
            <a:br>
              <a:rPr lang="en-US" dirty="0"/>
            </a:br>
            <a:r>
              <a:rPr lang="en-US" dirty="0"/>
              <a:t>and services</a:t>
            </a:r>
          </a:p>
        </p:txBody>
      </p:sp>
      <p:pic>
        <p:nvPicPr>
          <p:cNvPr id="9" name="Picture 8">
            <a:extLst>
              <a:ext uri="{FF2B5EF4-FFF2-40B4-BE49-F238E27FC236}">
                <a16:creationId xmlns:a16="http://schemas.microsoft.com/office/drawing/2014/main" id="{96CB0E58-519D-1C4A-9758-18D74E94D9C4}"/>
              </a:ext>
            </a:extLst>
          </p:cNvPr>
          <p:cNvPicPr>
            <a:picLocks noChangeAspect="1"/>
          </p:cNvPicPr>
          <p:nvPr/>
        </p:nvPicPr>
        <p:blipFill rotWithShape="1">
          <a:blip r:embed="rId3"/>
          <a:srcRect l="52909" t="68124" r="2" b="12204"/>
          <a:stretch/>
        </p:blipFill>
        <p:spPr>
          <a:xfrm>
            <a:off x="8102009" y="3233854"/>
            <a:ext cx="3662391" cy="3051199"/>
          </a:xfrm>
          <a:prstGeom prst="rect">
            <a:avLst/>
          </a:prstGeom>
        </p:spPr>
      </p:pic>
      <p:pic>
        <p:nvPicPr>
          <p:cNvPr id="10" name="Picture 9">
            <a:extLst>
              <a:ext uri="{FF2B5EF4-FFF2-40B4-BE49-F238E27FC236}">
                <a16:creationId xmlns:a16="http://schemas.microsoft.com/office/drawing/2014/main" id="{A25B9D3D-C254-FE4D-B97F-D0D03F4FA938}"/>
              </a:ext>
            </a:extLst>
          </p:cNvPr>
          <p:cNvPicPr>
            <a:picLocks noChangeAspect="1"/>
          </p:cNvPicPr>
          <p:nvPr/>
        </p:nvPicPr>
        <p:blipFill rotWithShape="1">
          <a:blip r:embed="rId3"/>
          <a:srcRect l="3874" t="49360" r="52758" b="42026"/>
          <a:stretch/>
        </p:blipFill>
        <p:spPr>
          <a:xfrm>
            <a:off x="271667" y="323388"/>
            <a:ext cx="3372988" cy="1336079"/>
          </a:xfrm>
          <a:prstGeom prst="rect">
            <a:avLst/>
          </a:prstGeom>
        </p:spPr>
      </p:pic>
      <p:sp>
        <p:nvSpPr>
          <p:cNvPr id="14" name="Rectangle 13">
            <a:extLst>
              <a:ext uri="{FF2B5EF4-FFF2-40B4-BE49-F238E27FC236}">
                <a16:creationId xmlns:a16="http://schemas.microsoft.com/office/drawing/2014/main" id="{853D571E-6C6A-4798-9A60-604AE949FEB4}"/>
              </a:ext>
            </a:extLst>
          </p:cNvPr>
          <p:cNvSpPr/>
          <p:nvPr userDrawn="1"/>
        </p:nvSpPr>
        <p:spPr>
          <a:xfrm>
            <a:off x="8287473" y="6445667"/>
            <a:ext cx="3476927" cy="412333"/>
          </a:xfrm>
          <a:prstGeom prst="rect">
            <a:avLst/>
          </a:prstGeom>
          <a:solidFill>
            <a:srgbClr val="E7E7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6096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ample_Body slide no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430280" y="449927"/>
            <a:ext cx="9687754" cy="1077218"/>
          </a:xfrm>
          <a:prstGeom prst="rect">
            <a:avLst/>
          </a:prstGeom>
        </p:spPr>
        <p:txBody>
          <a:bodyPr wrap="square" anchor="t" anchorCtr="0">
            <a:spAutoFit/>
          </a:bodyPr>
          <a:lstStyle>
            <a:lvl1pPr algn="l">
              <a:lnSpc>
                <a:spcPct val="100000"/>
              </a:lnSpc>
              <a:defRPr sz="3200" b="0" i="0" cap="none" baseline="0">
                <a:solidFill>
                  <a:srgbClr val="000000"/>
                </a:solidFill>
                <a:latin typeface="Barlow Light" pitchFamily="2" charset="77"/>
                <a:ea typeface="DIN 2014 Light" panose="020B0404020202020204" pitchFamily="34" charset="77"/>
              </a:defRPr>
            </a:lvl1pPr>
          </a:lstStyle>
          <a:p>
            <a:r>
              <a:rPr lang="en-US" dirty="0"/>
              <a:t>Swinburne empowers you to </a:t>
            </a:r>
            <a:br>
              <a:rPr lang="en-US" dirty="0"/>
            </a:br>
            <a:r>
              <a:rPr lang="en-US" dirty="0"/>
              <a:t>make the most of your experience</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p:nvPicPr>
        <p:blipFill rotWithShape="1">
          <a:blip r:embed="rId2"/>
          <a:srcRect l="79226" t="68124" r="1" b="10595"/>
          <a:stretch/>
        </p:blipFill>
        <p:spPr>
          <a:xfrm>
            <a:off x="10260623" y="211344"/>
            <a:ext cx="1615638" cy="3300759"/>
          </a:xfrm>
          <a:prstGeom prst="rect">
            <a:avLst/>
          </a:prstGeom>
        </p:spPr>
      </p:pic>
      <p:pic>
        <p:nvPicPr>
          <p:cNvPr id="9" name="Picture 8">
            <a:extLst>
              <a:ext uri="{FF2B5EF4-FFF2-40B4-BE49-F238E27FC236}">
                <a16:creationId xmlns:a16="http://schemas.microsoft.com/office/drawing/2014/main" id="{294273B4-A5A6-EE41-BD37-13F7331B8F52}"/>
              </a:ext>
            </a:extLst>
          </p:cNvPr>
          <p:cNvPicPr>
            <a:picLocks noChangeAspect="1"/>
          </p:cNvPicPr>
          <p:nvPr/>
        </p:nvPicPr>
        <p:blipFill>
          <a:blip r:embed="rId3"/>
          <a:stretch>
            <a:fillRect/>
          </a:stretch>
        </p:blipFill>
        <p:spPr>
          <a:xfrm>
            <a:off x="10886515" y="6104792"/>
            <a:ext cx="989746" cy="480318"/>
          </a:xfrm>
          <a:prstGeom prst="rect">
            <a:avLst/>
          </a:prstGeom>
          <a:ln w="6350">
            <a:noFill/>
          </a:ln>
        </p:spPr>
      </p:pic>
      <p:sp>
        <p:nvSpPr>
          <p:cNvPr id="8" name="Text Placeholder 4">
            <a:extLst>
              <a:ext uri="{FF2B5EF4-FFF2-40B4-BE49-F238E27FC236}">
                <a16:creationId xmlns:a16="http://schemas.microsoft.com/office/drawing/2014/main" id="{611E3A5E-99C3-A248-9BD6-51A7C5B92960}"/>
              </a:ext>
            </a:extLst>
          </p:cNvPr>
          <p:cNvSpPr>
            <a:spLocks noGrp="1"/>
          </p:cNvSpPr>
          <p:nvPr>
            <p:ph type="body" sz="quarter" idx="10" hasCustomPrompt="1"/>
          </p:nvPr>
        </p:nvSpPr>
        <p:spPr>
          <a:xfrm>
            <a:off x="430280" y="1832144"/>
            <a:ext cx="9687754" cy="517525"/>
          </a:xfrm>
          <a:prstGeom prst="rect">
            <a:avLst/>
          </a:prstGeom>
        </p:spPr>
        <p:txBody>
          <a:bodyPr/>
          <a:lstStyle>
            <a:lvl1pPr marL="0" indent="0">
              <a:buNone/>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Swinburne has a wide range of facilities and support services</a:t>
            </a:r>
          </a:p>
        </p:txBody>
      </p:sp>
      <p:sp>
        <p:nvSpPr>
          <p:cNvPr id="17" name="Text Placeholder 7">
            <a:extLst>
              <a:ext uri="{FF2B5EF4-FFF2-40B4-BE49-F238E27FC236}">
                <a16:creationId xmlns:a16="http://schemas.microsoft.com/office/drawing/2014/main" id="{8BF6AA28-ECBB-4880-813D-2B3B6BEC86C2}"/>
              </a:ext>
            </a:extLst>
          </p:cNvPr>
          <p:cNvSpPr>
            <a:spLocks noGrp="1"/>
          </p:cNvSpPr>
          <p:nvPr>
            <p:ph type="body" sz="quarter" idx="12" hasCustomPrompt="1"/>
          </p:nvPr>
        </p:nvSpPr>
        <p:spPr>
          <a:xfrm>
            <a:off x="430280" y="6335873"/>
            <a:ext cx="5049837" cy="249237"/>
          </a:xfrm>
          <a:prstGeom prst="rect">
            <a:avLst/>
          </a:prstGeom>
        </p:spPr>
        <p:txBody>
          <a:bodyPr/>
          <a:lstStyle>
            <a:lvl1pPr marL="0" indent="0">
              <a:buNone/>
              <a:defRPr sz="8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
        <p:nvSpPr>
          <p:cNvPr id="18" name="Subtitle 2">
            <a:extLst>
              <a:ext uri="{FF2B5EF4-FFF2-40B4-BE49-F238E27FC236}">
                <a16:creationId xmlns:a16="http://schemas.microsoft.com/office/drawing/2014/main" id="{8FCFC9AE-857A-4CF3-B511-2C7E86276E20}"/>
              </a:ext>
            </a:extLst>
          </p:cNvPr>
          <p:cNvSpPr>
            <a:spLocks noGrp="1"/>
          </p:cNvSpPr>
          <p:nvPr>
            <p:ph type="subTitle" idx="1" hasCustomPrompt="1"/>
          </p:nvPr>
        </p:nvSpPr>
        <p:spPr>
          <a:xfrm>
            <a:off x="430280" y="2416969"/>
            <a:ext cx="6904798" cy="276999"/>
          </a:xfrm>
          <a:prstGeom prst="rect">
            <a:avLst/>
          </a:prstGeom>
        </p:spPr>
        <p:txBody>
          <a:bodyPr wrap="square" anchor="t" anchorCtr="0">
            <a:spAutoFit/>
          </a:bodyPr>
          <a:lstStyle>
            <a:lvl1pPr marL="0" indent="0" algn="l">
              <a:lnSpc>
                <a:spcPct val="100000"/>
              </a:lnSpc>
              <a:spcAft>
                <a:spcPts val="0"/>
              </a:spcAft>
              <a:buNone/>
              <a:defRPr sz="12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body copy</a:t>
            </a:r>
          </a:p>
        </p:txBody>
      </p:sp>
    </p:spTree>
    <p:extLst>
      <p:ext uri="{BB962C8B-B14F-4D97-AF65-F5344CB8AC3E}">
        <p14:creationId xmlns:p14="http://schemas.microsoft.com/office/powerpoint/2010/main" val="181590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ample_Body slide with im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430280" y="449927"/>
            <a:ext cx="7152861" cy="584775"/>
          </a:xfrm>
          <a:prstGeom prst="rect">
            <a:avLst/>
          </a:prstGeom>
        </p:spPr>
        <p:txBody>
          <a:bodyPr wrap="square" anchor="t" anchorCtr="0">
            <a:spAutoFit/>
          </a:bodyPr>
          <a:lstStyle>
            <a:lvl1pPr algn="l">
              <a:lnSpc>
                <a:spcPct val="100000"/>
              </a:lnSpc>
              <a:defRPr sz="3200" b="0" i="0" cap="none" baseline="0">
                <a:solidFill>
                  <a:srgbClr val="000000"/>
                </a:solidFill>
                <a:latin typeface="Barlow Light" pitchFamily="2" charset="77"/>
                <a:ea typeface="DIN 2014 Light" panose="020B0404020202020204" pitchFamily="34" charset="77"/>
              </a:defRPr>
            </a:lvl1pPr>
          </a:lstStyle>
          <a:p>
            <a:r>
              <a:rPr lang="en-US" dirty="0"/>
              <a:t>Safety on campus</a:t>
            </a:r>
          </a:p>
        </p:txBody>
      </p:sp>
      <p:pic>
        <p:nvPicPr>
          <p:cNvPr id="9" name="Picture 8">
            <a:extLst>
              <a:ext uri="{FF2B5EF4-FFF2-40B4-BE49-F238E27FC236}">
                <a16:creationId xmlns:a16="http://schemas.microsoft.com/office/drawing/2014/main" id="{294273B4-A5A6-EE41-BD37-13F7331B8F52}"/>
              </a:ext>
            </a:extLst>
          </p:cNvPr>
          <p:cNvPicPr>
            <a:picLocks noChangeAspect="1"/>
          </p:cNvPicPr>
          <p:nvPr userDrawn="1"/>
        </p:nvPicPr>
        <p:blipFill>
          <a:blip r:embed="rId2"/>
          <a:stretch>
            <a:fillRect/>
          </a:stretch>
        </p:blipFill>
        <p:spPr>
          <a:xfrm>
            <a:off x="10886515" y="6104792"/>
            <a:ext cx="989746" cy="480318"/>
          </a:xfrm>
          <a:prstGeom prst="rect">
            <a:avLst/>
          </a:prstGeom>
          <a:ln w="6350">
            <a:noFill/>
          </a:ln>
        </p:spPr>
      </p:pic>
      <p:pic>
        <p:nvPicPr>
          <p:cNvPr id="8" name="Picture 7">
            <a:extLst>
              <a:ext uri="{FF2B5EF4-FFF2-40B4-BE49-F238E27FC236}">
                <a16:creationId xmlns:a16="http://schemas.microsoft.com/office/drawing/2014/main" id="{2896A50B-0CED-5E4D-BA45-B1ED01FB78F2}"/>
              </a:ext>
            </a:extLst>
          </p:cNvPr>
          <p:cNvPicPr>
            <a:picLocks noChangeAspect="1"/>
          </p:cNvPicPr>
          <p:nvPr userDrawn="1"/>
        </p:nvPicPr>
        <p:blipFill rotWithShape="1">
          <a:blip r:embed="rId3"/>
          <a:srcRect l="47527" t="78866" r="2" b="14827"/>
          <a:stretch/>
        </p:blipFill>
        <p:spPr>
          <a:xfrm>
            <a:off x="7683335" y="4899991"/>
            <a:ext cx="4081066" cy="978296"/>
          </a:xfrm>
          <a:prstGeom prst="rect">
            <a:avLst/>
          </a:prstGeom>
        </p:spPr>
      </p:pic>
      <p:sp>
        <p:nvSpPr>
          <p:cNvPr id="13" name="Text Placeholder 4">
            <a:extLst>
              <a:ext uri="{FF2B5EF4-FFF2-40B4-BE49-F238E27FC236}">
                <a16:creationId xmlns:a16="http://schemas.microsoft.com/office/drawing/2014/main" id="{7A92E0E6-1027-8048-A325-503E10C0E9A8}"/>
              </a:ext>
            </a:extLst>
          </p:cNvPr>
          <p:cNvSpPr>
            <a:spLocks noGrp="1"/>
          </p:cNvSpPr>
          <p:nvPr>
            <p:ph type="body" sz="quarter" idx="10" hasCustomPrompt="1"/>
          </p:nvPr>
        </p:nvSpPr>
        <p:spPr>
          <a:xfrm>
            <a:off x="430280" y="1508852"/>
            <a:ext cx="7152861" cy="517525"/>
          </a:xfrm>
          <a:prstGeom prst="rect">
            <a:avLst/>
          </a:prstGeom>
        </p:spPr>
        <p:txBody>
          <a:bodyPr/>
          <a:lstStyle>
            <a:lvl1pPr marL="0" indent="0">
              <a:buNone/>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Swinburne takes safety and security very seriously.</a:t>
            </a:r>
          </a:p>
        </p:txBody>
      </p:sp>
      <p:sp>
        <p:nvSpPr>
          <p:cNvPr id="18" name="Text Placeholder 7">
            <a:extLst>
              <a:ext uri="{FF2B5EF4-FFF2-40B4-BE49-F238E27FC236}">
                <a16:creationId xmlns:a16="http://schemas.microsoft.com/office/drawing/2014/main" id="{529465B6-EAD9-4F8E-A664-BA0A0BD52FD4}"/>
              </a:ext>
            </a:extLst>
          </p:cNvPr>
          <p:cNvSpPr>
            <a:spLocks noGrp="1"/>
          </p:cNvSpPr>
          <p:nvPr>
            <p:ph type="body" sz="quarter" idx="11" hasCustomPrompt="1"/>
          </p:nvPr>
        </p:nvSpPr>
        <p:spPr>
          <a:xfrm>
            <a:off x="430280" y="6335873"/>
            <a:ext cx="5049837" cy="249237"/>
          </a:xfrm>
          <a:prstGeom prst="rect">
            <a:avLst/>
          </a:prstGeom>
        </p:spPr>
        <p:txBody>
          <a:bodyPr/>
          <a:lstStyle>
            <a:lvl1pPr marL="0" indent="0">
              <a:buNone/>
              <a:defRPr sz="8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pic>
        <p:nvPicPr>
          <p:cNvPr id="19" name="Picture 18">
            <a:extLst>
              <a:ext uri="{FF2B5EF4-FFF2-40B4-BE49-F238E27FC236}">
                <a16:creationId xmlns:a16="http://schemas.microsoft.com/office/drawing/2014/main" id="{E2D844A4-A477-478A-B06A-5DDB45441EBD}"/>
              </a:ext>
            </a:extLst>
          </p:cNvPr>
          <p:cNvPicPr>
            <a:picLocks noChangeAspect="1"/>
          </p:cNvPicPr>
          <p:nvPr userDrawn="1"/>
        </p:nvPicPr>
        <p:blipFill rotWithShape="1">
          <a:blip r:embed="rId4"/>
          <a:srcRect l="9966" t="12338" r="26401" b="3540"/>
          <a:stretch/>
        </p:blipFill>
        <p:spPr>
          <a:xfrm>
            <a:off x="7876015" y="449927"/>
            <a:ext cx="4315985" cy="4270342"/>
          </a:xfrm>
          <a:prstGeom prst="rect">
            <a:avLst/>
          </a:prstGeom>
        </p:spPr>
      </p:pic>
      <p:sp>
        <p:nvSpPr>
          <p:cNvPr id="20" name="Subtitle 2">
            <a:extLst>
              <a:ext uri="{FF2B5EF4-FFF2-40B4-BE49-F238E27FC236}">
                <a16:creationId xmlns:a16="http://schemas.microsoft.com/office/drawing/2014/main" id="{E117F348-3FC8-42E6-B117-DD3752D14939}"/>
              </a:ext>
            </a:extLst>
          </p:cNvPr>
          <p:cNvSpPr>
            <a:spLocks noGrp="1"/>
          </p:cNvSpPr>
          <p:nvPr>
            <p:ph type="subTitle" idx="1" hasCustomPrompt="1"/>
          </p:nvPr>
        </p:nvSpPr>
        <p:spPr>
          <a:xfrm>
            <a:off x="430280" y="2247150"/>
            <a:ext cx="6904798" cy="276999"/>
          </a:xfrm>
          <a:prstGeom prst="rect">
            <a:avLst/>
          </a:prstGeom>
        </p:spPr>
        <p:txBody>
          <a:bodyPr wrap="square" anchor="t" anchorCtr="0">
            <a:spAutoFit/>
          </a:bodyPr>
          <a:lstStyle>
            <a:lvl1pPr marL="0" indent="0" algn="l">
              <a:lnSpc>
                <a:spcPct val="100000"/>
              </a:lnSpc>
              <a:spcAft>
                <a:spcPts val="0"/>
              </a:spcAft>
              <a:buNone/>
              <a:defRPr sz="12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edit body copy</a:t>
            </a:r>
          </a:p>
        </p:txBody>
      </p:sp>
    </p:spTree>
    <p:extLst>
      <p:ext uri="{BB962C8B-B14F-4D97-AF65-F5344CB8AC3E}">
        <p14:creationId xmlns:p14="http://schemas.microsoft.com/office/powerpoint/2010/main" val="37944828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ample_Body slide with tab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430280" y="449927"/>
            <a:ext cx="10681668" cy="584775"/>
          </a:xfrm>
          <a:prstGeom prst="rect">
            <a:avLst/>
          </a:prstGeom>
        </p:spPr>
        <p:txBody>
          <a:bodyPr wrap="square" anchor="t" anchorCtr="0">
            <a:spAutoFit/>
          </a:bodyPr>
          <a:lstStyle>
            <a:lvl1pPr algn="l">
              <a:lnSpc>
                <a:spcPct val="100000"/>
              </a:lnSpc>
              <a:defRPr sz="3200" b="0" i="0" cap="none" baseline="0">
                <a:solidFill>
                  <a:srgbClr val="000000"/>
                </a:solidFill>
                <a:latin typeface="Barlow Light" pitchFamily="2" charset="77"/>
                <a:ea typeface="DIN 2014 Light" panose="020B0404020202020204" pitchFamily="34" charset="77"/>
              </a:defRPr>
            </a:lvl1pPr>
          </a:lstStyle>
          <a:p>
            <a:r>
              <a:rPr lang="en-US" dirty="0"/>
              <a:t>How a table slide can appear</a:t>
            </a:r>
          </a:p>
        </p:txBody>
      </p:sp>
      <p:pic>
        <p:nvPicPr>
          <p:cNvPr id="9" name="Picture 8">
            <a:extLst>
              <a:ext uri="{FF2B5EF4-FFF2-40B4-BE49-F238E27FC236}">
                <a16:creationId xmlns:a16="http://schemas.microsoft.com/office/drawing/2014/main" id="{294273B4-A5A6-EE41-BD37-13F7331B8F52}"/>
              </a:ext>
            </a:extLst>
          </p:cNvPr>
          <p:cNvPicPr>
            <a:picLocks noChangeAspect="1"/>
          </p:cNvPicPr>
          <p:nvPr userDrawn="1"/>
        </p:nvPicPr>
        <p:blipFill>
          <a:blip r:embed="rId2"/>
          <a:stretch>
            <a:fillRect/>
          </a:stretch>
        </p:blipFill>
        <p:spPr>
          <a:xfrm>
            <a:off x="10886515" y="6104792"/>
            <a:ext cx="989746" cy="480318"/>
          </a:xfrm>
          <a:prstGeom prst="rect">
            <a:avLst/>
          </a:prstGeom>
          <a:ln w="6350">
            <a:noFill/>
          </a:ln>
        </p:spPr>
      </p:pic>
      <p:sp>
        <p:nvSpPr>
          <p:cNvPr id="12" name="Subtitle 2">
            <a:extLst>
              <a:ext uri="{FF2B5EF4-FFF2-40B4-BE49-F238E27FC236}">
                <a16:creationId xmlns:a16="http://schemas.microsoft.com/office/drawing/2014/main" id="{4611B57F-60E4-BF40-AC95-C9DB86A26E2D}"/>
              </a:ext>
            </a:extLst>
          </p:cNvPr>
          <p:cNvSpPr>
            <a:spLocks noGrp="1"/>
          </p:cNvSpPr>
          <p:nvPr>
            <p:ph type="subTitle" idx="1" hasCustomPrompt="1"/>
          </p:nvPr>
        </p:nvSpPr>
        <p:spPr>
          <a:xfrm>
            <a:off x="430279" y="2247150"/>
            <a:ext cx="10681667"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cap="none" baseline="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dirty="0"/>
              <a:t>You may add some body text to explain your table.</a:t>
            </a:r>
          </a:p>
        </p:txBody>
      </p:sp>
      <p:sp>
        <p:nvSpPr>
          <p:cNvPr id="8" name="Text Placeholder 4">
            <a:extLst>
              <a:ext uri="{FF2B5EF4-FFF2-40B4-BE49-F238E27FC236}">
                <a16:creationId xmlns:a16="http://schemas.microsoft.com/office/drawing/2014/main" id="{D10E51DE-39B6-CC4B-BA98-3ABC1461CED3}"/>
              </a:ext>
            </a:extLst>
          </p:cNvPr>
          <p:cNvSpPr>
            <a:spLocks noGrp="1"/>
          </p:cNvSpPr>
          <p:nvPr>
            <p:ph type="body" sz="quarter" idx="10" hasCustomPrompt="1"/>
          </p:nvPr>
        </p:nvSpPr>
        <p:spPr>
          <a:xfrm>
            <a:off x="430280" y="1508852"/>
            <a:ext cx="10681668" cy="517525"/>
          </a:xfrm>
          <a:prstGeom prst="rect">
            <a:avLst/>
          </a:prstGeom>
        </p:spPr>
        <p:txBody>
          <a:bodyPr/>
          <a:lstStyle>
            <a:lvl1pPr marL="0" indent="0">
              <a:buNone/>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These can be useful for displaying statistics and timelines</a:t>
            </a:r>
          </a:p>
        </p:txBody>
      </p:sp>
      <p:sp>
        <p:nvSpPr>
          <p:cNvPr id="11" name="Text Placeholder 7">
            <a:extLst>
              <a:ext uri="{FF2B5EF4-FFF2-40B4-BE49-F238E27FC236}">
                <a16:creationId xmlns:a16="http://schemas.microsoft.com/office/drawing/2014/main" id="{C963C177-FD25-4F8F-B236-438FB5316544}"/>
              </a:ext>
            </a:extLst>
          </p:cNvPr>
          <p:cNvSpPr>
            <a:spLocks noGrp="1"/>
          </p:cNvSpPr>
          <p:nvPr>
            <p:ph type="body" sz="quarter" idx="11" hasCustomPrompt="1"/>
          </p:nvPr>
        </p:nvSpPr>
        <p:spPr>
          <a:xfrm>
            <a:off x="430280" y="6335873"/>
            <a:ext cx="5049837" cy="249237"/>
          </a:xfrm>
          <a:prstGeom prst="rect">
            <a:avLst/>
          </a:prstGeom>
        </p:spPr>
        <p:txBody>
          <a:bodyPr/>
          <a:lstStyle>
            <a:lvl1pPr marL="0" indent="0">
              <a:buNone/>
              <a:defRPr sz="8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GB" dirty="0"/>
              <a:t>Footnotes can go here</a:t>
            </a:r>
            <a:endParaRPr lang="en-US" dirty="0"/>
          </a:p>
        </p:txBody>
      </p:sp>
    </p:spTree>
    <p:extLst>
      <p:ext uri="{BB962C8B-B14F-4D97-AF65-F5344CB8AC3E}">
        <p14:creationId xmlns:p14="http://schemas.microsoft.com/office/powerpoint/2010/main" val="2881368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3093C11-A994-E549-B042-382B08986623}"/>
              </a:ext>
            </a:extLst>
          </p:cNvPr>
          <p:cNvSpPr>
            <a:spLocks noGrp="1"/>
          </p:cNvSpPr>
          <p:nvPr>
            <p:ph type="ctrTitle" hasCustomPrompt="1"/>
          </p:nvPr>
        </p:nvSpPr>
        <p:spPr>
          <a:xfrm>
            <a:off x="718929" y="2445781"/>
            <a:ext cx="7152861" cy="865622"/>
          </a:xfrm>
          <a:prstGeom prst="rect">
            <a:avLst/>
          </a:prstGeom>
        </p:spPr>
        <p:txBody>
          <a:bodyPr wrap="square" anchor="t" anchorCtr="0">
            <a:spAutoFit/>
          </a:bodyPr>
          <a:lstStyle>
            <a:lvl1pPr algn="l">
              <a:lnSpc>
                <a:spcPts val="6620"/>
              </a:lnSpc>
              <a:defRPr sz="5400" b="0" i="0" cap="none" baseline="0">
                <a:solidFill>
                  <a:srgbClr val="000000"/>
                </a:solidFill>
                <a:latin typeface="Barlow Light" pitchFamily="2" charset="77"/>
                <a:ea typeface="DIN 2014 Light" panose="020B0404020202020204" pitchFamily="34" charset="77"/>
              </a:defRPr>
            </a:lvl1pPr>
          </a:lstStyle>
          <a:p>
            <a:r>
              <a:rPr lang="en-US" dirty="0"/>
              <a:t>Thank you</a:t>
            </a:r>
          </a:p>
        </p:txBody>
      </p:sp>
      <p:sp>
        <p:nvSpPr>
          <p:cNvPr id="5" name="Text Placeholder 3">
            <a:extLst>
              <a:ext uri="{FF2B5EF4-FFF2-40B4-BE49-F238E27FC236}">
                <a16:creationId xmlns:a16="http://schemas.microsoft.com/office/drawing/2014/main" id="{B35A7696-ECE8-C940-A4FE-4B77CA605C4E}"/>
              </a:ext>
            </a:extLst>
          </p:cNvPr>
          <p:cNvSpPr>
            <a:spLocks noGrp="1"/>
          </p:cNvSpPr>
          <p:nvPr>
            <p:ph type="body" sz="quarter" idx="10" hasCustomPrompt="1"/>
          </p:nvPr>
        </p:nvSpPr>
        <p:spPr>
          <a:xfrm>
            <a:off x="718929" y="4114378"/>
            <a:ext cx="3497815" cy="284578"/>
          </a:xfrm>
          <a:prstGeom prst="rect">
            <a:avLst/>
          </a:prstGeom>
        </p:spPr>
        <p:txBody>
          <a:bodyPr>
            <a:normAutofit/>
          </a:bodyPr>
          <a:lstStyle>
            <a:lvl1pPr marL="0" indent="0" algn="l">
              <a:buNone/>
              <a:defRPr sz="1400" b="1" i="0">
                <a:solidFill>
                  <a:srgbClr val="000000"/>
                </a:solidFill>
                <a:latin typeface="Barlow SemiBold" pitchFamily="2" charset="77"/>
                <a:ea typeface="DIN 2014 Demi" panose="020B0504020202020204" pitchFamily="34" charset="77"/>
                <a:cs typeface="Open Sans" panose="020B0606030504020204" pitchFamily="34" charset="0"/>
              </a:defRPr>
            </a:lvl1pPr>
          </a:lstStyle>
          <a:p>
            <a:pPr lvl="0"/>
            <a:r>
              <a:rPr lang="en-GB" dirty="0"/>
              <a:t>Presented by Name </a:t>
            </a:r>
            <a:r>
              <a:rPr lang="en-GB" dirty="0" err="1"/>
              <a:t>Lastname</a:t>
            </a:r>
            <a:endParaRPr lang="en-GB" dirty="0"/>
          </a:p>
        </p:txBody>
      </p:sp>
      <p:sp>
        <p:nvSpPr>
          <p:cNvPr id="6" name="Text Placeholder 3">
            <a:extLst>
              <a:ext uri="{FF2B5EF4-FFF2-40B4-BE49-F238E27FC236}">
                <a16:creationId xmlns:a16="http://schemas.microsoft.com/office/drawing/2014/main" id="{CDC6E18F-FA4E-DF49-843E-38F72D48BA93}"/>
              </a:ext>
            </a:extLst>
          </p:cNvPr>
          <p:cNvSpPr>
            <a:spLocks noGrp="1"/>
          </p:cNvSpPr>
          <p:nvPr>
            <p:ph type="body" sz="quarter" idx="11" hasCustomPrompt="1"/>
          </p:nvPr>
        </p:nvSpPr>
        <p:spPr>
          <a:xfrm>
            <a:off x="718929" y="4442370"/>
            <a:ext cx="3497815" cy="284578"/>
          </a:xfrm>
          <a:prstGeom prst="rect">
            <a:avLst/>
          </a:prstGeom>
        </p:spPr>
        <p:txBody>
          <a:bodyPr>
            <a:normAutofit/>
          </a:bodyPr>
          <a:lstStyle>
            <a:lvl1pPr marL="0" indent="0" algn="l">
              <a:buNone/>
              <a:defRPr sz="1400" b="0" i="0">
                <a:solidFill>
                  <a:srgbClr val="000000"/>
                </a:solidFill>
                <a:latin typeface="Barlow Light" pitchFamily="2" charset="77"/>
                <a:ea typeface="DIN 2014 Light" panose="020B0404020202020204" pitchFamily="34" charset="77"/>
                <a:cs typeface="Open Sans" panose="020B0606030504020204" pitchFamily="34" charset="0"/>
              </a:defRPr>
            </a:lvl1pPr>
          </a:lstStyle>
          <a:p>
            <a:pPr lvl="0"/>
            <a:r>
              <a:rPr lang="en-GB" dirty="0"/>
              <a:t>Day 00 Month, 2021</a:t>
            </a:r>
          </a:p>
        </p:txBody>
      </p:sp>
      <p:pic>
        <p:nvPicPr>
          <p:cNvPr id="7" name="Picture 6">
            <a:extLst>
              <a:ext uri="{FF2B5EF4-FFF2-40B4-BE49-F238E27FC236}">
                <a16:creationId xmlns:a16="http://schemas.microsoft.com/office/drawing/2014/main" id="{E7293312-AFF4-D84D-99E7-98D4D7B28FBA}"/>
              </a:ext>
            </a:extLst>
          </p:cNvPr>
          <p:cNvPicPr>
            <a:picLocks noChangeAspect="1"/>
          </p:cNvPicPr>
          <p:nvPr userDrawn="1"/>
        </p:nvPicPr>
        <p:blipFill rotWithShape="1">
          <a:blip r:embed="rId2"/>
          <a:srcRect l="52909" t="68124" r="2" b="10595"/>
          <a:stretch/>
        </p:blipFill>
        <p:spPr>
          <a:xfrm>
            <a:off x="8102009" y="3233854"/>
            <a:ext cx="3662391" cy="3300759"/>
          </a:xfrm>
          <a:prstGeom prst="rect">
            <a:avLst/>
          </a:prstGeom>
        </p:spPr>
      </p:pic>
      <p:pic>
        <p:nvPicPr>
          <p:cNvPr id="8" name="Picture 7">
            <a:extLst>
              <a:ext uri="{FF2B5EF4-FFF2-40B4-BE49-F238E27FC236}">
                <a16:creationId xmlns:a16="http://schemas.microsoft.com/office/drawing/2014/main" id="{9A92F9E7-BC4A-CD44-9374-3963AC3F1A2C}"/>
              </a:ext>
            </a:extLst>
          </p:cNvPr>
          <p:cNvPicPr>
            <a:picLocks noChangeAspect="1"/>
          </p:cNvPicPr>
          <p:nvPr/>
        </p:nvPicPr>
        <p:blipFill>
          <a:blip r:embed="rId3"/>
          <a:stretch>
            <a:fillRect/>
          </a:stretch>
        </p:blipFill>
        <p:spPr>
          <a:xfrm>
            <a:off x="9984686" y="422097"/>
            <a:ext cx="1762621" cy="855390"/>
          </a:xfrm>
          <a:prstGeom prst="rect">
            <a:avLst/>
          </a:prstGeom>
          <a:ln w="6350">
            <a:noFill/>
          </a:ln>
        </p:spPr>
      </p:pic>
      <p:pic>
        <p:nvPicPr>
          <p:cNvPr id="10" name="Picture 9">
            <a:extLst>
              <a:ext uri="{FF2B5EF4-FFF2-40B4-BE49-F238E27FC236}">
                <a16:creationId xmlns:a16="http://schemas.microsoft.com/office/drawing/2014/main" id="{6427B3FD-0E2F-1A45-9E15-2CEF5BB47DA6}"/>
              </a:ext>
            </a:extLst>
          </p:cNvPr>
          <p:cNvPicPr>
            <a:picLocks noChangeAspect="1"/>
          </p:cNvPicPr>
          <p:nvPr/>
        </p:nvPicPr>
        <p:blipFill rotWithShape="1">
          <a:blip r:embed="rId2"/>
          <a:srcRect l="3874" t="49360" r="52758" b="42026"/>
          <a:stretch/>
        </p:blipFill>
        <p:spPr>
          <a:xfrm>
            <a:off x="271667" y="323388"/>
            <a:ext cx="3372988" cy="1336079"/>
          </a:xfrm>
          <a:prstGeom prst="rect">
            <a:avLst/>
          </a:prstGeom>
        </p:spPr>
      </p:pic>
    </p:spTree>
    <p:extLst>
      <p:ext uri="{BB962C8B-B14F-4D97-AF65-F5344CB8AC3E}">
        <p14:creationId xmlns:p14="http://schemas.microsoft.com/office/powerpoint/2010/main" val="29606308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_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40E8D6-300A-EC4E-9A82-8E5FF0C767D0}"/>
              </a:ext>
            </a:extLst>
          </p:cNvPr>
          <p:cNvSpPr/>
          <p:nvPr userDrawn="1"/>
        </p:nvSpPr>
        <p:spPr>
          <a:xfrm>
            <a:off x="-1" y="0"/>
            <a:ext cx="12192001" cy="1202635"/>
          </a:xfrm>
          <a:prstGeom prst="rect">
            <a:avLst/>
          </a:prstGeom>
          <a:solidFill>
            <a:srgbClr val="FFE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1" i="0" dirty="0">
              <a:latin typeface="Montserrat" pitchFamily="2" charset="77"/>
            </a:endParaRPr>
          </a:p>
        </p:txBody>
      </p:sp>
      <p:sp>
        <p:nvSpPr>
          <p:cNvPr id="12" name="Title 1">
            <a:extLst>
              <a:ext uri="{FF2B5EF4-FFF2-40B4-BE49-F238E27FC236}">
                <a16:creationId xmlns:a16="http://schemas.microsoft.com/office/drawing/2014/main" id="{3EB252FA-DA85-3A44-94E6-B57BDF7F1E05}"/>
              </a:ext>
            </a:extLst>
          </p:cNvPr>
          <p:cNvSpPr>
            <a:spLocks noGrp="1"/>
          </p:cNvSpPr>
          <p:nvPr>
            <p:ph type="title"/>
          </p:nvPr>
        </p:nvSpPr>
        <p:spPr>
          <a:xfrm>
            <a:off x="561664" y="1"/>
            <a:ext cx="10515600" cy="1202633"/>
          </a:xfrm>
        </p:spPr>
        <p:txBody>
          <a:bodyPr lIns="90000" tIns="46800" rIns="90000" bIns="46800">
            <a:normAutofit/>
          </a:bodyPr>
          <a:lstStyle>
            <a:lvl1pPr>
              <a:defRPr sz="3200" cap="none" baseline="0">
                <a:solidFill>
                  <a:srgbClr val="343638"/>
                </a:solidFill>
              </a:defRPr>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01032B33-4CDD-1249-850C-3BBEBF4C628E}"/>
              </a:ext>
            </a:extLst>
          </p:cNvPr>
          <p:cNvSpPr>
            <a:spLocks noGrp="1"/>
          </p:cNvSpPr>
          <p:nvPr>
            <p:ph type="body" sz="quarter" idx="11"/>
          </p:nvPr>
        </p:nvSpPr>
        <p:spPr>
          <a:xfrm>
            <a:off x="561664" y="1654629"/>
            <a:ext cx="10790189" cy="3875314"/>
          </a:xfrm>
        </p:spPr>
        <p:txBody>
          <a:bodyPr/>
          <a:lstStyle>
            <a:lvl1pPr>
              <a:defRPr sz="2000" b="1" i="0">
                <a:solidFill>
                  <a:srgbClr val="343638"/>
                </a:solidFill>
                <a:latin typeface="Montserrat" pitchFamily="2" charset="77"/>
              </a:defRPr>
            </a:lvl1pPr>
            <a:lvl2pPr>
              <a:lnSpc>
                <a:spcPct val="100000"/>
              </a:lnSpc>
              <a:spcBef>
                <a:spcPts val="0"/>
              </a:spcBef>
              <a:spcAft>
                <a:spcPts val="600"/>
              </a:spcAft>
              <a:defRPr sz="1600" b="0" i="0">
                <a:solidFill>
                  <a:srgbClr val="343638"/>
                </a:solidFill>
                <a:latin typeface="Open Sans Light" panose="020B0306030504020204" pitchFamily="34" charset="0"/>
                <a:ea typeface="Open Sans Light" panose="020B0306030504020204" pitchFamily="34" charset="0"/>
                <a:cs typeface="Open Sans Light" panose="020B0306030504020204" pitchFamily="34" charset="0"/>
              </a:defRPr>
            </a:lvl2pPr>
            <a:lvl3pPr marL="360363" indent="-180975">
              <a:lnSpc>
                <a:spcPct val="100000"/>
              </a:lnSpc>
              <a:spcBef>
                <a:spcPts val="0"/>
              </a:spcBef>
              <a:tabLst/>
              <a:defRPr sz="1600" b="0" i="0">
                <a:solidFill>
                  <a:srgbClr val="343638"/>
                </a:solidFill>
                <a:latin typeface="Open Sans Light" panose="020B0306030504020204" pitchFamily="34" charset="0"/>
                <a:ea typeface="Open Sans Light" panose="020B0306030504020204" pitchFamily="34" charset="0"/>
                <a:cs typeface="Open Sans Light" panose="020B0306030504020204" pitchFamily="34" charset="0"/>
              </a:defRPr>
            </a:lvl3pPr>
            <a:lvl4pPr marL="533400" indent="-130175">
              <a:lnSpc>
                <a:spcPct val="100000"/>
              </a:lnSpc>
              <a:spcBef>
                <a:spcPts val="0"/>
              </a:spcBef>
              <a:tabLst/>
              <a:defRPr sz="1600" b="0" i="0">
                <a:solidFill>
                  <a:srgbClr val="343638"/>
                </a:solidFill>
                <a:latin typeface="Open Sans Light" panose="020B0306030504020204" pitchFamily="34" charset="0"/>
                <a:ea typeface="Open Sans Light" panose="020B0306030504020204" pitchFamily="34" charset="0"/>
                <a:cs typeface="Open Sans Light" panose="020B0306030504020204" pitchFamily="34" charset="0"/>
              </a:defRPr>
            </a:lvl4pPr>
            <a:lvl5pPr marL="714375" indent="-180975">
              <a:lnSpc>
                <a:spcPct val="100000"/>
              </a:lnSpc>
              <a:spcBef>
                <a:spcPts val="0"/>
              </a:spcBef>
              <a:tabLst/>
              <a:defRPr sz="1600" b="0" i="0">
                <a:solidFill>
                  <a:srgbClr val="343638"/>
                </a:solidFill>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5498244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4212" y="183825"/>
            <a:ext cx="11503576" cy="1325563"/>
          </a:xfrm>
        </p:spPr>
        <p:txBody>
          <a:bodyPr/>
          <a:lstStyle>
            <a:lvl1pPr>
              <a:lnSpc>
                <a:spcPct val="100000"/>
              </a:lnSpc>
              <a:defRPr/>
            </a:lvl1pPr>
          </a:lstStyle>
          <a:p>
            <a:r>
              <a:rPr lang="en-US" dirty="0"/>
              <a:t>Click to edit Master title style</a:t>
            </a:r>
            <a:endParaRPr lang="en-AU" dirty="0"/>
          </a:p>
        </p:txBody>
      </p:sp>
      <p:sp>
        <p:nvSpPr>
          <p:cNvPr id="3" name="Content Placeholder 2"/>
          <p:cNvSpPr>
            <a:spLocks noGrp="1"/>
          </p:cNvSpPr>
          <p:nvPr>
            <p:ph idx="1"/>
          </p:nvPr>
        </p:nvSpPr>
        <p:spPr>
          <a:xfrm>
            <a:off x="344212" y="1509387"/>
            <a:ext cx="11503576"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spTree>
    <p:extLst>
      <p:ext uri="{BB962C8B-B14F-4D97-AF65-F5344CB8AC3E}">
        <p14:creationId xmlns:p14="http://schemas.microsoft.com/office/powerpoint/2010/main" val="21188870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sp>
        <p:nvSpPr>
          <p:cNvPr id="2" name="Title 1"/>
          <p:cNvSpPr>
            <a:spLocks noGrp="1"/>
          </p:cNvSpPr>
          <p:nvPr>
            <p:ph type="ctrTitle"/>
          </p:nvPr>
        </p:nvSpPr>
        <p:spPr>
          <a:xfrm>
            <a:off x="351623" y="1229710"/>
            <a:ext cx="11488755" cy="2280252"/>
          </a:xfrm>
        </p:spPr>
        <p:txBody>
          <a:bodyPr anchor="b">
            <a:normAutofit/>
          </a:bodyPr>
          <a:lstStyle>
            <a:lvl1pPr algn="ctr">
              <a:lnSpc>
                <a:spcPct val="100000"/>
              </a:lnSpc>
              <a:defRPr sz="4800" baseline="0"/>
            </a:lvl1pPr>
          </a:lstStyle>
          <a:p>
            <a:r>
              <a:rPr lang="en-US"/>
              <a:t>Click to edit Master title style</a:t>
            </a:r>
            <a:endParaRPr lang="en-AU"/>
          </a:p>
        </p:txBody>
      </p:sp>
      <p:sp>
        <p:nvSpPr>
          <p:cNvPr id="3" name="Subtitle 2"/>
          <p:cNvSpPr>
            <a:spLocks noGrp="1"/>
          </p:cNvSpPr>
          <p:nvPr>
            <p:ph type="subTitle" idx="1"/>
          </p:nvPr>
        </p:nvSpPr>
        <p:spPr>
          <a:xfrm>
            <a:off x="1576552" y="3649334"/>
            <a:ext cx="9144000" cy="2388859"/>
          </a:xfrm>
          <a:noFill/>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7" name="Slide Number Placeholder 5"/>
          <p:cNvSpPr txBox="1">
            <a:spLocks/>
          </p:cNvSpPr>
          <p:nvPr userDrawn="1"/>
        </p:nvSpPr>
        <p:spPr>
          <a:xfrm>
            <a:off x="8370287" y="6176964"/>
            <a:ext cx="2743200" cy="544515"/>
          </a:xfrm>
          <a:prstGeom prst="rect">
            <a:avLst/>
          </a:prstGeom>
        </p:spPr>
        <p:txBody>
          <a:bodyPr vert="horz" lIns="91440" tIns="45720" rIns="91440" bIns="45720" rtlCol="0" anchor="b" anchorCtr="0"/>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AU" sz="800"/>
              <a:t>CRICOS</a:t>
            </a:r>
            <a:r>
              <a:rPr lang="en-AU" sz="800" baseline="0"/>
              <a:t> 00111D</a:t>
            </a:r>
          </a:p>
          <a:p>
            <a:pPr algn="r"/>
            <a:r>
              <a:rPr lang="en-AU" sz="800" baseline="0"/>
              <a:t>TOID 3069</a:t>
            </a:r>
            <a:endParaRPr lang="en-AU" sz="800"/>
          </a:p>
        </p:txBody>
      </p:sp>
      <p:pic>
        <p:nvPicPr>
          <p:cNvPr id="8" name="Picture 7" descr="Swinburne Logo RGB.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13487" y="0"/>
            <a:ext cx="726891" cy="1090336"/>
          </a:xfrm>
          <a:prstGeom prst="rect">
            <a:avLst/>
          </a:prstGeom>
        </p:spPr>
      </p:pic>
    </p:spTree>
    <p:extLst>
      <p:ext uri="{BB962C8B-B14F-4D97-AF65-F5344CB8AC3E}">
        <p14:creationId xmlns:p14="http://schemas.microsoft.com/office/powerpoint/2010/main" val="32152857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4212" y="183825"/>
            <a:ext cx="11503576" cy="1325563"/>
          </a:xfrm>
        </p:spPr>
        <p:txBody>
          <a:bodyPr/>
          <a:lstStyle>
            <a:lvl1pPr>
              <a:lnSpc>
                <a:spcPct val="100000"/>
              </a:lnSpc>
              <a:defRPr/>
            </a:lvl1pPr>
          </a:lstStyle>
          <a:p>
            <a:r>
              <a:rPr lang="en-US"/>
              <a:t>Click to edit Master title style</a:t>
            </a:r>
            <a:endParaRPr lang="en-AU"/>
          </a:p>
        </p:txBody>
      </p:sp>
      <p:sp>
        <p:nvSpPr>
          <p:cNvPr id="3" name="Content Placeholder 2"/>
          <p:cNvSpPr>
            <a:spLocks noGrp="1"/>
          </p:cNvSpPr>
          <p:nvPr>
            <p:ph idx="1"/>
          </p:nvPr>
        </p:nvSpPr>
        <p:spPr>
          <a:xfrm>
            <a:off x="344212" y="1509387"/>
            <a:ext cx="11503576"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spTree>
    <p:extLst>
      <p:ext uri="{BB962C8B-B14F-4D97-AF65-F5344CB8AC3E}">
        <p14:creationId xmlns:p14="http://schemas.microsoft.com/office/powerpoint/2010/main" val="15874361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4213" y="1509387"/>
            <a:ext cx="5675588"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199" y="1509387"/>
            <a:ext cx="5675589"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Slide Number Placeholder 6"/>
          <p:cNvSpPr>
            <a:spLocks noGrp="1"/>
          </p:cNvSpPr>
          <p:nvPr>
            <p:ph type="sldNum" sz="quarter" idx="12"/>
          </p:nvPr>
        </p:nvSpPr>
        <p:spPr/>
        <p:txBody>
          <a:bodyPr/>
          <a:lstStyle/>
          <a:p>
            <a:fld id="{5D49465A-8857-432B-B8F7-DAABA936F9E1}" type="slidenum">
              <a:rPr lang="en-AU" smtClean="0"/>
              <a:t>‹#›</a:t>
            </a:fld>
            <a:endParaRPr lang="en-AU"/>
          </a:p>
        </p:txBody>
      </p:sp>
      <p:sp>
        <p:nvSpPr>
          <p:cNvPr id="8" name="Title 1"/>
          <p:cNvSpPr>
            <a:spLocks noGrp="1"/>
          </p:cNvSpPr>
          <p:nvPr>
            <p:ph type="title"/>
          </p:nvPr>
        </p:nvSpPr>
        <p:spPr>
          <a:xfrm>
            <a:off x="344212" y="183825"/>
            <a:ext cx="11503576" cy="1325563"/>
          </a:xfrm>
        </p:spPr>
        <p:txBody>
          <a:bodyPr/>
          <a:lstStyle>
            <a:lvl1pPr>
              <a:lnSpc>
                <a:spcPct val="100000"/>
              </a:lnSpc>
              <a:defRPr/>
            </a:lvl1pPr>
          </a:lstStyle>
          <a:p>
            <a:r>
              <a:rPr lang="en-US"/>
              <a:t>Click to edit Master title style</a:t>
            </a:r>
            <a:endParaRPr lang="en-AU"/>
          </a:p>
        </p:txBody>
      </p:sp>
    </p:spTree>
    <p:extLst>
      <p:ext uri="{BB962C8B-B14F-4D97-AF65-F5344CB8AC3E}">
        <p14:creationId xmlns:p14="http://schemas.microsoft.com/office/powerpoint/2010/main" val="5580405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Layou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4213" y="2333299"/>
            <a:ext cx="5675588" cy="372854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199" y="2333299"/>
            <a:ext cx="5675589" cy="372854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Slide Number Placeholder 6"/>
          <p:cNvSpPr>
            <a:spLocks noGrp="1"/>
          </p:cNvSpPr>
          <p:nvPr>
            <p:ph type="sldNum" sz="quarter" idx="12"/>
          </p:nvPr>
        </p:nvSpPr>
        <p:spPr/>
        <p:txBody>
          <a:bodyPr/>
          <a:lstStyle/>
          <a:p>
            <a:fld id="{5D49465A-8857-432B-B8F7-DAABA936F9E1}" type="slidenum">
              <a:rPr lang="en-AU" smtClean="0"/>
              <a:t>‹#›</a:t>
            </a:fld>
            <a:endParaRPr lang="en-AU"/>
          </a:p>
        </p:txBody>
      </p:sp>
      <p:sp>
        <p:nvSpPr>
          <p:cNvPr id="8" name="Title 1"/>
          <p:cNvSpPr>
            <a:spLocks noGrp="1"/>
          </p:cNvSpPr>
          <p:nvPr>
            <p:ph type="title"/>
          </p:nvPr>
        </p:nvSpPr>
        <p:spPr>
          <a:xfrm>
            <a:off x="344212" y="183825"/>
            <a:ext cx="11503576" cy="1325563"/>
          </a:xfrm>
        </p:spPr>
        <p:txBody>
          <a:bodyPr/>
          <a:lstStyle>
            <a:lvl1pPr>
              <a:lnSpc>
                <a:spcPct val="100000"/>
              </a:lnSpc>
              <a:defRPr/>
            </a:lvl1pPr>
          </a:lstStyle>
          <a:p>
            <a:r>
              <a:rPr lang="en-US"/>
              <a:t>Click to edit Master title style</a:t>
            </a:r>
            <a:endParaRPr lang="en-AU"/>
          </a:p>
        </p:txBody>
      </p:sp>
      <p:sp>
        <p:nvSpPr>
          <p:cNvPr id="6" name="Text Placeholder 2"/>
          <p:cNvSpPr>
            <a:spLocks noGrp="1"/>
          </p:cNvSpPr>
          <p:nvPr>
            <p:ph type="body" idx="13"/>
          </p:nvPr>
        </p:nvSpPr>
        <p:spPr>
          <a:xfrm>
            <a:off x="344211" y="1509387"/>
            <a:ext cx="5675588" cy="823912"/>
          </a:xfrm>
        </p:spPr>
        <p:txBody>
          <a:bodyPr anchor="b">
            <a:noAutofit/>
          </a:bodyPr>
          <a:lstStyle>
            <a:lvl1pPr marL="0" indent="0">
              <a:buNone/>
              <a:defRPr lang="en-US" sz="2400" b="0" i="0" u="none" kern="120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Text Placeholder 2"/>
          <p:cNvSpPr>
            <a:spLocks noGrp="1"/>
          </p:cNvSpPr>
          <p:nvPr>
            <p:ph type="body" idx="14"/>
          </p:nvPr>
        </p:nvSpPr>
        <p:spPr>
          <a:xfrm>
            <a:off x="6172199" y="1509387"/>
            <a:ext cx="5675588" cy="823912"/>
          </a:xfrm>
        </p:spPr>
        <p:txBody>
          <a:bodyPr anchor="b">
            <a:normAutofit/>
          </a:bodyPr>
          <a:lstStyle>
            <a:lvl1pPr marL="0" indent="0">
              <a:buNone/>
              <a:defRPr lang="en-US" sz="2400" b="0" i="0" u="none" kern="120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Tree>
    <p:extLst>
      <p:ext uri="{BB962C8B-B14F-4D97-AF65-F5344CB8AC3E}">
        <p14:creationId xmlns:p14="http://schemas.microsoft.com/office/powerpoint/2010/main" val="26443029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D49465A-8857-432B-B8F7-DAABA936F9E1}" type="slidenum">
              <a:rPr lang="en-AU" smtClean="0"/>
              <a:t>‹#›</a:t>
            </a:fld>
            <a:endParaRPr lang="en-AU"/>
          </a:p>
        </p:txBody>
      </p:sp>
      <p:sp>
        <p:nvSpPr>
          <p:cNvPr id="6" name="Title 1"/>
          <p:cNvSpPr>
            <a:spLocks noGrp="1"/>
          </p:cNvSpPr>
          <p:nvPr>
            <p:ph type="title"/>
          </p:nvPr>
        </p:nvSpPr>
        <p:spPr>
          <a:xfrm>
            <a:off x="344212" y="183825"/>
            <a:ext cx="11503576" cy="1325563"/>
          </a:xfrm>
        </p:spPr>
        <p:txBody>
          <a:bodyPr/>
          <a:lstStyle>
            <a:lvl1pPr>
              <a:lnSpc>
                <a:spcPct val="100000"/>
              </a:lnSpc>
              <a:defRPr/>
            </a:lvl1pPr>
          </a:lstStyle>
          <a:p>
            <a:r>
              <a:rPr lang="en-US"/>
              <a:t>Click to edit Master title style</a:t>
            </a:r>
            <a:endParaRPr lang="en-AU"/>
          </a:p>
        </p:txBody>
      </p:sp>
    </p:spTree>
    <p:extLst>
      <p:ext uri="{BB962C8B-B14F-4D97-AF65-F5344CB8AC3E}">
        <p14:creationId xmlns:p14="http://schemas.microsoft.com/office/powerpoint/2010/main" val="8385952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4212" y="1177647"/>
            <a:ext cx="11490877" cy="2070050"/>
          </a:xfrm>
        </p:spPr>
        <p:txBody>
          <a:bodyPr anchor="b">
            <a:normAutofit/>
          </a:bodyPr>
          <a:lstStyle>
            <a:lvl1pPr>
              <a:defRPr sz="4000"/>
            </a:lvl1pPr>
          </a:lstStyle>
          <a:p>
            <a:r>
              <a:rPr lang="en-US"/>
              <a:t>Click to edit Master title style</a:t>
            </a:r>
            <a:endParaRPr lang="en-AU"/>
          </a:p>
        </p:txBody>
      </p:sp>
      <p:sp>
        <p:nvSpPr>
          <p:cNvPr id="3" name="Text Placeholder 2"/>
          <p:cNvSpPr>
            <a:spLocks noGrp="1"/>
          </p:cNvSpPr>
          <p:nvPr>
            <p:ph type="body" idx="1"/>
          </p:nvPr>
        </p:nvSpPr>
        <p:spPr>
          <a:xfrm>
            <a:off x="344212" y="3335008"/>
            <a:ext cx="11490877" cy="2687421"/>
          </a:xfrm>
          <a:noFill/>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pic>
        <p:nvPicPr>
          <p:cNvPr id="7" name="Picture 6" descr="Swinburne Logo RGB.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13487" y="0"/>
            <a:ext cx="726891" cy="1090336"/>
          </a:xfrm>
          <a:prstGeom prst="rect">
            <a:avLst/>
          </a:prstGeom>
        </p:spPr>
      </p:pic>
    </p:spTree>
    <p:extLst>
      <p:ext uri="{BB962C8B-B14F-4D97-AF65-F5344CB8AC3E}">
        <p14:creationId xmlns:p14="http://schemas.microsoft.com/office/powerpoint/2010/main" val="25367519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D49465A-8857-432B-B8F7-DAABA936F9E1}" type="slidenum">
              <a:rPr lang="en-AU" smtClean="0"/>
              <a:t>‹#›</a:t>
            </a:fld>
            <a:endParaRPr lang="en-AU"/>
          </a:p>
        </p:txBody>
      </p:sp>
    </p:spTree>
    <p:extLst>
      <p:ext uri="{BB962C8B-B14F-4D97-AF65-F5344CB8AC3E}">
        <p14:creationId xmlns:p14="http://schemas.microsoft.com/office/powerpoint/2010/main" val="14324846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9697" y="5486400"/>
            <a:ext cx="4665555" cy="1243264"/>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1" y="0"/>
            <a:ext cx="12192000" cy="5358064"/>
          </a:xfrm>
          <a:no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5064946" y="5358064"/>
            <a:ext cx="7127055" cy="14999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5165040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 AMDC Fins">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sp>
        <p:nvSpPr>
          <p:cNvPr id="2" name="Title 1"/>
          <p:cNvSpPr>
            <a:spLocks noGrp="1"/>
          </p:cNvSpPr>
          <p:nvPr>
            <p:ph type="ctrTitle"/>
          </p:nvPr>
        </p:nvSpPr>
        <p:spPr>
          <a:xfrm>
            <a:off x="351623" y="1229711"/>
            <a:ext cx="11488755" cy="2041635"/>
          </a:xfrm>
        </p:spPr>
        <p:txBody>
          <a:bodyPr anchor="b">
            <a:normAutofit/>
          </a:bodyPr>
          <a:lstStyle>
            <a:lvl1pPr algn="ctr">
              <a:lnSpc>
                <a:spcPct val="100000"/>
              </a:lnSpc>
              <a:defRPr sz="4800" baseline="0"/>
            </a:lvl1pPr>
          </a:lstStyle>
          <a:p>
            <a:r>
              <a:rPr lang="en-US"/>
              <a:t>Click to edit Master title style</a:t>
            </a:r>
            <a:endParaRPr lang="en-AU"/>
          </a:p>
        </p:txBody>
      </p:sp>
      <p:sp>
        <p:nvSpPr>
          <p:cNvPr id="3" name="Subtitle 2"/>
          <p:cNvSpPr>
            <a:spLocks noGrp="1"/>
          </p:cNvSpPr>
          <p:nvPr>
            <p:ph type="subTitle" idx="1"/>
          </p:nvPr>
        </p:nvSpPr>
        <p:spPr>
          <a:xfrm>
            <a:off x="347918" y="3293128"/>
            <a:ext cx="11496164" cy="1404996"/>
          </a:xfrm>
          <a:noFill/>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7" name="Slide Number Placeholder 5"/>
          <p:cNvSpPr txBox="1">
            <a:spLocks/>
          </p:cNvSpPr>
          <p:nvPr userDrawn="1"/>
        </p:nvSpPr>
        <p:spPr>
          <a:xfrm>
            <a:off x="8370287" y="6176964"/>
            <a:ext cx="2743200" cy="544515"/>
          </a:xfrm>
          <a:prstGeom prst="rect">
            <a:avLst/>
          </a:prstGeom>
        </p:spPr>
        <p:txBody>
          <a:bodyPr vert="horz" lIns="91440" tIns="45720" rIns="91440" bIns="45720" rtlCol="0" anchor="b" anchorCtr="0"/>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AU" sz="800"/>
              <a:t>CRICOS</a:t>
            </a:r>
            <a:r>
              <a:rPr lang="en-AU" sz="800" baseline="0"/>
              <a:t> 00111D</a:t>
            </a:r>
          </a:p>
          <a:p>
            <a:pPr algn="r"/>
            <a:r>
              <a:rPr lang="en-AU" sz="800" baseline="0"/>
              <a:t>TOID 3069</a:t>
            </a:r>
            <a:endParaRPr lang="en-AU" sz="800"/>
          </a:p>
        </p:txBody>
      </p:sp>
      <p:pic>
        <p:nvPicPr>
          <p:cNvPr id="8" name="Picture 7" descr="Swinburne Logo RGB.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113487" y="0"/>
            <a:ext cx="726891" cy="1090336"/>
          </a:xfrm>
          <a:prstGeom prst="rect">
            <a:avLst/>
          </a:prstGeom>
        </p:spPr>
      </p:pic>
    </p:spTree>
    <p:extLst>
      <p:ext uri="{BB962C8B-B14F-4D97-AF65-F5344CB8AC3E}">
        <p14:creationId xmlns:p14="http://schemas.microsoft.com/office/powerpoint/2010/main" val="16932811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 Paper">
    <p:bg>
      <p:bgPr>
        <a:blipFill dpi="0" rotWithShape="1">
          <a:blip r:embed="rId2" cstate="screen">
            <a:alphaModFix amt="9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lumMod val="95000"/>
                  </a:schemeClr>
                </a:solidFill>
              </a:defRPr>
            </a:lvl1pPr>
          </a:lstStyle>
          <a:p>
            <a:fld id="{5D49465A-8857-432B-B8F7-DAABA936F9E1}" type="slidenum">
              <a:rPr lang="en-AU" smtClean="0"/>
              <a:pPr/>
              <a:t>‹#›</a:t>
            </a:fld>
            <a:endParaRPr lang="en-AU"/>
          </a:p>
        </p:txBody>
      </p:sp>
      <p:sp>
        <p:nvSpPr>
          <p:cNvPr id="2" name="Title 1"/>
          <p:cNvSpPr>
            <a:spLocks noGrp="1"/>
          </p:cNvSpPr>
          <p:nvPr>
            <p:ph type="ctrTitle"/>
          </p:nvPr>
        </p:nvSpPr>
        <p:spPr>
          <a:xfrm>
            <a:off x="351623" y="1229710"/>
            <a:ext cx="11488755" cy="2280252"/>
          </a:xfrm>
        </p:spPr>
        <p:txBody>
          <a:bodyPr anchor="b">
            <a:normAutofit/>
          </a:bodyPr>
          <a:lstStyle>
            <a:lvl1pPr algn="ctr">
              <a:lnSpc>
                <a:spcPct val="100000"/>
              </a:lnSpc>
              <a:defRPr sz="4800" baseline="0"/>
            </a:lvl1pPr>
          </a:lstStyle>
          <a:p>
            <a:r>
              <a:rPr lang="en-US"/>
              <a:t>Click to edit Master title style</a:t>
            </a:r>
            <a:endParaRPr lang="en-AU"/>
          </a:p>
        </p:txBody>
      </p:sp>
      <p:sp>
        <p:nvSpPr>
          <p:cNvPr id="3" name="Subtitle 2"/>
          <p:cNvSpPr>
            <a:spLocks noGrp="1"/>
          </p:cNvSpPr>
          <p:nvPr>
            <p:ph type="subTitle" idx="1"/>
          </p:nvPr>
        </p:nvSpPr>
        <p:spPr>
          <a:xfrm>
            <a:off x="1524000" y="3525343"/>
            <a:ext cx="9144000" cy="2426140"/>
          </a:xfrm>
          <a:noFill/>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7" name="Slide Number Placeholder 5"/>
          <p:cNvSpPr txBox="1">
            <a:spLocks/>
          </p:cNvSpPr>
          <p:nvPr userDrawn="1"/>
        </p:nvSpPr>
        <p:spPr>
          <a:xfrm>
            <a:off x="8370287" y="6176964"/>
            <a:ext cx="2743200" cy="544515"/>
          </a:xfrm>
          <a:prstGeom prst="rect">
            <a:avLst/>
          </a:prstGeom>
        </p:spPr>
        <p:txBody>
          <a:bodyPr vert="horz" lIns="91440" tIns="45720" rIns="91440" bIns="45720" rtlCol="0" anchor="b" anchorCtr="0"/>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AU" sz="800">
                <a:solidFill>
                  <a:schemeClr val="bg1">
                    <a:lumMod val="95000"/>
                  </a:schemeClr>
                </a:solidFill>
              </a:rPr>
              <a:t>CRICOS</a:t>
            </a:r>
            <a:r>
              <a:rPr lang="en-AU" sz="800" baseline="0">
                <a:solidFill>
                  <a:schemeClr val="bg1">
                    <a:lumMod val="95000"/>
                  </a:schemeClr>
                </a:solidFill>
              </a:rPr>
              <a:t> 00111D</a:t>
            </a:r>
          </a:p>
          <a:p>
            <a:pPr algn="r"/>
            <a:r>
              <a:rPr lang="en-AU" sz="800" baseline="0">
                <a:solidFill>
                  <a:schemeClr val="bg1">
                    <a:lumMod val="95000"/>
                  </a:schemeClr>
                </a:solidFill>
              </a:rPr>
              <a:t>TOID 3069</a:t>
            </a:r>
            <a:endParaRPr lang="en-AU" sz="800">
              <a:solidFill>
                <a:schemeClr val="bg1">
                  <a:lumMod val="95000"/>
                </a:schemeClr>
              </a:solidFill>
            </a:endParaRPr>
          </a:p>
        </p:txBody>
      </p:sp>
      <p:pic>
        <p:nvPicPr>
          <p:cNvPr id="8" name="Picture 7" descr="Swinburne Logo RGB.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113487" y="0"/>
            <a:ext cx="726891" cy="1090336"/>
          </a:xfrm>
          <a:prstGeom prst="rect">
            <a:avLst/>
          </a:prstGeom>
        </p:spPr>
      </p:pic>
    </p:spTree>
    <p:extLst>
      <p:ext uri="{BB962C8B-B14F-4D97-AF65-F5344CB8AC3E}">
        <p14:creationId xmlns:p14="http://schemas.microsoft.com/office/powerpoint/2010/main" val="12353322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Slide - Swinburne Re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1623" y="1290909"/>
            <a:ext cx="11488755" cy="2280252"/>
          </a:xfrm>
        </p:spPr>
        <p:txBody>
          <a:bodyPr anchor="b">
            <a:normAutofit/>
          </a:bodyPr>
          <a:lstStyle>
            <a:lvl1pPr algn="ctr">
              <a:lnSpc>
                <a:spcPct val="100000"/>
              </a:lnSpc>
              <a:defRPr sz="3600" strike="noStrike" cap="all" baseline="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CLICK TO ADD TITLE</a:t>
            </a:r>
            <a:endParaRPr lang="en-AU"/>
          </a:p>
        </p:txBody>
      </p:sp>
      <p:sp>
        <p:nvSpPr>
          <p:cNvPr id="3" name="Subtitle 2"/>
          <p:cNvSpPr>
            <a:spLocks noGrp="1"/>
          </p:cNvSpPr>
          <p:nvPr>
            <p:ph type="subTitle" idx="1"/>
          </p:nvPr>
        </p:nvSpPr>
        <p:spPr>
          <a:xfrm>
            <a:off x="351623" y="3586928"/>
            <a:ext cx="11488755" cy="2388859"/>
          </a:xfrm>
          <a:noFill/>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11" name="Picture 10" descr="KNOWING Logo RGB.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22575" y="6177568"/>
            <a:ext cx="725213" cy="543910"/>
          </a:xfrm>
          <a:prstGeom prst="rect">
            <a:avLst/>
          </a:prstGeom>
          <a:ln w="25400">
            <a:solidFill>
              <a:schemeClr val="bg2"/>
            </a:solidFill>
            <a:miter lim="800000"/>
          </a:ln>
        </p:spPr>
      </p:pic>
      <p:pic>
        <p:nvPicPr>
          <p:cNvPr id="12" name="Picture 11" descr="Swinburne Logo RGB.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113487" y="0"/>
            <a:ext cx="726891" cy="1090336"/>
          </a:xfrm>
          <a:prstGeom prst="rect">
            <a:avLst/>
          </a:prstGeom>
          <a:ln w="25400">
            <a:solidFill>
              <a:schemeClr val="bg2"/>
            </a:solidFill>
            <a:miter lim="800000"/>
          </a:ln>
        </p:spPr>
      </p:pic>
      <p:sp>
        <p:nvSpPr>
          <p:cNvPr id="13" name="Slide Number Placeholder 5"/>
          <p:cNvSpPr txBox="1">
            <a:spLocks/>
          </p:cNvSpPr>
          <p:nvPr userDrawn="1"/>
        </p:nvSpPr>
        <p:spPr>
          <a:xfrm>
            <a:off x="8370287" y="6176964"/>
            <a:ext cx="2743200" cy="544515"/>
          </a:xfrm>
          <a:prstGeom prst="rect">
            <a:avLst/>
          </a:prstGeom>
        </p:spPr>
        <p:txBody>
          <a:bodyPr vert="horz" lIns="91440" tIns="45720" rIns="91440" bIns="45720" rtlCol="0" anchor="b" anchorCtr="0"/>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AU" sz="800">
                <a:solidFill>
                  <a:schemeClr val="tx1"/>
                </a:solidFill>
              </a:rPr>
              <a:t>CRICOS</a:t>
            </a:r>
            <a:r>
              <a:rPr lang="en-AU" sz="800" baseline="0">
                <a:solidFill>
                  <a:schemeClr val="tx1"/>
                </a:solidFill>
              </a:rPr>
              <a:t> 00111D</a:t>
            </a:r>
          </a:p>
          <a:p>
            <a:pPr algn="r"/>
            <a:r>
              <a:rPr lang="en-AU" sz="800" baseline="0">
                <a:solidFill>
                  <a:schemeClr val="tx1"/>
                </a:solidFill>
              </a:rPr>
              <a:t>TOID 3069</a:t>
            </a:r>
            <a:endParaRPr lang="en-AU" sz="800">
              <a:solidFill>
                <a:schemeClr val="tx1"/>
              </a:solidFill>
            </a:endParaRPr>
          </a:p>
        </p:txBody>
      </p:sp>
      <p:sp>
        <p:nvSpPr>
          <p:cNvPr id="14" name="Slide Number Placeholder 5"/>
          <p:cNvSpPr>
            <a:spLocks noGrp="1"/>
          </p:cNvSpPr>
          <p:nvPr>
            <p:ph type="sldNum" sz="quarter" idx="12"/>
          </p:nvPr>
        </p:nvSpPr>
        <p:spPr>
          <a:xfrm>
            <a:off x="344212" y="6176964"/>
            <a:ext cx="2743200" cy="544515"/>
          </a:xfrm>
        </p:spPr>
        <p:txBody>
          <a:bodyPr/>
          <a:lstStyle>
            <a:lvl1pPr>
              <a:defRPr>
                <a:solidFill>
                  <a:schemeClr val="tx1"/>
                </a:solidFill>
              </a:defRPr>
            </a:lvl1pPr>
          </a:lstStyle>
          <a:p>
            <a:fld id="{5D49465A-8857-432B-B8F7-DAABA936F9E1}" type="slidenum">
              <a:rPr lang="en-AU" smtClean="0"/>
              <a:pPr/>
              <a:t>‹#›</a:t>
            </a:fld>
            <a:endParaRPr lang="en-AU"/>
          </a:p>
        </p:txBody>
      </p:sp>
    </p:spTree>
    <p:extLst>
      <p:ext uri="{BB962C8B-B14F-4D97-AF65-F5344CB8AC3E}">
        <p14:creationId xmlns:p14="http://schemas.microsoft.com/office/powerpoint/2010/main" val="39312817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 Campus">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3854669"/>
          </a:xfrm>
          <a:prstGeom prst="rect">
            <a:avLst/>
          </a:prstGeom>
        </p:spPr>
      </p:pic>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sp>
        <p:nvSpPr>
          <p:cNvPr id="2" name="Title 1"/>
          <p:cNvSpPr>
            <a:spLocks noGrp="1"/>
          </p:cNvSpPr>
          <p:nvPr>
            <p:ph type="ctrTitle"/>
          </p:nvPr>
        </p:nvSpPr>
        <p:spPr>
          <a:xfrm>
            <a:off x="351623" y="4010765"/>
            <a:ext cx="11488755" cy="845589"/>
          </a:xfrm>
        </p:spPr>
        <p:txBody>
          <a:bodyPr anchor="b">
            <a:normAutofit/>
          </a:bodyPr>
          <a:lstStyle>
            <a:lvl1pPr algn="ctr">
              <a:lnSpc>
                <a:spcPct val="100000"/>
              </a:lnSpc>
              <a:defRPr sz="4800" baseline="0"/>
            </a:lvl1pPr>
          </a:lstStyle>
          <a:p>
            <a:r>
              <a:rPr lang="en-US"/>
              <a:t>Click to edit Master title style</a:t>
            </a:r>
            <a:endParaRPr lang="en-AU"/>
          </a:p>
        </p:txBody>
      </p:sp>
      <p:sp>
        <p:nvSpPr>
          <p:cNvPr id="3" name="Subtitle 2"/>
          <p:cNvSpPr>
            <a:spLocks noGrp="1"/>
          </p:cNvSpPr>
          <p:nvPr>
            <p:ph type="subTitle" idx="1"/>
          </p:nvPr>
        </p:nvSpPr>
        <p:spPr>
          <a:xfrm>
            <a:off x="347918" y="4873073"/>
            <a:ext cx="11496165" cy="1141473"/>
          </a:xfrm>
          <a:noFill/>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7" name="Slide Number Placeholder 5"/>
          <p:cNvSpPr txBox="1">
            <a:spLocks/>
          </p:cNvSpPr>
          <p:nvPr userDrawn="1"/>
        </p:nvSpPr>
        <p:spPr>
          <a:xfrm>
            <a:off x="8370287" y="6176964"/>
            <a:ext cx="2743200" cy="544515"/>
          </a:xfrm>
          <a:prstGeom prst="rect">
            <a:avLst/>
          </a:prstGeom>
        </p:spPr>
        <p:txBody>
          <a:bodyPr vert="horz" lIns="91440" tIns="45720" rIns="91440" bIns="45720" rtlCol="0" anchor="b" anchorCtr="0"/>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AU" sz="800"/>
              <a:t>CRICOS</a:t>
            </a:r>
            <a:r>
              <a:rPr lang="en-AU" sz="800" baseline="0"/>
              <a:t> 00111D</a:t>
            </a:r>
          </a:p>
          <a:p>
            <a:pPr algn="r"/>
            <a:r>
              <a:rPr lang="en-AU" sz="800" baseline="0"/>
              <a:t>TOID 3069</a:t>
            </a:r>
            <a:endParaRPr lang="en-AU" sz="800"/>
          </a:p>
        </p:txBody>
      </p:sp>
      <p:pic>
        <p:nvPicPr>
          <p:cNvPr id="8" name="Picture 7" descr="Swinburne Logo RGB.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113487" y="0"/>
            <a:ext cx="726891" cy="1090336"/>
          </a:xfrm>
          <a:prstGeom prst="rect">
            <a:avLst/>
          </a:prstGeom>
        </p:spPr>
      </p:pic>
      <p:cxnSp>
        <p:nvCxnSpPr>
          <p:cNvPr id="9" name="Straight Connector 8"/>
          <p:cNvCxnSpPr/>
          <p:nvPr userDrawn="1"/>
        </p:nvCxnSpPr>
        <p:spPr>
          <a:xfrm>
            <a:off x="0" y="3839859"/>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66436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cSld name="Closing Slide">
    <p:bg>
      <p:bgPr>
        <a:solidFill>
          <a:srgbClr val="FFFFFF"/>
        </a:solidFill>
        <a:effectLst/>
      </p:bgPr>
    </p:bg>
    <p:spTree>
      <p:nvGrpSpPr>
        <p:cNvPr id="1" name=""/>
        <p:cNvGrpSpPr/>
        <p:nvPr/>
      </p:nvGrpSpPr>
      <p:grpSpPr>
        <a:xfrm>
          <a:off x="0" y="0"/>
          <a:ext cx="0" cy="0"/>
          <a:chOff x="0" y="0"/>
          <a:chExt cx="0" cy="0"/>
        </a:xfrm>
      </p:grpSpPr>
      <p:sp>
        <p:nvSpPr>
          <p:cNvPr id="8" name="Shape 8"/>
          <p:cNvSpPr/>
          <p:nvPr/>
        </p:nvSpPr>
        <p:spPr>
          <a:xfrm>
            <a:off x="778933" y="6450904"/>
            <a:ext cx="9487360" cy="1"/>
          </a:xfrm>
          <a:prstGeom prst="line">
            <a:avLst/>
          </a:prstGeom>
          <a:ln w="12700">
            <a:solidFill>
              <a:srgbClr val="FF2D01"/>
            </a:solidFill>
          </a:ln>
          <a:effectLst>
            <a:outerShdw blurRad="38100" dist="20000" dir="5400000" rotWithShape="0">
              <a:srgbClr val="000000">
                <a:alpha val="38000"/>
              </a:srgbClr>
            </a:outerShdw>
          </a:effectLst>
        </p:spPr>
        <p:txBody>
          <a:bodyPr lIns="0" tIns="0" rIns="0" bIns="0"/>
          <a:lstStyle/>
          <a:p>
            <a:pPr lvl="0">
              <a:defRPr sz="1200">
                <a:solidFill>
                  <a:srgbClr val="000000"/>
                </a:solidFill>
                <a:latin typeface="+mn-lt"/>
                <a:ea typeface="+mn-ea"/>
                <a:cs typeface="+mn-cs"/>
                <a:sym typeface="Helvetica"/>
              </a:defRPr>
            </a:pPr>
            <a:endParaRPr sz="1200"/>
          </a:p>
        </p:txBody>
      </p:sp>
      <p:pic>
        <p:nvPicPr>
          <p:cNvPr id="9" name="image3.png" descr="Swinburne Logo RGB.png"/>
          <p:cNvPicPr/>
          <p:nvPr/>
        </p:nvPicPr>
        <p:blipFill>
          <a:blip r:embed="rId2" cstate="screen">
            <a:extLst>
              <a:ext uri="{28A0092B-C50C-407E-A947-70E740481C1C}">
                <a14:useLocalDpi xmlns:a14="http://schemas.microsoft.com/office/drawing/2010/main"/>
              </a:ext>
            </a:extLst>
          </a:blip>
          <a:stretch>
            <a:fillRect/>
          </a:stretch>
        </p:blipFill>
        <p:spPr>
          <a:xfrm>
            <a:off x="10467780" y="4471"/>
            <a:ext cx="1010040" cy="1515058"/>
          </a:xfrm>
          <a:prstGeom prst="rect">
            <a:avLst/>
          </a:prstGeom>
          <a:ln w="12700">
            <a:miter lim="400000"/>
          </a:ln>
        </p:spPr>
      </p:pic>
      <p:pic>
        <p:nvPicPr>
          <p:cNvPr id="10" name="image2.png" descr="KNOWING Logo RGB.png"/>
          <p:cNvPicPr/>
          <p:nvPr/>
        </p:nvPicPr>
        <p:blipFill>
          <a:blip r:embed="rId3" cstate="screen">
            <a:extLst>
              <a:ext uri="{28A0092B-C50C-407E-A947-70E740481C1C}">
                <a14:useLocalDpi xmlns:a14="http://schemas.microsoft.com/office/drawing/2010/main"/>
              </a:ext>
            </a:extLst>
          </a:blip>
          <a:stretch>
            <a:fillRect/>
          </a:stretch>
        </p:blipFill>
        <p:spPr>
          <a:xfrm>
            <a:off x="10516297" y="5709635"/>
            <a:ext cx="1010040" cy="757530"/>
          </a:xfrm>
          <a:prstGeom prst="rect">
            <a:avLst/>
          </a:prstGeom>
          <a:ln w="12700">
            <a:miter lim="400000"/>
          </a:ln>
        </p:spPr>
      </p:pic>
    </p:spTree>
    <p:extLst>
      <p:ext uri="{BB962C8B-B14F-4D97-AF65-F5344CB8AC3E}">
        <p14:creationId xmlns:p14="http://schemas.microsoft.com/office/powerpoint/2010/main" val="283487886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4213" y="1509387"/>
            <a:ext cx="5675588"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199" y="1509387"/>
            <a:ext cx="5675589"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Slide Number Placeholder 6"/>
          <p:cNvSpPr>
            <a:spLocks noGrp="1"/>
          </p:cNvSpPr>
          <p:nvPr>
            <p:ph type="sldNum" sz="quarter" idx="12"/>
          </p:nvPr>
        </p:nvSpPr>
        <p:spPr/>
        <p:txBody>
          <a:bodyPr/>
          <a:lstStyle/>
          <a:p>
            <a:fld id="{5D49465A-8857-432B-B8F7-DAABA936F9E1}" type="slidenum">
              <a:rPr lang="en-AU" smtClean="0"/>
              <a:t>‹#›</a:t>
            </a:fld>
            <a:endParaRPr lang="en-AU"/>
          </a:p>
        </p:txBody>
      </p:sp>
      <p:sp>
        <p:nvSpPr>
          <p:cNvPr id="8" name="Title 1"/>
          <p:cNvSpPr>
            <a:spLocks noGrp="1"/>
          </p:cNvSpPr>
          <p:nvPr>
            <p:ph type="title"/>
          </p:nvPr>
        </p:nvSpPr>
        <p:spPr>
          <a:xfrm>
            <a:off x="344212" y="183825"/>
            <a:ext cx="11503576" cy="1325563"/>
          </a:xfrm>
        </p:spPr>
        <p:txBody>
          <a:bodyPr/>
          <a:lstStyle>
            <a:lvl1pPr>
              <a:lnSpc>
                <a:spcPct val="100000"/>
              </a:lnSpc>
              <a:defRPr/>
            </a:lvl1pPr>
          </a:lstStyle>
          <a:p>
            <a:r>
              <a:rPr lang="en-US"/>
              <a:t>Click to edit Master title style</a:t>
            </a:r>
            <a:endParaRPr lang="en-AU"/>
          </a:p>
        </p:txBody>
      </p:sp>
    </p:spTree>
    <p:extLst>
      <p:ext uri="{BB962C8B-B14F-4D97-AF65-F5344CB8AC3E}">
        <p14:creationId xmlns:p14="http://schemas.microsoft.com/office/powerpoint/2010/main" val="34898239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sp>
        <p:nvSpPr>
          <p:cNvPr id="2" name="Title 1"/>
          <p:cNvSpPr>
            <a:spLocks noGrp="1"/>
          </p:cNvSpPr>
          <p:nvPr>
            <p:ph type="ctrTitle"/>
          </p:nvPr>
        </p:nvSpPr>
        <p:spPr>
          <a:xfrm>
            <a:off x="351623" y="1229710"/>
            <a:ext cx="11488755" cy="2280252"/>
          </a:xfrm>
        </p:spPr>
        <p:txBody>
          <a:bodyPr anchor="b">
            <a:normAutofit/>
          </a:bodyPr>
          <a:lstStyle>
            <a:lvl1pPr algn="ctr">
              <a:lnSpc>
                <a:spcPct val="100000"/>
              </a:lnSpc>
              <a:defRPr sz="4800" baseline="0"/>
            </a:lvl1pPr>
          </a:lstStyle>
          <a:p>
            <a:r>
              <a:rPr lang="en-US" dirty="0"/>
              <a:t>Click to edit Master title style</a:t>
            </a:r>
            <a:endParaRPr lang="en-AU" dirty="0"/>
          </a:p>
        </p:txBody>
      </p:sp>
      <p:sp>
        <p:nvSpPr>
          <p:cNvPr id="3" name="Subtitle 2"/>
          <p:cNvSpPr>
            <a:spLocks noGrp="1"/>
          </p:cNvSpPr>
          <p:nvPr>
            <p:ph type="subTitle" idx="1"/>
          </p:nvPr>
        </p:nvSpPr>
        <p:spPr>
          <a:xfrm>
            <a:off x="1576552" y="3649334"/>
            <a:ext cx="9144000" cy="2388859"/>
          </a:xfrm>
          <a:noFill/>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7" name="Slide Number Placeholder 5"/>
          <p:cNvSpPr txBox="1">
            <a:spLocks/>
          </p:cNvSpPr>
          <p:nvPr userDrawn="1"/>
        </p:nvSpPr>
        <p:spPr>
          <a:xfrm>
            <a:off x="8552010" y="6176964"/>
            <a:ext cx="2743200" cy="544515"/>
          </a:xfrm>
          <a:prstGeom prst="rect">
            <a:avLst/>
          </a:prstGeom>
        </p:spPr>
        <p:txBody>
          <a:bodyPr vert="horz" lIns="91440" tIns="45720" rIns="91440" bIns="45720" rtlCol="0" anchor="b" anchorCtr="0"/>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AU" sz="800" dirty="0"/>
              <a:t>CRICOS</a:t>
            </a:r>
            <a:r>
              <a:rPr lang="en-AU" sz="800" baseline="0" dirty="0"/>
              <a:t> 00111D</a:t>
            </a:r>
          </a:p>
          <a:p>
            <a:pPr algn="r"/>
            <a:r>
              <a:rPr lang="en-AU" sz="800" baseline="0" dirty="0"/>
              <a:t>TOID 3059</a:t>
            </a:r>
            <a:endParaRPr lang="en-AU" sz="800" dirty="0"/>
          </a:p>
        </p:txBody>
      </p:sp>
      <p:pic>
        <p:nvPicPr>
          <p:cNvPr id="5" name="Picture 4">
            <a:extLst>
              <a:ext uri="{FF2B5EF4-FFF2-40B4-BE49-F238E27FC236}">
                <a16:creationId xmlns:a16="http://schemas.microsoft.com/office/drawing/2014/main" id="{CEABBEB8-76C6-094B-A5EC-4706ECE8DB3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9175"/>
          <a:stretch/>
        </p:blipFill>
        <p:spPr>
          <a:xfrm>
            <a:off x="9671836" y="0"/>
            <a:ext cx="2168542" cy="1079500"/>
          </a:xfrm>
          <a:prstGeom prst="rect">
            <a:avLst/>
          </a:prstGeom>
        </p:spPr>
      </p:pic>
    </p:spTree>
    <p:extLst>
      <p:ext uri="{BB962C8B-B14F-4D97-AF65-F5344CB8AC3E}">
        <p14:creationId xmlns:p14="http://schemas.microsoft.com/office/powerpoint/2010/main" val="30381339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4212" y="183825"/>
            <a:ext cx="11503576" cy="1325563"/>
          </a:xfrm>
        </p:spPr>
        <p:txBody>
          <a:bodyPr/>
          <a:lstStyle>
            <a:lvl1pPr>
              <a:lnSpc>
                <a:spcPct val="100000"/>
              </a:lnSpc>
              <a:defRPr/>
            </a:lvl1pPr>
          </a:lstStyle>
          <a:p>
            <a:r>
              <a:rPr lang="en-US" dirty="0"/>
              <a:t>Click to edit Master title style</a:t>
            </a:r>
            <a:endParaRPr lang="en-AU" dirty="0"/>
          </a:p>
        </p:txBody>
      </p:sp>
      <p:sp>
        <p:nvSpPr>
          <p:cNvPr id="3" name="Content Placeholder 2"/>
          <p:cNvSpPr>
            <a:spLocks noGrp="1"/>
          </p:cNvSpPr>
          <p:nvPr>
            <p:ph idx="1"/>
          </p:nvPr>
        </p:nvSpPr>
        <p:spPr>
          <a:xfrm>
            <a:off x="344212" y="1509387"/>
            <a:ext cx="11503576"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spTree>
    <p:extLst>
      <p:ext uri="{BB962C8B-B14F-4D97-AF65-F5344CB8AC3E}">
        <p14:creationId xmlns:p14="http://schemas.microsoft.com/office/powerpoint/2010/main" val="41294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4213" y="1509387"/>
            <a:ext cx="5675588" cy="45366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199" y="1509387"/>
            <a:ext cx="5675589" cy="453668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Slide Number Placeholder 6"/>
          <p:cNvSpPr>
            <a:spLocks noGrp="1"/>
          </p:cNvSpPr>
          <p:nvPr>
            <p:ph type="sldNum" sz="quarter" idx="12"/>
          </p:nvPr>
        </p:nvSpPr>
        <p:spPr/>
        <p:txBody>
          <a:bodyPr/>
          <a:lstStyle/>
          <a:p>
            <a:fld id="{5D49465A-8857-432B-B8F7-DAABA936F9E1}" type="slidenum">
              <a:rPr lang="en-AU" smtClean="0"/>
              <a:t>‹#›</a:t>
            </a:fld>
            <a:endParaRPr lang="en-AU"/>
          </a:p>
        </p:txBody>
      </p:sp>
      <p:sp>
        <p:nvSpPr>
          <p:cNvPr id="8" name="Title 1"/>
          <p:cNvSpPr>
            <a:spLocks noGrp="1"/>
          </p:cNvSpPr>
          <p:nvPr>
            <p:ph type="title"/>
          </p:nvPr>
        </p:nvSpPr>
        <p:spPr>
          <a:xfrm>
            <a:off x="344212" y="183825"/>
            <a:ext cx="11503576" cy="1325563"/>
          </a:xfrm>
        </p:spPr>
        <p:txBody>
          <a:bodyPr/>
          <a:lstStyle>
            <a:lvl1pPr>
              <a:lnSpc>
                <a:spcPct val="100000"/>
              </a:lnSpc>
              <a:defRPr/>
            </a:lvl1pPr>
          </a:lstStyle>
          <a:p>
            <a:r>
              <a:rPr lang="en-US" dirty="0"/>
              <a:t>Click to edit Master title style</a:t>
            </a:r>
            <a:endParaRPr lang="en-AU" dirty="0"/>
          </a:p>
        </p:txBody>
      </p:sp>
    </p:spTree>
    <p:extLst>
      <p:ext uri="{BB962C8B-B14F-4D97-AF65-F5344CB8AC3E}">
        <p14:creationId xmlns:p14="http://schemas.microsoft.com/office/powerpoint/2010/main" val="19013718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mparison Layou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44213" y="2333299"/>
            <a:ext cx="5675588" cy="372854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199" y="2333299"/>
            <a:ext cx="5675589" cy="372854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Slide Number Placeholder 6"/>
          <p:cNvSpPr>
            <a:spLocks noGrp="1"/>
          </p:cNvSpPr>
          <p:nvPr>
            <p:ph type="sldNum" sz="quarter" idx="12"/>
          </p:nvPr>
        </p:nvSpPr>
        <p:spPr/>
        <p:txBody>
          <a:bodyPr/>
          <a:lstStyle/>
          <a:p>
            <a:fld id="{5D49465A-8857-432B-B8F7-DAABA936F9E1}" type="slidenum">
              <a:rPr lang="en-AU" smtClean="0"/>
              <a:t>‹#›</a:t>
            </a:fld>
            <a:endParaRPr lang="en-AU"/>
          </a:p>
        </p:txBody>
      </p:sp>
      <p:sp>
        <p:nvSpPr>
          <p:cNvPr id="8" name="Title 1"/>
          <p:cNvSpPr>
            <a:spLocks noGrp="1"/>
          </p:cNvSpPr>
          <p:nvPr>
            <p:ph type="title"/>
          </p:nvPr>
        </p:nvSpPr>
        <p:spPr>
          <a:xfrm>
            <a:off x="344212" y="183825"/>
            <a:ext cx="11503576" cy="1325563"/>
          </a:xfrm>
        </p:spPr>
        <p:txBody>
          <a:bodyPr/>
          <a:lstStyle>
            <a:lvl1pPr>
              <a:lnSpc>
                <a:spcPct val="100000"/>
              </a:lnSpc>
              <a:defRPr/>
            </a:lvl1pPr>
          </a:lstStyle>
          <a:p>
            <a:r>
              <a:rPr lang="en-US" dirty="0"/>
              <a:t>Click to edit Master title style</a:t>
            </a:r>
            <a:endParaRPr lang="en-AU" dirty="0"/>
          </a:p>
        </p:txBody>
      </p:sp>
      <p:sp>
        <p:nvSpPr>
          <p:cNvPr id="6" name="Text Placeholder 2"/>
          <p:cNvSpPr>
            <a:spLocks noGrp="1"/>
          </p:cNvSpPr>
          <p:nvPr>
            <p:ph type="body" idx="13"/>
          </p:nvPr>
        </p:nvSpPr>
        <p:spPr>
          <a:xfrm>
            <a:off x="344211" y="1509387"/>
            <a:ext cx="5675588" cy="823912"/>
          </a:xfrm>
        </p:spPr>
        <p:txBody>
          <a:bodyPr anchor="b">
            <a:noAutofit/>
          </a:bodyPr>
          <a:lstStyle>
            <a:lvl1pPr marL="0" indent="0">
              <a:buNone/>
              <a:defRPr lang="en-US" sz="2400" b="0" i="0" u="none" kern="120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9" name="Text Placeholder 2"/>
          <p:cNvSpPr>
            <a:spLocks noGrp="1"/>
          </p:cNvSpPr>
          <p:nvPr>
            <p:ph type="body" idx="14"/>
          </p:nvPr>
        </p:nvSpPr>
        <p:spPr>
          <a:xfrm>
            <a:off x="6172199" y="1509387"/>
            <a:ext cx="5675588" cy="823912"/>
          </a:xfrm>
        </p:spPr>
        <p:txBody>
          <a:bodyPr anchor="b">
            <a:normAutofit/>
          </a:bodyPr>
          <a:lstStyle>
            <a:lvl1pPr marL="0" indent="0">
              <a:buNone/>
              <a:defRPr lang="en-US" sz="2400" b="0" i="0" u="none" kern="120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Tree>
    <p:extLst>
      <p:ext uri="{BB962C8B-B14F-4D97-AF65-F5344CB8AC3E}">
        <p14:creationId xmlns:p14="http://schemas.microsoft.com/office/powerpoint/2010/main" val="37154311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D49465A-8857-432B-B8F7-DAABA936F9E1}" type="slidenum">
              <a:rPr lang="en-AU" smtClean="0"/>
              <a:t>‹#›</a:t>
            </a:fld>
            <a:endParaRPr lang="en-AU"/>
          </a:p>
        </p:txBody>
      </p:sp>
      <p:sp>
        <p:nvSpPr>
          <p:cNvPr id="6" name="Title 1"/>
          <p:cNvSpPr>
            <a:spLocks noGrp="1"/>
          </p:cNvSpPr>
          <p:nvPr>
            <p:ph type="title"/>
          </p:nvPr>
        </p:nvSpPr>
        <p:spPr>
          <a:xfrm>
            <a:off x="344212" y="183825"/>
            <a:ext cx="11503576" cy="1325563"/>
          </a:xfrm>
        </p:spPr>
        <p:txBody>
          <a:bodyPr/>
          <a:lstStyle>
            <a:lvl1pPr>
              <a:lnSpc>
                <a:spcPct val="100000"/>
              </a:lnSpc>
              <a:defRPr/>
            </a:lvl1pPr>
          </a:lstStyle>
          <a:p>
            <a:r>
              <a:rPr lang="en-US" dirty="0"/>
              <a:t>Click to edit Master title style</a:t>
            </a:r>
            <a:endParaRPr lang="en-AU" dirty="0"/>
          </a:p>
        </p:txBody>
      </p:sp>
    </p:spTree>
    <p:extLst>
      <p:ext uri="{BB962C8B-B14F-4D97-AF65-F5344CB8AC3E}">
        <p14:creationId xmlns:p14="http://schemas.microsoft.com/office/powerpoint/2010/main" val="37031066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4212" y="1177647"/>
            <a:ext cx="11490877" cy="2070050"/>
          </a:xfrm>
        </p:spPr>
        <p:txBody>
          <a:bodyPr anchor="b">
            <a:normAutofit/>
          </a:bodyPr>
          <a:lstStyle>
            <a:lvl1pPr>
              <a:defRPr sz="4000"/>
            </a:lvl1pPr>
          </a:lstStyle>
          <a:p>
            <a:r>
              <a:rPr lang="en-US" dirty="0"/>
              <a:t>Click to edit Master title style</a:t>
            </a:r>
            <a:endParaRPr lang="en-AU" dirty="0"/>
          </a:p>
        </p:txBody>
      </p:sp>
      <p:sp>
        <p:nvSpPr>
          <p:cNvPr id="3" name="Text Placeholder 2"/>
          <p:cNvSpPr>
            <a:spLocks noGrp="1"/>
          </p:cNvSpPr>
          <p:nvPr>
            <p:ph type="body" idx="1"/>
          </p:nvPr>
        </p:nvSpPr>
        <p:spPr>
          <a:xfrm>
            <a:off x="344212" y="3335008"/>
            <a:ext cx="11490877" cy="2687421"/>
          </a:xfrm>
          <a:noFill/>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6" name="Slide Number Placeholder 5"/>
          <p:cNvSpPr>
            <a:spLocks noGrp="1"/>
          </p:cNvSpPr>
          <p:nvPr>
            <p:ph type="sldNum" sz="quarter" idx="12"/>
          </p:nvPr>
        </p:nvSpPr>
        <p:spPr/>
        <p:txBody>
          <a:bodyPr/>
          <a:lstStyle/>
          <a:p>
            <a:fld id="{5D49465A-8857-432B-B8F7-DAABA936F9E1}" type="slidenum">
              <a:rPr lang="en-AU" smtClean="0"/>
              <a:t>‹#›</a:t>
            </a:fld>
            <a:endParaRPr lang="en-AU"/>
          </a:p>
        </p:txBody>
      </p:sp>
      <p:pic>
        <p:nvPicPr>
          <p:cNvPr id="5" name="Picture 4">
            <a:extLst>
              <a:ext uri="{FF2B5EF4-FFF2-40B4-BE49-F238E27FC236}">
                <a16:creationId xmlns:a16="http://schemas.microsoft.com/office/drawing/2014/main" id="{DC04253F-B2AB-5B44-A09D-4CA090ADA8E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8952"/>
          <a:stretch/>
        </p:blipFill>
        <p:spPr>
          <a:xfrm>
            <a:off x="9661240" y="10836"/>
            <a:ext cx="2173849" cy="1079500"/>
          </a:xfrm>
          <a:prstGeom prst="rect">
            <a:avLst/>
          </a:prstGeom>
        </p:spPr>
      </p:pic>
    </p:spTree>
    <p:extLst>
      <p:ext uri="{BB962C8B-B14F-4D97-AF65-F5344CB8AC3E}">
        <p14:creationId xmlns:p14="http://schemas.microsoft.com/office/powerpoint/2010/main" val="13457099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D49465A-8857-432B-B8F7-DAABA936F9E1}" type="slidenum">
              <a:rPr lang="en-AU" smtClean="0"/>
              <a:t>‹#›</a:t>
            </a:fld>
            <a:endParaRPr lang="en-AU"/>
          </a:p>
        </p:txBody>
      </p:sp>
    </p:spTree>
    <p:extLst>
      <p:ext uri="{BB962C8B-B14F-4D97-AF65-F5344CB8AC3E}">
        <p14:creationId xmlns:p14="http://schemas.microsoft.com/office/powerpoint/2010/main" val="7391680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9697" y="5486400"/>
            <a:ext cx="4665555" cy="1243264"/>
          </a:xfrm>
        </p:spPr>
        <p:txBody>
          <a:bodyPr anchor="b"/>
          <a:lstStyle>
            <a:lvl1pPr>
              <a:defRPr sz="3200"/>
            </a:lvl1pPr>
          </a:lstStyle>
          <a:p>
            <a:r>
              <a:rPr lang="en-US" dirty="0"/>
              <a:t>Click to edit Master title style</a:t>
            </a:r>
            <a:endParaRPr lang="en-AU" dirty="0"/>
          </a:p>
        </p:txBody>
      </p:sp>
      <p:sp>
        <p:nvSpPr>
          <p:cNvPr id="3" name="Picture Placeholder 2"/>
          <p:cNvSpPr>
            <a:spLocks noGrp="1"/>
          </p:cNvSpPr>
          <p:nvPr>
            <p:ph type="pic" idx="1"/>
          </p:nvPr>
        </p:nvSpPr>
        <p:spPr>
          <a:xfrm>
            <a:off x="1" y="0"/>
            <a:ext cx="12192000" cy="5358064"/>
          </a:xfrm>
          <a:no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5064946" y="5358064"/>
            <a:ext cx="7127055" cy="14999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569192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1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10.png"/><Relationship Id="rId5" Type="http://schemas.openxmlformats.org/officeDocument/2006/relationships/slideLayout" Target="../slideLayouts/slideLayout25.xml"/><Relationship Id="rId10" Type="http://schemas.openxmlformats.org/officeDocument/2006/relationships/image" Target="../media/image9.png"/><Relationship Id="rId4" Type="http://schemas.openxmlformats.org/officeDocument/2006/relationships/slideLayout" Target="../slideLayouts/slideLayout2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1.xml"/><Relationship Id="rId7"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5" Type="http://schemas.openxmlformats.org/officeDocument/2006/relationships/slideLayout" Target="../slideLayouts/slideLayout33.xml"/><Relationship Id="rId10" Type="http://schemas.openxmlformats.org/officeDocument/2006/relationships/image" Target="../media/image11.png"/><Relationship Id="rId4" Type="http://schemas.openxmlformats.org/officeDocument/2006/relationships/slideLayout" Target="../slideLayouts/slideLayout32.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image" Target="../media/image11.png"/><Relationship Id="rId5" Type="http://schemas.openxmlformats.org/officeDocument/2006/relationships/slideLayout" Target="../slideLayouts/slideLayout39.xml"/><Relationship Id="rId10" Type="http://schemas.openxmlformats.org/officeDocument/2006/relationships/image" Target="../media/image18.png"/><Relationship Id="rId4" Type="http://schemas.openxmlformats.org/officeDocument/2006/relationships/slideLayout" Target="../slideLayouts/slideLayout38.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829626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87" r:id="rId4"/>
    <p:sldLayoutId id="2147483688" r:id="rId5"/>
    <p:sldLayoutId id="2147483673" r:id="rId6"/>
    <p:sldLayoutId id="2147483674" r:id="rId7"/>
    <p:sldLayoutId id="2147483675" r:id="rId8"/>
    <p:sldLayoutId id="2147483689" r:id="rId9"/>
    <p:sldLayoutId id="2147483677" r:id="rId10"/>
    <p:sldLayoutId id="2147483680" r:id="rId11"/>
    <p:sldLayoutId id="2147483671" r:id="rId12"/>
    <p:sldLayoutId id="2147483672" r:id="rId13"/>
    <p:sldLayoutId id="2147483681" r:id="rId14"/>
    <p:sldLayoutId id="2147483682" r:id="rId15"/>
    <p:sldLayoutId id="2147483683" r:id="rId16"/>
    <p:sldLayoutId id="2147483685" r:id="rId17"/>
    <p:sldLayoutId id="2147483679" r:id="rId18"/>
    <p:sldLayoutId id="2147483690" r:id="rId19"/>
    <p:sldLayoutId id="214748370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alphaModFix amt="9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a:solidFill>
            <a:schemeClr val="bg1">
              <a:alpha val="20000"/>
            </a:schemeClr>
          </a:solidFill>
        </p:spPr>
        <p:txBody>
          <a:bodyPr vert="horz" lIns="91440" tIns="108000" rIns="91440" bIns="10800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Slide Number Placeholder 5"/>
          <p:cNvSpPr>
            <a:spLocks noGrp="1"/>
          </p:cNvSpPr>
          <p:nvPr>
            <p:ph type="sldNum" sz="quarter" idx="4"/>
          </p:nvPr>
        </p:nvSpPr>
        <p:spPr>
          <a:xfrm>
            <a:off x="344212" y="6176964"/>
            <a:ext cx="2743200" cy="544515"/>
          </a:xfrm>
          <a:prstGeom prst="rect">
            <a:avLst/>
          </a:prstGeom>
        </p:spPr>
        <p:txBody>
          <a:bodyPr vert="horz" lIns="91440" tIns="45720" rIns="91440" bIns="45720" rtlCol="0" anchor="ctr"/>
          <a:lstStyle>
            <a:lvl1pPr algn="l">
              <a:defRPr sz="1200">
                <a:solidFill>
                  <a:schemeClr val="tx1">
                    <a:tint val="75000"/>
                  </a:schemeClr>
                </a:solidFill>
              </a:defRPr>
            </a:lvl1pPr>
          </a:lstStyle>
          <a:p>
            <a:fld id="{5D49465A-8857-432B-B8F7-DAABA936F9E1}" type="slidenum">
              <a:rPr lang="en-AU" smtClean="0"/>
              <a:pPr/>
              <a:t>‹#›</a:t>
            </a:fld>
            <a:endParaRPr lang="en-AU"/>
          </a:p>
        </p:txBody>
      </p:sp>
      <p:pic>
        <p:nvPicPr>
          <p:cNvPr id="7" name="Picture 6" descr="KNOWING Logo RGB.png"/>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11122575" y="6177568"/>
            <a:ext cx="725213" cy="543910"/>
          </a:xfrm>
          <a:prstGeom prst="rect">
            <a:avLst/>
          </a:prstGeom>
        </p:spPr>
      </p:pic>
    </p:spTree>
    <p:extLst>
      <p:ext uri="{BB962C8B-B14F-4D97-AF65-F5344CB8AC3E}">
        <p14:creationId xmlns:p14="http://schemas.microsoft.com/office/powerpoint/2010/main" val="340267447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Lst>
  <p:txStyles>
    <p:titleStyle>
      <a:lvl1pPr algn="l" defTabSz="914400" rtl="0" eaLnBrk="1" latinLnBrk="0" hangingPunct="1">
        <a:lnSpc>
          <a:spcPct val="90000"/>
        </a:lnSpc>
        <a:spcBef>
          <a:spcPct val="0"/>
        </a:spcBef>
        <a:buNone/>
        <a:defRPr sz="4400" b="0" i="0" u="none" kern="1200">
          <a:solidFill>
            <a:schemeClr val="accent1"/>
          </a:solidFill>
          <a:latin typeface="+mj-lt"/>
          <a:ea typeface="+mj-ea"/>
          <a:cs typeface="+mj-cs"/>
        </a:defRPr>
      </a:lvl1pPr>
    </p:titleStyle>
    <p:bodyStyle>
      <a:lvl1pPr marL="342000" indent="-342000" algn="l" defTabSz="914400" rtl="0" eaLnBrk="1" latinLnBrk="0" hangingPunct="1">
        <a:lnSpc>
          <a:spcPct val="100000"/>
        </a:lnSpc>
        <a:spcBef>
          <a:spcPts val="768"/>
        </a:spcBef>
        <a:buFontTx/>
        <a:buBlip>
          <a:blip r:embed="rId12"/>
        </a:buBlip>
        <a:defRPr sz="3200" kern="1200">
          <a:solidFill>
            <a:schemeClr val="tx1"/>
          </a:solidFill>
          <a:latin typeface="+mn-lt"/>
          <a:ea typeface="+mn-ea"/>
          <a:cs typeface="+mn-cs"/>
        </a:defRPr>
      </a:lvl1pPr>
      <a:lvl2pPr marL="741600" indent="-284400" algn="l" defTabSz="914400" rtl="0" eaLnBrk="1" latinLnBrk="0" hangingPunct="1">
        <a:lnSpc>
          <a:spcPct val="100000"/>
        </a:lnSpc>
        <a:spcBef>
          <a:spcPts val="672"/>
        </a:spcBef>
        <a:buFont typeface="Open Sans" panose="020B0606030504020204" pitchFamily="34" charset="0"/>
        <a:buChar char="–"/>
        <a:defRPr sz="2800" kern="1200">
          <a:solidFill>
            <a:schemeClr val="tx1"/>
          </a:solidFill>
          <a:latin typeface="+mn-lt"/>
          <a:ea typeface="+mn-ea"/>
          <a:cs typeface="+mn-cs"/>
        </a:defRPr>
      </a:lvl2pPr>
      <a:lvl3pPr marL="1144800" indent="-230400" algn="l" defTabSz="914400" rtl="0" eaLnBrk="1" latinLnBrk="0" hangingPunct="1">
        <a:lnSpc>
          <a:spcPct val="100000"/>
        </a:lnSpc>
        <a:spcBef>
          <a:spcPts val="576"/>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00000"/>
        </a:lnSpc>
        <a:spcBef>
          <a:spcPts val="480"/>
        </a:spcBef>
        <a:buFont typeface="Open Sans" panose="020B0606030504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480"/>
        </a:spcBef>
        <a:buFont typeface="Open Sans" panose="020B0606030504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alphaModFix amt="9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a:solidFill>
            <a:schemeClr val="bg1">
              <a:alpha val="20000"/>
            </a:schemeClr>
          </a:solidFill>
        </p:spPr>
        <p:txBody>
          <a:bodyPr vert="horz" lIns="91440" tIns="90000" rIns="91440" bIns="9000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Slide Number Placeholder 5"/>
          <p:cNvSpPr>
            <a:spLocks noGrp="1"/>
          </p:cNvSpPr>
          <p:nvPr>
            <p:ph type="sldNum" sz="quarter" idx="4"/>
          </p:nvPr>
        </p:nvSpPr>
        <p:spPr>
          <a:xfrm>
            <a:off x="344212" y="6176964"/>
            <a:ext cx="2743200" cy="544515"/>
          </a:xfrm>
          <a:prstGeom prst="rect">
            <a:avLst/>
          </a:prstGeom>
        </p:spPr>
        <p:txBody>
          <a:bodyPr vert="horz" lIns="91440" tIns="45720" rIns="91440" bIns="45720" rtlCol="0" anchor="ctr"/>
          <a:lstStyle>
            <a:lvl1pPr algn="l">
              <a:defRPr sz="1200">
                <a:solidFill>
                  <a:schemeClr val="tx1">
                    <a:tint val="75000"/>
                  </a:schemeClr>
                </a:solidFill>
              </a:defRPr>
            </a:lvl1pPr>
          </a:lstStyle>
          <a:p>
            <a:fld id="{5D49465A-8857-432B-B8F7-DAABA936F9E1}" type="slidenum">
              <a:rPr lang="en-AU" smtClean="0"/>
              <a:pPr/>
              <a:t>‹#›</a:t>
            </a:fld>
            <a:endParaRPr lang="en-AU"/>
          </a:p>
        </p:txBody>
      </p:sp>
      <p:pic>
        <p:nvPicPr>
          <p:cNvPr id="7" name="Picture 6" descr="KNOWING Logo RGB.png"/>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1122575" y="6177568"/>
            <a:ext cx="725213" cy="543910"/>
          </a:xfrm>
          <a:prstGeom prst="rect">
            <a:avLst/>
          </a:prstGeom>
        </p:spPr>
      </p:pic>
    </p:spTree>
    <p:extLst>
      <p:ext uri="{BB962C8B-B14F-4D97-AF65-F5344CB8AC3E}">
        <p14:creationId xmlns:p14="http://schemas.microsoft.com/office/powerpoint/2010/main" val="202825595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Lst>
  <p:txStyles>
    <p:titleStyle>
      <a:lvl1pPr algn="l" defTabSz="914400" rtl="0" eaLnBrk="1" latinLnBrk="0" hangingPunct="1">
        <a:lnSpc>
          <a:spcPct val="90000"/>
        </a:lnSpc>
        <a:spcBef>
          <a:spcPct val="0"/>
        </a:spcBef>
        <a:buNone/>
        <a:defRPr sz="4400" b="0" i="0" u="none" kern="1200">
          <a:solidFill>
            <a:schemeClr val="accent1"/>
          </a:solidFill>
          <a:latin typeface="+mj-lt"/>
          <a:ea typeface="+mj-ea"/>
          <a:cs typeface="+mj-cs"/>
        </a:defRPr>
      </a:lvl1pPr>
    </p:titleStyle>
    <p:bodyStyle>
      <a:lvl1pPr marL="342000" indent="-342000" algn="l" defTabSz="914400" rtl="0" eaLnBrk="1" latinLnBrk="0" hangingPunct="1">
        <a:lnSpc>
          <a:spcPct val="100000"/>
        </a:lnSpc>
        <a:spcBef>
          <a:spcPts val="768"/>
        </a:spcBef>
        <a:buFontTx/>
        <a:buBlip>
          <a:blip r:embed="rId10"/>
        </a:buBlip>
        <a:defRPr sz="3200" kern="1200">
          <a:solidFill>
            <a:schemeClr val="tx1"/>
          </a:solidFill>
          <a:latin typeface="+mn-lt"/>
          <a:ea typeface="+mn-ea"/>
          <a:cs typeface="+mn-cs"/>
        </a:defRPr>
      </a:lvl1pPr>
      <a:lvl2pPr marL="741600" indent="-284400" algn="l" defTabSz="914400" rtl="0" eaLnBrk="1" latinLnBrk="0" hangingPunct="1">
        <a:lnSpc>
          <a:spcPct val="100000"/>
        </a:lnSpc>
        <a:spcBef>
          <a:spcPts val="672"/>
        </a:spcBef>
        <a:buFont typeface="Open Sans" panose="020B0606030504020204" pitchFamily="34" charset="0"/>
        <a:buChar char="–"/>
        <a:defRPr sz="2800" kern="1200">
          <a:solidFill>
            <a:schemeClr val="tx1"/>
          </a:solidFill>
          <a:latin typeface="+mn-lt"/>
          <a:ea typeface="+mn-ea"/>
          <a:cs typeface="+mn-cs"/>
        </a:defRPr>
      </a:lvl2pPr>
      <a:lvl3pPr marL="1144800" indent="-230400" algn="l" defTabSz="914400" rtl="0" eaLnBrk="1" latinLnBrk="0" hangingPunct="1">
        <a:lnSpc>
          <a:spcPct val="100000"/>
        </a:lnSpc>
        <a:spcBef>
          <a:spcPts val="576"/>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00000"/>
        </a:lnSpc>
        <a:spcBef>
          <a:spcPts val="480"/>
        </a:spcBef>
        <a:buFont typeface="Open Sans" panose="020B0606030504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480"/>
        </a:spcBef>
        <a:buFont typeface="Open Sans" panose="020B0606030504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alphaModFix amt="9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838200" y="1825625"/>
            <a:ext cx="10515600" cy="4351338"/>
          </a:xfrm>
          <a:prstGeom prst="rect">
            <a:avLst/>
          </a:prstGeom>
          <a:solidFill>
            <a:schemeClr val="tx1">
              <a:alpha val="20000"/>
            </a:schemeClr>
          </a:solidFill>
        </p:spPr>
        <p:txBody>
          <a:bodyPr vert="horz" lIns="91440" tIns="108000" rIns="91440" bIns="10800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Slide Number Placeholder 5"/>
          <p:cNvSpPr>
            <a:spLocks noGrp="1"/>
          </p:cNvSpPr>
          <p:nvPr>
            <p:ph type="sldNum" sz="quarter" idx="4"/>
          </p:nvPr>
        </p:nvSpPr>
        <p:spPr>
          <a:xfrm>
            <a:off x="344212" y="6176964"/>
            <a:ext cx="2743200" cy="544515"/>
          </a:xfrm>
          <a:prstGeom prst="rect">
            <a:avLst/>
          </a:prstGeom>
        </p:spPr>
        <p:txBody>
          <a:bodyPr vert="horz" lIns="91440" tIns="45720" rIns="91440" bIns="45720" rtlCol="0" anchor="ctr"/>
          <a:lstStyle>
            <a:lvl1pPr algn="l">
              <a:defRPr sz="1200">
                <a:solidFill>
                  <a:schemeClr val="tx1">
                    <a:tint val="75000"/>
                  </a:schemeClr>
                </a:solidFill>
              </a:defRPr>
            </a:lvl1pPr>
          </a:lstStyle>
          <a:p>
            <a:fld id="{5D49465A-8857-432B-B8F7-DAABA936F9E1}" type="slidenum">
              <a:rPr lang="en-AU" smtClean="0"/>
              <a:pPr/>
              <a:t>‹#›</a:t>
            </a:fld>
            <a:endParaRPr lang="en-AU" dirty="0"/>
          </a:p>
        </p:txBody>
      </p:sp>
    </p:spTree>
    <p:extLst>
      <p:ext uri="{BB962C8B-B14F-4D97-AF65-F5344CB8AC3E}">
        <p14:creationId xmlns:p14="http://schemas.microsoft.com/office/powerpoint/2010/main" val="204924511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Lst>
  <p:txStyles>
    <p:titleStyle>
      <a:lvl1pPr algn="l" defTabSz="914400" rtl="0" eaLnBrk="1" latinLnBrk="0" hangingPunct="1">
        <a:lnSpc>
          <a:spcPct val="90000"/>
        </a:lnSpc>
        <a:spcBef>
          <a:spcPct val="0"/>
        </a:spcBef>
        <a:buNone/>
        <a:defRPr sz="4400" b="0" i="0" u="none" kern="1200">
          <a:solidFill>
            <a:schemeClr val="accent1"/>
          </a:solidFill>
          <a:latin typeface="+mj-lt"/>
          <a:ea typeface="+mj-ea"/>
          <a:cs typeface="+mj-cs"/>
        </a:defRPr>
      </a:lvl1pPr>
    </p:titleStyle>
    <p:bodyStyle>
      <a:lvl1pPr marL="342000" indent="-342000" algn="l" defTabSz="914400" rtl="0" eaLnBrk="1" latinLnBrk="0" hangingPunct="1">
        <a:lnSpc>
          <a:spcPct val="100000"/>
        </a:lnSpc>
        <a:spcBef>
          <a:spcPts val="768"/>
        </a:spcBef>
        <a:buFontTx/>
        <a:buBlip>
          <a:blip r:embed="rId11"/>
        </a:buBlip>
        <a:defRPr sz="3200" kern="1200">
          <a:solidFill>
            <a:schemeClr val="bg1"/>
          </a:solidFill>
          <a:latin typeface="+mn-lt"/>
          <a:ea typeface="+mn-ea"/>
          <a:cs typeface="+mn-cs"/>
        </a:defRPr>
      </a:lvl1pPr>
      <a:lvl2pPr marL="741600" indent="-284400" algn="l" defTabSz="914400" rtl="0" eaLnBrk="1" latinLnBrk="0" hangingPunct="1">
        <a:lnSpc>
          <a:spcPct val="100000"/>
        </a:lnSpc>
        <a:spcBef>
          <a:spcPts val="672"/>
        </a:spcBef>
        <a:buFont typeface="Open Sans" panose="020B0606030504020204" pitchFamily="34" charset="0"/>
        <a:buChar char="–"/>
        <a:defRPr sz="2800" kern="1200">
          <a:solidFill>
            <a:schemeClr val="bg1"/>
          </a:solidFill>
          <a:latin typeface="+mn-lt"/>
          <a:ea typeface="+mn-ea"/>
          <a:cs typeface="+mn-cs"/>
        </a:defRPr>
      </a:lvl2pPr>
      <a:lvl3pPr marL="1144800" indent="-230400" algn="l" defTabSz="914400" rtl="0" eaLnBrk="1" latinLnBrk="0" hangingPunct="1">
        <a:lnSpc>
          <a:spcPct val="100000"/>
        </a:lnSpc>
        <a:spcBef>
          <a:spcPts val="576"/>
        </a:spcBef>
        <a:buFont typeface="Arial" panose="020B0604020202020204" pitchFamily="34" charset="0"/>
        <a:buChar char="•"/>
        <a:defRPr sz="2400" kern="1200">
          <a:solidFill>
            <a:schemeClr val="bg1"/>
          </a:solidFill>
          <a:latin typeface="+mn-lt"/>
          <a:ea typeface="+mn-ea"/>
          <a:cs typeface="+mn-cs"/>
        </a:defRPr>
      </a:lvl3pPr>
      <a:lvl4pPr marL="1600200" indent="-228600" algn="l" defTabSz="914400" rtl="0" eaLnBrk="1" latinLnBrk="0" hangingPunct="1">
        <a:lnSpc>
          <a:spcPct val="100000"/>
        </a:lnSpc>
        <a:spcBef>
          <a:spcPts val="480"/>
        </a:spcBef>
        <a:buFont typeface="Open Sans" panose="020B0606030504020204" pitchFamily="34" charset="0"/>
        <a:buChar char="–"/>
        <a:defRPr sz="2000" kern="1200">
          <a:solidFill>
            <a:schemeClr val="bg1"/>
          </a:solidFill>
          <a:latin typeface="+mn-lt"/>
          <a:ea typeface="+mn-ea"/>
          <a:cs typeface="+mn-cs"/>
        </a:defRPr>
      </a:lvl4pPr>
      <a:lvl5pPr marL="2057400" indent="-228600" algn="l" defTabSz="914400" rtl="0" eaLnBrk="1" latinLnBrk="0" hangingPunct="1">
        <a:lnSpc>
          <a:spcPct val="100000"/>
        </a:lnSpc>
        <a:spcBef>
          <a:spcPts val="480"/>
        </a:spcBef>
        <a:buFont typeface="Open Sans" panose="020B0606030504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0ED039-B6C7-C14D-95AB-6BCD2DF2F73A}"/>
              </a:ext>
            </a:extLst>
          </p:cNvPr>
          <p:cNvSpPr>
            <a:spLocks noGrp="1"/>
          </p:cNvSpPr>
          <p:nvPr>
            <p:ph type="ctrTitle"/>
          </p:nvPr>
        </p:nvSpPr>
        <p:spPr>
          <a:xfrm>
            <a:off x="429768" y="1112158"/>
            <a:ext cx="6089790" cy="1476435"/>
          </a:xfrm>
        </p:spPr>
        <p:txBody>
          <a:bodyPr wrap="square" anchor="t">
            <a:normAutofit fontScale="90000"/>
          </a:bodyPr>
          <a:lstStyle/>
          <a:p>
            <a:pPr>
              <a:lnSpc>
                <a:spcPct val="90000"/>
              </a:lnSpc>
            </a:pPr>
            <a:r>
              <a:rPr dirty="0"/>
              <a:t>Project Presentation and Demonstration</a:t>
            </a:r>
            <a:endParaRPr lang="en-US" sz="3000" dirty="0"/>
          </a:p>
        </p:txBody>
      </p:sp>
      <p:sp>
        <p:nvSpPr>
          <p:cNvPr id="9" name="Text Placeholder 8">
            <a:extLst>
              <a:ext uri="{FF2B5EF4-FFF2-40B4-BE49-F238E27FC236}">
                <a16:creationId xmlns:a16="http://schemas.microsoft.com/office/drawing/2014/main" id="{236E85D9-D22E-4130-B927-E9BBB6DBC917}"/>
              </a:ext>
            </a:extLst>
          </p:cNvPr>
          <p:cNvSpPr>
            <a:spLocks noGrp="1"/>
          </p:cNvSpPr>
          <p:nvPr>
            <p:ph type="body" sz="quarter" idx="10"/>
          </p:nvPr>
        </p:nvSpPr>
        <p:spPr>
          <a:xfrm>
            <a:off x="429768" y="3657600"/>
            <a:ext cx="5760720" cy="1737360"/>
          </a:xfrm>
        </p:spPr>
        <p:txBody>
          <a:bodyPr>
            <a:normAutofit/>
          </a:bodyPr>
          <a:lstStyle/>
          <a:p>
            <a:r>
              <a:rPr b="1" dirty="0"/>
              <a:t>Team Name: </a:t>
            </a:r>
            <a:r>
              <a:rPr b="0" dirty="0"/>
              <a:t>Group G03, Thursday 4:30 pm tutorial</a:t>
            </a:r>
          </a:p>
          <a:p>
            <a:r>
              <a:rPr b="1" dirty="0"/>
              <a:t>Group no: </a:t>
            </a:r>
            <a:r>
              <a:rPr b="0" dirty="0"/>
              <a:t>03</a:t>
            </a:r>
          </a:p>
          <a:p>
            <a:r>
              <a:rPr b="1" dirty="0"/>
              <a:t>Members: </a:t>
            </a:r>
            <a:r>
              <a:rPr b="0" dirty="0"/>
              <a:t>Ngoc Anh Tuan Nguyen, Ha Minh Nguyen, Vinh Nghiem, Huu Tran Minh Duc</a:t>
            </a:r>
          </a:p>
        </p:txBody>
      </p:sp>
      <p:sp>
        <p:nvSpPr>
          <p:cNvPr id="10" name="Subtitle line"/>
          <p:cNvSpPr txBox="1"/>
          <p:nvPr/>
        </p:nvSpPr>
        <p:spPr>
          <a:xfrm>
            <a:off x="429768" y="2743200"/>
            <a:ext cx="5760720" cy="731520"/>
          </a:xfrm>
          <a:prstGeom prst="rect">
            <a:avLst/>
          </a:prstGeom>
          <a:noFill/>
        </p:spPr>
        <p:txBody>
          <a:bodyPr wrap="square" lIns="45720" tIns="27432" rIns="45720" bIns="27432" anchor="t">
            <a:spAutoFit/>
          </a:bodyPr>
          <a:lstStyle/>
          <a:p>
            <a:pPr marL="0" indent="0" algn="l">
              <a:spcAft>
                <a:spcPts val="200"/>
              </a:spcAft>
              <a:buNone/>
            </a:pPr>
            <a:r>
              <a:rPr sz="1400" dirty="0">
                <a:solidFill>
                  <a:srgbClr val="6E6B6C"/>
                </a:solidFill>
              </a:rPr>
              <a:t>SWE40006 Software Deployment and Evolution</a:t>
            </a:r>
          </a:p>
          <a:p>
            <a:pPr marL="0" indent="0" algn="l">
              <a:spcAft>
                <a:spcPts val="200"/>
              </a:spcAft>
              <a:buNone/>
            </a:pPr>
            <a:r>
              <a:rPr sz="1400" dirty="0">
                <a:solidFill>
                  <a:srgbClr val="6E6B6C"/>
                </a:solidFill>
              </a:rPr>
              <a:t>A URL shortener delivered through a four-environment DevOps pipeline</a:t>
            </a:r>
          </a:p>
        </p:txBody>
      </p:sp>
    </p:spTree>
    <p:extLst>
      <p:ext uri="{BB962C8B-B14F-4D97-AF65-F5344CB8AC3E}">
        <p14:creationId xmlns:p14="http://schemas.microsoft.com/office/powerpoint/2010/main" val="2757868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549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1B0A-42D8-844A-BB64-A233C4B48F77}"/>
              </a:ext>
            </a:extLst>
          </p:cNvPr>
          <p:cNvSpPr>
            <a:spLocks noGrp="1"/>
          </p:cNvSpPr>
          <p:nvPr>
            <p:ph type="ctrTitle"/>
          </p:nvPr>
        </p:nvSpPr>
        <p:spPr>
          <a:xfrm>
            <a:off x="429768" y="448056"/>
            <a:ext cx="9683496" cy="585216"/>
          </a:xfrm>
        </p:spPr>
        <p:txBody>
          <a:bodyPr/>
          <a:lstStyle/>
          <a:p>
            <a:r>
              <a:t>Overview</a:t>
            </a:r>
          </a:p>
        </p:txBody>
      </p:sp>
      <p:sp>
        <p:nvSpPr>
          <p:cNvPr id="4" name="Text Placeholder 3">
            <a:extLst>
              <a:ext uri="{FF2B5EF4-FFF2-40B4-BE49-F238E27FC236}">
                <a16:creationId xmlns:a16="http://schemas.microsoft.com/office/drawing/2014/main" id="{97BB1073-2D2E-EA46-B03F-CF506B87A630}"/>
              </a:ext>
            </a:extLst>
          </p:cNvPr>
          <p:cNvSpPr>
            <a:spLocks noGrp="1"/>
          </p:cNvSpPr>
          <p:nvPr>
            <p:ph type="body" sz="quarter" idx="10"/>
          </p:nvPr>
        </p:nvSpPr>
        <p:spPr>
          <a:xfrm>
            <a:off x="429768" y="1115568"/>
            <a:ext cx="9683496" cy="457200"/>
          </a:xfrm>
        </p:spPr>
        <p:txBody>
          <a:bodyPr/>
          <a:lstStyle/>
          <a:p>
            <a:r>
              <a:rPr sz="1500"/>
              <a:t>One idea: push to main, and tested code reaches Production after one click of approval.</a:t>
            </a:r>
            <a:endParaRPr lang="en-US"/>
          </a:p>
        </p:txBody>
      </p:sp>
      <p:sp>
        <p:nvSpPr>
          <p:cNvPr id="5" name="Pentagon 4"/>
          <p:cNvSpPr/>
          <p:nvPr/>
        </p:nvSpPr>
        <p:spPr>
          <a:xfrm>
            <a:off x="429768" y="1783080"/>
            <a:ext cx="2240280" cy="685800"/>
          </a:xfrm>
          <a:prstGeom prst="homePlate">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100" b="1">
                <a:solidFill>
                  <a:srgbClr val="FFFFFF"/>
                </a:solidFill>
              </a:rPr>
              <a:t>Code Repository</a:t>
            </a:r>
          </a:p>
        </p:txBody>
      </p:sp>
      <p:sp>
        <p:nvSpPr>
          <p:cNvPr id="6" name="TextBox 5"/>
          <p:cNvSpPr txBox="1"/>
          <p:nvPr/>
        </p:nvSpPr>
        <p:spPr>
          <a:xfrm>
            <a:off x="658368" y="2487168"/>
            <a:ext cx="1965960" cy="274320"/>
          </a:xfrm>
          <a:prstGeom prst="rect">
            <a:avLst/>
          </a:prstGeom>
          <a:noFill/>
        </p:spPr>
        <p:txBody>
          <a:bodyPr wrap="square" lIns="45720" tIns="27432" rIns="45720" bIns="27432" anchor="t">
            <a:spAutoFit/>
          </a:bodyPr>
          <a:lstStyle/>
          <a:p>
            <a:pPr marL="0" indent="0" algn="ctr">
              <a:spcAft>
                <a:spcPts val="200"/>
              </a:spcAft>
              <a:buNone/>
            </a:pPr>
            <a:r>
              <a:rPr sz="1100">
                <a:solidFill>
                  <a:srgbClr val="6E6B6C"/>
                </a:solidFill>
              </a:rPr>
              <a:t>GitHub</a:t>
            </a:r>
          </a:p>
        </p:txBody>
      </p:sp>
      <p:sp>
        <p:nvSpPr>
          <p:cNvPr id="7" name="Chevron 6"/>
          <p:cNvSpPr/>
          <p:nvPr/>
        </p:nvSpPr>
        <p:spPr>
          <a:xfrm>
            <a:off x="2761488" y="1783080"/>
            <a:ext cx="2240280" cy="685800"/>
          </a:xfrm>
          <a:prstGeom prst="chevron">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100" b="1">
                <a:solidFill>
                  <a:srgbClr val="FFFFFF"/>
                </a:solidFill>
              </a:rPr>
              <a:t>CI / Build</a:t>
            </a:r>
          </a:p>
        </p:txBody>
      </p:sp>
      <p:sp>
        <p:nvSpPr>
          <p:cNvPr id="8" name="TextBox 7"/>
          <p:cNvSpPr txBox="1"/>
          <p:nvPr/>
        </p:nvSpPr>
        <p:spPr>
          <a:xfrm>
            <a:off x="2990088" y="2487168"/>
            <a:ext cx="1965960" cy="274320"/>
          </a:xfrm>
          <a:prstGeom prst="rect">
            <a:avLst/>
          </a:prstGeom>
          <a:noFill/>
        </p:spPr>
        <p:txBody>
          <a:bodyPr wrap="square" lIns="45720" tIns="27432" rIns="45720" bIns="27432" anchor="t">
            <a:spAutoFit/>
          </a:bodyPr>
          <a:lstStyle/>
          <a:p>
            <a:pPr marL="0" indent="0" algn="ctr">
              <a:spcAft>
                <a:spcPts val="200"/>
              </a:spcAft>
              <a:buNone/>
            </a:pPr>
            <a:r>
              <a:rPr sz="1100">
                <a:solidFill>
                  <a:srgbClr val="6E6B6C"/>
                </a:solidFill>
              </a:rPr>
              <a:t>GitHub Actions</a:t>
            </a:r>
          </a:p>
        </p:txBody>
      </p:sp>
      <p:sp>
        <p:nvSpPr>
          <p:cNvPr id="9" name="Chevron 8"/>
          <p:cNvSpPr/>
          <p:nvPr/>
        </p:nvSpPr>
        <p:spPr>
          <a:xfrm>
            <a:off x="5093208" y="1783080"/>
            <a:ext cx="2240280" cy="685800"/>
          </a:xfrm>
          <a:prstGeom prst="chevron">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100" b="1">
                <a:solidFill>
                  <a:srgbClr val="FFFFFF"/>
                </a:solidFill>
              </a:rPr>
              <a:t>Test / Staging</a:t>
            </a:r>
          </a:p>
        </p:txBody>
      </p:sp>
      <p:sp>
        <p:nvSpPr>
          <p:cNvPr id="10" name="TextBox 9"/>
          <p:cNvSpPr txBox="1"/>
          <p:nvPr/>
        </p:nvSpPr>
        <p:spPr>
          <a:xfrm>
            <a:off x="5321808" y="2487168"/>
            <a:ext cx="1965960" cy="274320"/>
          </a:xfrm>
          <a:prstGeom prst="rect">
            <a:avLst/>
          </a:prstGeom>
          <a:noFill/>
        </p:spPr>
        <p:txBody>
          <a:bodyPr wrap="square" lIns="45720" tIns="27432" rIns="45720" bIns="27432" anchor="t">
            <a:spAutoFit/>
          </a:bodyPr>
          <a:lstStyle/>
          <a:p>
            <a:pPr marL="0" indent="0" algn="ctr">
              <a:spcAft>
                <a:spcPts val="200"/>
              </a:spcAft>
              <a:buNone/>
            </a:pPr>
            <a:r>
              <a:rPr sz="1100">
                <a:solidFill>
                  <a:srgbClr val="6E6B6C"/>
                </a:solidFill>
              </a:rPr>
              <a:t>EC2 t3.micro</a:t>
            </a:r>
          </a:p>
        </p:txBody>
      </p:sp>
      <p:sp>
        <p:nvSpPr>
          <p:cNvPr id="11" name="Chevron 10"/>
          <p:cNvSpPr/>
          <p:nvPr/>
        </p:nvSpPr>
        <p:spPr>
          <a:xfrm>
            <a:off x="7424928" y="1783080"/>
            <a:ext cx="2240280" cy="685800"/>
          </a:xfrm>
          <a:prstGeom prst="chevron">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100" b="1">
                <a:solidFill>
                  <a:srgbClr val="FFFFFF"/>
                </a:solidFill>
              </a:rPr>
              <a:t>Production</a:t>
            </a:r>
          </a:p>
        </p:txBody>
      </p:sp>
      <p:sp>
        <p:nvSpPr>
          <p:cNvPr id="12" name="TextBox 11"/>
          <p:cNvSpPr txBox="1"/>
          <p:nvPr/>
        </p:nvSpPr>
        <p:spPr>
          <a:xfrm>
            <a:off x="7653528" y="2487168"/>
            <a:ext cx="1965960" cy="274320"/>
          </a:xfrm>
          <a:prstGeom prst="rect">
            <a:avLst/>
          </a:prstGeom>
          <a:noFill/>
        </p:spPr>
        <p:txBody>
          <a:bodyPr wrap="square" lIns="45720" tIns="27432" rIns="45720" bIns="27432" anchor="t">
            <a:spAutoFit/>
          </a:bodyPr>
          <a:lstStyle/>
          <a:p>
            <a:pPr marL="0" indent="0" algn="ctr">
              <a:spcAft>
                <a:spcPts val="200"/>
              </a:spcAft>
              <a:buNone/>
            </a:pPr>
            <a:r>
              <a:rPr sz="1100">
                <a:solidFill>
                  <a:srgbClr val="6E6B6C"/>
                </a:solidFill>
              </a:rPr>
              <a:t>EC2 t3.small</a:t>
            </a:r>
          </a:p>
        </p:txBody>
      </p:sp>
      <p:sp>
        <p:nvSpPr>
          <p:cNvPr id="13" name="TextBox 12"/>
          <p:cNvSpPr txBox="1"/>
          <p:nvPr/>
        </p:nvSpPr>
        <p:spPr>
          <a:xfrm>
            <a:off x="429768" y="2971800"/>
            <a:ext cx="4754880" cy="320040"/>
          </a:xfrm>
          <a:prstGeom prst="rect">
            <a:avLst/>
          </a:prstGeom>
          <a:noFill/>
        </p:spPr>
        <p:txBody>
          <a:bodyPr wrap="square" lIns="45720" tIns="27432" rIns="45720" bIns="27432" anchor="t">
            <a:spAutoFit/>
          </a:bodyPr>
          <a:lstStyle/>
          <a:p>
            <a:pPr marL="0" indent="0" algn="l">
              <a:spcAft>
                <a:spcPts val="200"/>
              </a:spcAft>
              <a:buNone/>
            </a:pPr>
            <a:r>
              <a:rPr sz="1400" b="1">
                <a:solidFill>
                  <a:srgbClr val="3D3A3B"/>
                </a:solidFill>
              </a:rPr>
              <a:t>What we will cover</a:t>
            </a:r>
          </a:p>
        </p:txBody>
      </p:sp>
      <p:sp>
        <p:nvSpPr>
          <p:cNvPr id="14" name="Oval 13"/>
          <p:cNvSpPr/>
          <p:nvPr/>
        </p:nvSpPr>
        <p:spPr>
          <a:xfrm>
            <a:off x="429768" y="3355848"/>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1</a:t>
            </a:r>
          </a:p>
        </p:txBody>
      </p:sp>
      <p:sp>
        <p:nvSpPr>
          <p:cNvPr id="15" name="TextBox 14"/>
          <p:cNvSpPr txBox="1"/>
          <p:nvPr/>
        </p:nvSpPr>
        <p:spPr>
          <a:xfrm>
            <a:off x="841247" y="3337560"/>
            <a:ext cx="3108960" cy="365760"/>
          </a:xfrm>
          <a:prstGeom prst="rect">
            <a:avLst/>
          </a:prstGeom>
          <a:noFill/>
        </p:spPr>
        <p:txBody>
          <a:bodyPr wrap="square" lIns="45720" tIns="27432" rIns="45720" bIns="27432" anchor="ctr">
            <a:spAutoFit/>
          </a:bodyPr>
          <a:lstStyle/>
          <a:p>
            <a:pPr marL="0" indent="0" algn="l">
              <a:spcAft>
                <a:spcPts val="200"/>
              </a:spcAft>
              <a:buNone/>
            </a:pPr>
            <a:r>
              <a:rPr sz="1300">
                <a:solidFill>
                  <a:srgbClr val="3D3A3B"/>
                </a:solidFill>
              </a:rPr>
              <a:t>Background and problem</a:t>
            </a:r>
          </a:p>
        </p:txBody>
      </p:sp>
      <p:sp>
        <p:nvSpPr>
          <p:cNvPr id="16" name="TextBox 15"/>
          <p:cNvSpPr txBox="1"/>
          <p:nvPr/>
        </p:nvSpPr>
        <p:spPr>
          <a:xfrm>
            <a:off x="3950208" y="3337560"/>
            <a:ext cx="1280160" cy="365760"/>
          </a:xfrm>
          <a:prstGeom prst="rect">
            <a:avLst/>
          </a:prstGeom>
          <a:noFill/>
        </p:spPr>
        <p:txBody>
          <a:bodyPr wrap="square" lIns="45720" tIns="27432" rIns="45720" bIns="27432" anchor="ctr">
            <a:spAutoFit/>
          </a:bodyPr>
          <a:lstStyle/>
          <a:p>
            <a:pPr marL="0" indent="0" algn="l">
              <a:spcAft>
                <a:spcPts val="200"/>
              </a:spcAft>
              <a:buNone/>
            </a:pPr>
            <a:r>
              <a:rPr sz="1100">
                <a:solidFill>
                  <a:srgbClr val="6E6B6C"/>
                </a:solidFill>
              </a:rPr>
              <a:t>Minh</a:t>
            </a:r>
          </a:p>
        </p:txBody>
      </p:sp>
      <p:sp>
        <p:nvSpPr>
          <p:cNvPr id="17" name="Oval 16"/>
          <p:cNvSpPr/>
          <p:nvPr/>
        </p:nvSpPr>
        <p:spPr>
          <a:xfrm>
            <a:off x="429768" y="3785615"/>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2</a:t>
            </a:r>
          </a:p>
        </p:txBody>
      </p:sp>
      <p:sp>
        <p:nvSpPr>
          <p:cNvPr id="18" name="TextBox 17"/>
          <p:cNvSpPr txBox="1"/>
          <p:nvPr/>
        </p:nvSpPr>
        <p:spPr>
          <a:xfrm>
            <a:off x="841247" y="3767328"/>
            <a:ext cx="3108960" cy="365760"/>
          </a:xfrm>
          <a:prstGeom prst="rect">
            <a:avLst/>
          </a:prstGeom>
          <a:noFill/>
        </p:spPr>
        <p:txBody>
          <a:bodyPr wrap="square" lIns="45720" tIns="27432" rIns="45720" bIns="27432" anchor="ctr">
            <a:spAutoFit/>
          </a:bodyPr>
          <a:lstStyle/>
          <a:p>
            <a:pPr marL="0" indent="0" algn="l">
              <a:spcAft>
                <a:spcPts val="200"/>
              </a:spcAft>
              <a:buNone/>
            </a:pPr>
            <a:r>
              <a:rPr sz="1300">
                <a:solidFill>
                  <a:srgbClr val="3D3A3B"/>
                </a:solidFill>
              </a:rPr>
              <a:t>Scope, objectives and outcomes</a:t>
            </a:r>
          </a:p>
        </p:txBody>
      </p:sp>
      <p:sp>
        <p:nvSpPr>
          <p:cNvPr id="19" name="TextBox 18"/>
          <p:cNvSpPr txBox="1"/>
          <p:nvPr/>
        </p:nvSpPr>
        <p:spPr>
          <a:xfrm>
            <a:off x="3950208" y="3767328"/>
            <a:ext cx="1280160" cy="365760"/>
          </a:xfrm>
          <a:prstGeom prst="rect">
            <a:avLst/>
          </a:prstGeom>
          <a:noFill/>
        </p:spPr>
        <p:txBody>
          <a:bodyPr wrap="square" lIns="45720" tIns="27432" rIns="45720" bIns="27432" anchor="ctr">
            <a:spAutoFit/>
          </a:bodyPr>
          <a:lstStyle/>
          <a:p>
            <a:pPr marL="0" indent="0" algn="l">
              <a:spcAft>
                <a:spcPts val="200"/>
              </a:spcAft>
              <a:buNone/>
            </a:pPr>
            <a:r>
              <a:rPr sz="1100">
                <a:solidFill>
                  <a:srgbClr val="6E6B6C"/>
                </a:solidFill>
              </a:rPr>
              <a:t>Minh, Tuan</a:t>
            </a:r>
          </a:p>
        </p:txBody>
      </p:sp>
      <p:sp>
        <p:nvSpPr>
          <p:cNvPr id="20" name="Oval 19"/>
          <p:cNvSpPr/>
          <p:nvPr/>
        </p:nvSpPr>
        <p:spPr>
          <a:xfrm>
            <a:off x="429768" y="4215383"/>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3</a:t>
            </a:r>
          </a:p>
        </p:txBody>
      </p:sp>
      <p:sp>
        <p:nvSpPr>
          <p:cNvPr id="21" name="TextBox 20"/>
          <p:cNvSpPr txBox="1"/>
          <p:nvPr/>
        </p:nvSpPr>
        <p:spPr>
          <a:xfrm>
            <a:off x="841247" y="4197096"/>
            <a:ext cx="3108960" cy="365760"/>
          </a:xfrm>
          <a:prstGeom prst="rect">
            <a:avLst/>
          </a:prstGeom>
          <a:noFill/>
        </p:spPr>
        <p:txBody>
          <a:bodyPr wrap="square" lIns="45720" tIns="27432" rIns="45720" bIns="27432" anchor="ctr">
            <a:spAutoFit/>
          </a:bodyPr>
          <a:lstStyle/>
          <a:p>
            <a:pPr marL="0" indent="0" algn="l">
              <a:spcAft>
                <a:spcPts val="200"/>
              </a:spcAft>
              <a:buNone/>
            </a:pPr>
            <a:r>
              <a:rPr sz="1300">
                <a:solidFill>
                  <a:srgbClr val="3D3A3B"/>
                </a:solidFill>
              </a:rPr>
              <a:t>Design concepts and trade-offs</a:t>
            </a:r>
          </a:p>
        </p:txBody>
      </p:sp>
      <p:sp>
        <p:nvSpPr>
          <p:cNvPr id="22" name="TextBox 21"/>
          <p:cNvSpPr txBox="1"/>
          <p:nvPr/>
        </p:nvSpPr>
        <p:spPr>
          <a:xfrm>
            <a:off x="3950208" y="4197096"/>
            <a:ext cx="1280160" cy="365760"/>
          </a:xfrm>
          <a:prstGeom prst="rect">
            <a:avLst/>
          </a:prstGeom>
          <a:noFill/>
        </p:spPr>
        <p:txBody>
          <a:bodyPr wrap="square" lIns="45720" tIns="27432" rIns="45720" bIns="27432" anchor="ctr">
            <a:spAutoFit/>
          </a:bodyPr>
          <a:lstStyle/>
          <a:p>
            <a:pPr marL="0" indent="0" algn="l">
              <a:spcAft>
                <a:spcPts val="200"/>
              </a:spcAft>
              <a:buNone/>
            </a:pPr>
            <a:r>
              <a:rPr sz="1100">
                <a:solidFill>
                  <a:srgbClr val="6E6B6C"/>
                </a:solidFill>
              </a:rPr>
              <a:t>Duc</a:t>
            </a:r>
          </a:p>
        </p:txBody>
      </p:sp>
      <p:sp>
        <p:nvSpPr>
          <p:cNvPr id="23" name="Oval 22"/>
          <p:cNvSpPr/>
          <p:nvPr/>
        </p:nvSpPr>
        <p:spPr>
          <a:xfrm>
            <a:off x="429768" y="4645151"/>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4</a:t>
            </a:r>
          </a:p>
        </p:txBody>
      </p:sp>
      <p:sp>
        <p:nvSpPr>
          <p:cNvPr id="24" name="TextBox 23"/>
          <p:cNvSpPr txBox="1"/>
          <p:nvPr/>
        </p:nvSpPr>
        <p:spPr>
          <a:xfrm>
            <a:off x="841247" y="4626864"/>
            <a:ext cx="3108960" cy="365760"/>
          </a:xfrm>
          <a:prstGeom prst="rect">
            <a:avLst/>
          </a:prstGeom>
          <a:noFill/>
        </p:spPr>
        <p:txBody>
          <a:bodyPr wrap="square" lIns="45720" tIns="27432" rIns="45720" bIns="27432" anchor="ctr">
            <a:spAutoFit/>
          </a:bodyPr>
          <a:lstStyle/>
          <a:p>
            <a:pPr marL="0" indent="0" algn="l">
              <a:spcAft>
                <a:spcPts val="200"/>
              </a:spcAft>
              <a:buNone/>
            </a:pPr>
            <a:r>
              <a:rPr sz="1300">
                <a:solidFill>
                  <a:srgbClr val="3D3A3B"/>
                </a:solidFill>
              </a:rPr>
              <a:t>Execution and technical challenges</a:t>
            </a:r>
          </a:p>
        </p:txBody>
      </p:sp>
      <p:sp>
        <p:nvSpPr>
          <p:cNvPr id="25" name="TextBox 24"/>
          <p:cNvSpPr txBox="1"/>
          <p:nvPr/>
        </p:nvSpPr>
        <p:spPr>
          <a:xfrm>
            <a:off x="3950208" y="4626864"/>
            <a:ext cx="1280160" cy="365760"/>
          </a:xfrm>
          <a:prstGeom prst="rect">
            <a:avLst/>
          </a:prstGeom>
          <a:noFill/>
        </p:spPr>
        <p:txBody>
          <a:bodyPr wrap="square" lIns="45720" tIns="27432" rIns="45720" bIns="27432" anchor="ctr">
            <a:spAutoFit/>
          </a:bodyPr>
          <a:lstStyle/>
          <a:p>
            <a:pPr marL="0" indent="0" algn="l">
              <a:spcAft>
                <a:spcPts val="200"/>
              </a:spcAft>
              <a:buNone/>
            </a:pPr>
            <a:r>
              <a:rPr sz="1100">
                <a:solidFill>
                  <a:srgbClr val="6E6B6C"/>
                </a:solidFill>
              </a:rPr>
              <a:t>Vinh</a:t>
            </a:r>
          </a:p>
        </p:txBody>
      </p:sp>
      <p:sp>
        <p:nvSpPr>
          <p:cNvPr id="26" name="Oval 25"/>
          <p:cNvSpPr/>
          <p:nvPr/>
        </p:nvSpPr>
        <p:spPr>
          <a:xfrm>
            <a:off x="429768" y="5074919"/>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5</a:t>
            </a:r>
          </a:p>
        </p:txBody>
      </p:sp>
      <p:sp>
        <p:nvSpPr>
          <p:cNvPr id="27" name="TextBox 26"/>
          <p:cNvSpPr txBox="1"/>
          <p:nvPr/>
        </p:nvSpPr>
        <p:spPr>
          <a:xfrm>
            <a:off x="841247" y="5056631"/>
            <a:ext cx="3108960" cy="365760"/>
          </a:xfrm>
          <a:prstGeom prst="rect">
            <a:avLst/>
          </a:prstGeom>
          <a:noFill/>
        </p:spPr>
        <p:txBody>
          <a:bodyPr wrap="square" lIns="45720" tIns="27432" rIns="45720" bIns="27432" anchor="ctr">
            <a:spAutoFit/>
          </a:bodyPr>
          <a:lstStyle/>
          <a:p>
            <a:pPr marL="0" indent="0" algn="l">
              <a:spcAft>
                <a:spcPts val="200"/>
              </a:spcAft>
              <a:buNone/>
            </a:pPr>
            <a:r>
              <a:rPr sz="1300">
                <a:solidFill>
                  <a:srgbClr val="3D3A3B"/>
                </a:solidFill>
              </a:rPr>
              <a:t>Live deployment demonstration</a:t>
            </a:r>
          </a:p>
        </p:txBody>
      </p:sp>
      <p:sp>
        <p:nvSpPr>
          <p:cNvPr id="28" name="TextBox 27"/>
          <p:cNvSpPr txBox="1"/>
          <p:nvPr/>
        </p:nvSpPr>
        <p:spPr>
          <a:xfrm>
            <a:off x="3950208" y="5056631"/>
            <a:ext cx="1280160" cy="365760"/>
          </a:xfrm>
          <a:prstGeom prst="rect">
            <a:avLst/>
          </a:prstGeom>
          <a:noFill/>
        </p:spPr>
        <p:txBody>
          <a:bodyPr wrap="square" lIns="45720" tIns="27432" rIns="45720" bIns="27432" anchor="ctr">
            <a:spAutoFit/>
          </a:bodyPr>
          <a:lstStyle/>
          <a:p>
            <a:pPr marL="0" indent="0" algn="l">
              <a:spcAft>
                <a:spcPts val="200"/>
              </a:spcAft>
              <a:buNone/>
            </a:pPr>
            <a:r>
              <a:rPr sz="1100">
                <a:solidFill>
                  <a:srgbClr val="6E6B6C"/>
                </a:solidFill>
              </a:rPr>
              <a:t>Tuan, Minh, Duc</a:t>
            </a:r>
          </a:p>
        </p:txBody>
      </p:sp>
      <p:sp>
        <p:nvSpPr>
          <p:cNvPr id="29" name="Oval 28"/>
          <p:cNvSpPr/>
          <p:nvPr/>
        </p:nvSpPr>
        <p:spPr>
          <a:xfrm>
            <a:off x="429768" y="5504688"/>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6</a:t>
            </a:r>
          </a:p>
        </p:txBody>
      </p:sp>
      <p:sp>
        <p:nvSpPr>
          <p:cNvPr id="30" name="TextBox 29"/>
          <p:cNvSpPr txBox="1"/>
          <p:nvPr/>
        </p:nvSpPr>
        <p:spPr>
          <a:xfrm>
            <a:off x="841247" y="5486400"/>
            <a:ext cx="3108960" cy="365760"/>
          </a:xfrm>
          <a:prstGeom prst="rect">
            <a:avLst/>
          </a:prstGeom>
          <a:noFill/>
        </p:spPr>
        <p:txBody>
          <a:bodyPr wrap="square" lIns="45720" tIns="27432" rIns="45720" bIns="27432" anchor="ctr">
            <a:spAutoFit/>
          </a:bodyPr>
          <a:lstStyle/>
          <a:p>
            <a:pPr marL="0" indent="0" algn="l">
              <a:spcAft>
                <a:spcPts val="200"/>
              </a:spcAft>
              <a:buNone/>
            </a:pPr>
            <a:r>
              <a:rPr sz="1300">
                <a:solidFill>
                  <a:srgbClr val="3D3A3B"/>
                </a:solidFill>
              </a:rPr>
              <a:t>Questions</a:t>
            </a:r>
          </a:p>
        </p:txBody>
      </p:sp>
      <p:sp>
        <p:nvSpPr>
          <p:cNvPr id="31" name="TextBox 30"/>
          <p:cNvSpPr txBox="1"/>
          <p:nvPr/>
        </p:nvSpPr>
        <p:spPr>
          <a:xfrm>
            <a:off x="3950208" y="5486400"/>
            <a:ext cx="1280160" cy="365760"/>
          </a:xfrm>
          <a:prstGeom prst="rect">
            <a:avLst/>
          </a:prstGeom>
          <a:noFill/>
        </p:spPr>
        <p:txBody>
          <a:bodyPr wrap="square" lIns="45720" tIns="27432" rIns="45720" bIns="27432" anchor="ctr">
            <a:spAutoFit/>
          </a:bodyPr>
          <a:lstStyle/>
          <a:p>
            <a:pPr marL="0" indent="0" algn="l">
              <a:spcAft>
                <a:spcPts val="200"/>
              </a:spcAft>
              <a:buNone/>
            </a:pPr>
            <a:r>
              <a:rPr sz="1100">
                <a:solidFill>
                  <a:srgbClr val="6E6B6C"/>
                </a:solidFill>
              </a:rPr>
              <a:t>Everyone</a:t>
            </a:r>
          </a:p>
        </p:txBody>
      </p:sp>
      <p:sp>
        <p:nvSpPr>
          <p:cNvPr id="32" name="TextBox 31"/>
          <p:cNvSpPr txBox="1"/>
          <p:nvPr/>
        </p:nvSpPr>
        <p:spPr>
          <a:xfrm>
            <a:off x="5669280" y="2971800"/>
            <a:ext cx="4389120" cy="320040"/>
          </a:xfrm>
          <a:prstGeom prst="rect">
            <a:avLst/>
          </a:prstGeom>
          <a:noFill/>
        </p:spPr>
        <p:txBody>
          <a:bodyPr wrap="square" lIns="45720" tIns="27432" rIns="45720" bIns="27432" anchor="t">
            <a:spAutoFit/>
          </a:bodyPr>
          <a:lstStyle/>
          <a:p>
            <a:pPr marL="0" indent="0" algn="l">
              <a:spcAft>
                <a:spcPts val="200"/>
              </a:spcAft>
              <a:buNone/>
            </a:pPr>
            <a:r>
              <a:rPr sz="1400" b="1">
                <a:solidFill>
                  <a:srgbClr val="3D3A3B"/>
                </a:solidFill>
              </a:rPr>
              <a:t>Who did what</a:t>
            </a:r>
          </a:p>
        </p:txBody>
      </p:sp>
      <p:sp>
        <p:nvSpPr>
          <p:cNvPr id="33" name="Rounded Rectangle 32"/>
          <p:cNvSpPr/>
          <p:nvPr/>
        </p:nvSpPr>
        <p:spPr>
          <a:xfrm>
            <a:off x="5669280" y="3337560"/>
            <a:ext cx="214884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marL="0" indent="0" algn="l">
              <a:spcAft>
                <a:spcPts val="200"/>
              </a:spcAft>
              <a:buNone/>
            </a:pPr>
            <a:r>
              <a:rPr sz="1300" b="1">
                <a:solidFill>
                  <a:srgbClr val="E3051E"/>
                </a:solidFill>
              </a:rPr>
              <a:t>Tuan</a:t>
            </a:r>
            <a:r>
              <a:rPr sz="1100">
                <a:solidFill>
                  <a:srgbClr val="6E6B6C"/>
                </a:solidFill>
              </a:rPr>
              <a:t>  Team lead, CI/CD</a:t>
            </a:r>
          </a:p>
          <a:p>
            <a:pPr marL="0" indent="0" algn="l">
              <a:spcAft>
                <a:spcPts val="200"/>
              </a:spcAft>
              <a:buNone/>
            </a:pPr>
            <a:r>
              <a:rPr sz="1050">
                <a:solidFill>
                  <a:srgbClr val="3D3A3B"/>
                </a:solidFill>
              </a:rPr>
              <a:t>GitHub Actions workflow, Staging and Production deploys, approval gate</a:t>
            </a:r>
          </a:p>
        </p:txBody>
      </p:sp>
      <p:sp>
        <p:nvSpPr>
          <p:cNvPr id="34" name="Rounded Rectangle 33"/>
          <p:cNvSpPr/>
          <p:nvPr/>
        </p:nvSpPr>
        <p:spPr>
          <a:xfrm>
            <a:off x="7909560" y="3337560"/>
            <a:ext cx="214884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marL="0" indent="0" algn="l">
              <a:spcAft>
                <a:spcPts val="200"/>
              </a:spcAft>
              <a:buNone/>
            </a:pPr>
            <a:r>
              <a:rPr sz="1300" b="1">
                <a:solidFill>
                  <a:srgbClr val="E3051E"/>
                </a:solidFill>
              </a:rPr>
              <a:t>Minh</a:t>
            </a:r>
            <a:r>
              <a:rPr sz="1100">
                <a:solidFill>
                  <a:srgbClr val="6E6B6C"/>
                </a:solidFill>
              </a:rPr>
              <a:t>  Application</a:t>
            </a:r>
          </a:p>
          <a:p>
            <a:pPr marL="0" indent="0" algn="l">
              <a:spcAft>
                <a:spcPts val="200"/>
              </a:spcAft>
              <a:buNone/>
            </a:pPr>
            <a:r>
              <a:rPr sz="1050">
                <a:solidFill>
                  <a:srgbClr val="3D3A3B"/>
                </a:solidFill>
              </a:rPr>
              <a:t>Express API, Vue front end, Docker Compose, metrics and stats page</a:t>
            </a:r>
          </a:p>
        </p:txBody>
      </p:sp>
      <p:sp>
        <p:nvSpPr>
          <p:cNvPr id="35" name="Rounded Rectangle 34"/>
          <p:cNvSpPr/>
          <p:nvPr/>
        </p:nvSpPr>
        <p:spPr>
          <a:xfrm>
            <a:off x="5669280" y="4709160"/>
            <a:ext cx="214884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marL="0" indent="0" algn="l">
              <a:spcAft>
                <a:spcPts val="200"/>
              </a:spcAft>
              <a:buNone/>
            </a:pPr>
            <a:r>
              <a:rPr sz="1300" b="1">
                <a:solidFill>
                  <a:srgbClr val="E3051E"/>
                </a:solidFill>
              </a:rPr>
              <a:t>Vinh</a:t>
            </a:r>
            <a:r>
              <a:rPr sz="1100">
                <a:solidFill>
                  <a:srgbClr val="6E6B6C"/>
                </a:solidFill>
              </a:rPr>
              <a:t>  Test and QA</a:t>
            </a:r>
          </a:p>
          <a:p>
            <a:pPr marL="0" indent="0" algn="l">
              <a:spcAft>
                <a:spcPts val="200"/>
              </a:spcAft>
              <a:buNone/>
            </a:pPr>
            <a:r>
              <a:rPr sz="1050">
                <a:solidFill>
                  <a:srgbClr val="3D3A3B"/>
                </a:solidFill>
              </a:rPr>
              <a:t>Unit, integration and Playwright end-to-end tests, coverage gate</a:t>
            </a:r>
          </a:p>
        </p:txBody>
      </p:sp>
      <p:sp>
        <p:nvSpPr>
          <p:cNvPr id="36" name="Rounded Rectangle 35"/>
          <p:cNvSpPr/>
          <p:nvPr/>
        </p:nvSpPr>
        <p:spPr>
          <a:xfrm>
            <a:off x="7909560" y="4709160"/>
            <a:ext cx="2148840" cy="126187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marL="0" indent="0" algn="l">
              <a:spcAft>
                <a:spcPts val="200"/>
              </a:spcAft>
              <a:buNone/>
            </a:pPr>
            <a:r>
              <a:rPr sz="1300" b="1">
                <a:solidFill>
                  <a:srgbClr val="E3051E"/>
                </a:solidFill>
              </a:rPr>
              <a:t>Duc</a:t>
            </a:r>
            <a:r>
              <a:rPr sz="1100">
                <a:solidFill>
                  <a:srgbClr val="6E6B6C"/>
                </a:solidFill>
              </a:rPr>
              <a:t>  Infrastructure</a:t>
            </a:r>
          </a:p>
          <a:p>
            <a:pPr marL="0" indent="0" algn="l">
              <a:spcAft>
                <a:spcPts val="200"/>
              </a:spcAft>
              <a:buNone/>
            </a:pPr>
            <a:r>
              <a:rPr sz="1050">
                <a:solidFill>
                  <a:srgbClr val="3D3A3B"/>
                </a:solidFill>
              </a:rPr>
              <a:t>EC2 servers, Nginx, Prometheus, Grafana, alerts and load test</a:t>
            </a:r>
          </a:p>
        </p:txBody>
      </p:sp>
    </p:spTree>
    <p:extLst>
      <p:ext uri="{BB962C8B-B14F-4D97-AF65-F5344CB8AC3E}">
        <p14:creationId xmlns:p14="http://schemas.microsoft.com/office/powerpoint/2010/main" val="1969390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81896-B92F-E740-936F-9B599B806A3E}"/>
              </a:ext>
            </a:extLst>
          </p:cNvPr>
          <p:cNvSpPr>
            <a:spLocks noGrp="1"/>
          </p:cNvSpPr>
          <p:nvPr>
            <p:ph type="ctrTitle"/>
          </p:nvPr>
        </p:nvSpPr>
        <p:spPr>
          <a:xfrm>
            <a:off x="429768" y="448056"/>
            <a:ext cx="9683496" cy="585216"/>
          </a:xfrm>
        </p:spPr>
        <p:txBody>
          <a:bodyPr/>
          <a:lstStyle/>
          <a:p>
            <a:r>
              <a:t>Project Background and Problem Statement</a:t>
            </a:r>
          </a:p>
        </p:txBody>
      </p:sp>
      <p:sp>
        <p:nvSpPr>
          <p:cNvPr id="4" name="Text Placeholder 3">
            <a:extLst>
              <a:ext uri="{FF2B5EF4-FFF2-40B4-BE49-F238E27FC236}">
                <a16:creationId xmlns:a16="http://schemas.microsoft.com/office/drawing/2014/main" id="{411A05A9-373C-0045-BD46-B81230D24595}"/>
              </a:ext>
            </a:extLst>
          </p:cNvPr>
          <p:cNvSpPr>
            <a:spLocks noGrp="1"/>
          </p:cNvSpPr>
          <p:nvPr>
            <p:ph type="body" sz="quarter" idx="10"/>
          </p:nvPr>
        </p:nvSpPr>
        <p:spPr>
          <a:xfrm>
            <a:off x="429768" y="1115568"/>
            <a:ext cx="9683496" cy="457200"/>
          </a:xfrm>
        </p:spPr>
        <p:txBody>
          <a:bodyPr/>
          <a:lstStyle/>
          <a:p>
            <a:r>
              <a:rPr sz="1500"/>
              <a:t>Deploying by hand is slow, risky and invisible. A pipeline makes every release automatic, tested and visible.</a:t>
            </a:r>
            <a:endParaRPr lang="en-US"/>
          </a:p>
        </p:txBody>
      </p:sp>
      <p:sp>
        <p:nvSpPr>
          <p:cNvPr id="5" name="TextBox 4"/>
          <p:cNvSpPr txBox="1"/>
          <p:nvPr/>
        </p:nvSpPr>
        <p:spPr>
          <a:xfrm>
            <a:off x="429768" y="1783080"/>
            <a:ext cx="4663440" cy="320040"/>
          </a:xfrm>
          <a:prstGeom prst="rect">
            <a:avLst/>
          </a:prstGeom>
          <a:noFill/>
        </p:spPr>
        <p:txBody>
          <a:bodyPr wrap="square" lIns="45720" tIns="27432" rIns="45720" bIns="27432" anchor="t">
            <a:spAutoFit/>
          </a:bodyPr>
          <a:lstStyle/>
          <a:p>
            <a:pPr marL="0" indent="0" algn="l">
              <a:spcAft>
                <a:spcPts val="200"/>
              </a:spcAft>
              <a:buNone/>
            </a:pPr>
            <a:r>
              <a:rPr sz="1400" b="1">
                <a:solidFill>
                  <a:srgbClr val="3D3A3B"/>
                </a:solidFill>
              </a:rPr>
              <a:t>The problem without a pipeline</a:t>
            </a:r>
          </a:p>
        </p:txBody>
      </p:sp>
      <p:sp>
        <p:nvSpPr>
          <p:cNvPr id="6" name="Oval 5"/>
          <p:cNvSpPr/>
          <p:nvPr/>
        </p:nvSpPr>
        <p:spPr>
          <a:xfrm>
            <a:off x="429768" y="2194560"/>
            <a:ext cx="384048" cy="384048"/>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600" b="1">
                <a:solidFill>
                  <a:srgbClr val="FFFFFF"/>
                </a:solidFill>
              </a:rPr>
              <a:t>!</a:t>
            </a:r>
          </a:p>
        </p:txBody>
      </p:sp>
      <p:sp>
        <p:nvSpPr>
          <p:cNvPr id="7" name="TextBox 6"/>
          <p:cNvSpPr txBox="1"/>
          <p:nvPr/>
        </p:nvSpPr>
        <p:spPr>
          <a:xfrm>
            <a:off x="932688" y="2148840"/>
            <a:ext cx="4160520" cy="914400"/>
          </a:xfrm>
          <a:prstGeom prst="rect">
            <a:avLst/>
          </a:prstGeom>
          <a:noFill/>
        </p:spPr>
        <p:txBody>
          <a:bodyPr wrap="square" lIns="45720" tIns="27432" rIns="45720" bIns="27432" anchor="t">
            <a:spAutoFit/>
          </a:bodyPr>
          <a:lstStyle/>
          <a:p>
            <a:pPr marL="0" indent="0" algn="l">
              <a:spcAft>
                <a:spcPts val="100"/>
              </a:spcAft>
              <a:buNone/>
            </a:pPr>
            <a:r>
              <a:rPr sz="1250" b="1">
                <a:solidFill>
                  <a:srgbClr val="3D3A3B"/>
                </a:solidFill>
              </a:rPr>
              <a:t>Manual, repeated steps</a:t>
            </a:r>
          </a:p>
          <a:p>
            <a:pPr marL="0" indent="0" algn="l">
              <a:spcAft>
                <a:spcPts val="100"/>
              </a:spcAft>
              <a:buNone/>
            </a:pPr>
            <a:r>
              <a:rPr sz="1100">
                <a:solidFill>
                  <a:srgbClr val="3D3A3B"/>
                </a:solidFill>
              </a:rPr>
              <a:t>Build, copy, restart on the server by hand. Every release takes time and can be done differently each time.</a:t>
            </a:r>
          </a:p>
        </p:txBody>
      </p:sp>
      <p:sp>
        <p:nvSpPr>
          <p:cNvPr id="8" name="Oval 7"/>
          <p:cNvSpPr/>
          <p:nvPr/>
        </p:nvSpPr>
        <p:spPr>
          <a:xfrm>
            <a:off x="429768" y="3182112"/>
            <a:ext cx="384048" cy="384048"/>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600" b="1">
                <a:solidFill>
                  <a:srgbClr val="FFFFFF"/>
                </a:solidFill>
              </a:rPr>
              <a:t>!</a:t>
            </a:r>
          </a:p>
        </p:txBody>
      </p:sp>
      <p:sp>
        <p:nvSpPr>
          <p:cNvPr id="9" name="TextBox 8"/>
          <p:cNvSpPr txBox="1"/>
          <p:nvPr/>
        </p:nvSpPr>
        <p:spPr>
          <a:xfrm>
            <a:off x="932688" y="3136392"/>
            <a:ext cx="4160520" cy="914400"/>
          </a:xfrm>
          <a:prstGeom prst="rect">
            <a:avLst/>
          </a:prstGeom>
          <a:noFill/>
        </p:spPr>
        <p:txBody>
          <a:bodyPr wrap="square" lIns="45720" tIns="27432" rIns="45720" bIns="27432" anchor="t">
            <a:spAutoFit/>
          </a:bodyPr>
          <a:lstStyle/>
          <a:p>
            <a:pPr marL="0" indent="0" algn="l">
              <a:spcAft>
                <a:spcPts val="100"/>
              </a:spcAft>
              <a:buNone/>
            </a:pPr>
            <a:r>
              <a:rPr sz="1250" b="1">
                <a:solidFill>
                  <a:srgbClr val="3D3A3B"/>
                </a:solidFill>
              </a:rPr>
              <a:t>Untested changes reach users</a:t>
            </a:r>
          </a:p>
          <a:p>
            <a:pPr marL="0" indent="0" algn="l">
              <a:spcAft>
                <a:spcPts val="100"/>
              </a:spcAft>
              <a:buNone/>
            </a:pPr>
            <a:r>
              <a:rPr sz="1100">
                <a:solidFill>
                  <a:srgbClr val="3D3A3B"/>
                </a:solidFill>
              </a:rPr>
              <a:t>Nothing stops a broken commit. Bugs are found by users, not by tests.</a:t>
            </a:r>
          </a:p>
        </p:txBody>
      </p:sp>
      <p:sp>
        <p:nvSpPr>
          <p:cNvPr id="10" name="Oval 9"/>
          <p:cNvSpPr/>
          <p:nvPr/>
        </p:nvSpPr>
        <p:spPr>
          <a:xfrm>
            <a:off x="429768" y="4169663"/>
            <a:ext cx="384048" cy="384048"/>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600" b="1">
                <a:solidFill>
                  <a:srgbClr val="FFFFFF"/>
                </a:solidFill>
              </a:rPr>
              <a:t>!</a:t>
            </a:r>
          </a:p>
        </p:txBody>
      </p:sp>
      <p:sp>
        <p:nvSpPr>
          <p:cNvPr id="11" name="TextBox 10"/>
          <p:cNvSpPr txBox="1"/>
          <p:nvPr/>
        </p:nvSpPr>
        <p:spPr>
          <a:xfrm>
            <a:off x="932688" y="4123944"/>
            <a:ext cx="4160520" cy="914400"/>
          </a:xfrm>
          <a:prstGeom prst="rect">
            <a:avLst/>
          </a:prstGeom>
          <a:noFill/>
        </p:spPr>
        <p:txBody>
          <a:bodyPr wrap="square" lIns="45720" tIns="27432" rIns="45720" bIns="27432" anchor="t">
            <a:spAutoFit/>
          </a:bodyPr>
          <a:lstStyle/>
          <a:p>
            <a:pPr marL="0" indent="0" algn="l">
              <a:spcAft>
                <a:spcPts val="100"/>
              </a:spcAft>
              <a:buNone/>
            </a:pPr>
            <a:r>
              <a:rPr sz="1250" b="1">
                <a:solidFill>
                  <a:srgbClr val="3D3A3B"/>
                </a:solidFill>
              </a:rPr>
              <a:t>No visibility in Production</a:t>
            </a:r>
          </a:p>
          <a:p>
            <a:pPr marL="0" indent="0" algn="l">
              <a:spcAft>
                <a:spcPts val="100"/>
              </a:spcAft>
              <a:buNone/>
            </a:pPr>
            <a:r>
              <a:rPr sz="1100">
                <a:solidFill>
                  <a:srgbClr val="3D3A3B"/>
                </a:solidFill>
              </a:rPr>
              <a:t>Nobody knows which version is running, how fast it responds, or when it fails.</a:t>
            </a:r>
          </a:p>
        </p:txBody>
      </p:sp>
      <p:sp>
        <p:nvSpPr>
          <p:cNvPr id="12" name="Oval 11"/>
          <p:cNvSpPr/>
          <p:nvPr/>
        </p:nvSpPr>
        <p:spPr>
          <a:xfrm>
            <a:off x="429768" y="5157216"/>
            <a:ext cx="384048" cy="384048"/>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600" b="1">
                <a:solidFill>
                  <a:srgbClr val="FFFFFF"/>
                </a:solidFill>
              </a:rPr>
              <a:t>!</a:t>
            </a:r>
          </a:p>
        </p:txBody>
      </p:sp>
      <p:sp>
        <p:nvSpPr>
          <p:cNvPr id="13" name="TextBox 12"/>
          <p:cNvSpPr txBox="1"/>
          <p:nvPr/>
        </p:nvSpPr>
        <p:spPr>
          <a:xfrm>
            <a:off x="932688" y="5111496"/>
            <a:ext cx="4160520" cy="914400"/>
          </a:xfrm>
          <a:prstGeom prst="rect">
            <a:avLst/>
          </a:prstGeom>
          <a:noFill/>
        </p:spPr>
        <p:txBody>
          <a:bodyPr wrap="square" lIns="45720" tIns="27432" rIns="45720" bIns="27432" anchor="t">
            <a:spAutoFit/>
          </a:bodyPr>
          <a:lstStyle/>
          <a:p>
            <a:pPr marL="0" indent="0" algn="l">
              <a:spcAft>
                <a:spcPts val="100"/>
              </a:spcAft>
              <a:buNone/>
            </a:pPr>
            <a:r>
              <a:rPr sz="1250" b="1">
                <a:solidFill>
                  <a:srgbClr val="3D3A3B"/>
                </a:solidFill>
              </a:rPr>
              <a:t>No way back</a:t>
            </a:r>
          </a:p>
          <a:p>
            <a:pPr marL="0" indent="0" algn="l">
              <a:spcAft>
                <a:spcPts val="100"/>
              </a:spcAft>
              <a:buNone/>
            </a:pPr>
            <a:r>
              <a:rPr sz="1100">
                <a:solidFill>
                  <a:srgbClr val="3D3A3B"/>
                </a:solidFill>
              </a:rPr>
              <a:t>A bad release has no previous version to return to, so an outage lasts as long as the fix takes.</a:t>
            </a:r>
          </a:p>
        </p:txBody>
      </p:sp>
      <p:sp>
        <p:nvSpPr>
          <p:cNvPr id="14" name="TextBox 13"/>
          <p:cNvSpPr txBox="1"/>
          <p:nvPr/>
        </p:nvSpPr>
        <p:spPr>
          <a:xfrm>
            <a:off x="5577840" y="1783080"/>
            <a:ext cx="4480560" cy="320040"/>
          </a:xfrm>
          <a:prstGeom prst="rect">
            <a:avLst/>
          </a:prstGeom>
          <a:noFill/>
        </p:spPr>
        <p:txBody>
          <a:bodyPr wrap="square" lIns="45720" tIns="27432" rIns="45720" bIns="27432" anchor="t">
            <a:spAutoFit/>
          </a:bodyPr>
          <a:lstStyle/>
          <a:p>
            <a:pPr marL="0" indent="0" algn="l">
              <a:spcAft>
                <a:spcPts val="200"/>
              </a:spcAft>
              <a:buNone/>
            </a:pPr>
            <a:r>
              <a:rPr sz="1400" b="1">
                <a:solidFill>
                  <a:srgbClr val="3D3A3B"/>
                </a:solidFill>
              </a:rPr>
              <a:t>What the unit asks for, and what we built</a:t>
            </a:r>
          </a:p>
        </p:txBody>
      </p:sp>
      <p:sp>
        <p:nvSpPr>
          <p:cNvPr id="15" name="Rounded Rectangle 14"/>
          <p:cNvSpPr/>
          <p:nvPr/>
        </p:nvSpPr>
        <p:spPr>
          <a:xfrm>
            <a:off x="5577840" y="2148840"/>
            <a:ext cx="4526280" cy="89611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594360" rtlCol="0" anchor="t"/>
          <a:lstStyle/>
          <a:p>
            <a:pPr marL="0" indent="0" algn="l">
              <a:spcAft>
                <a:spcPts val="200"/>
              </a:spcAft>
              <a:buNone/>
            </a:pPr>
            <a:r>
              <a:rPr sz="1200" b="1">
                <a:solidFill>
                  <a:srgbClr val="E3051E"/>
                </a:solidFill>
              </a:rPr>
              <a:t>Level 1  </a:t>
            </a:r>
            <a:r>
              <a:rPr sz="1200" b="1">
                <a:solidFill>
                  <a:srgbClr val="3D3A3B"/>
                </a:solidFill>
              </a:rPr>
              <a:t>Pipeline infrastructure</a:t>
            </a:r>
          </a:p>
          <a:p>
            <a:pPr marL="0" indent="0" algn="l">
              <a:spcAft>
                <a:spcPts val="200"/>
              </a:spcAft>
              <a:buNone/>
            </a:pPr>
            <a:r>
              <a:rPr sz="1050">
                <a:solidFill>
                  <a:srgbClr val="3D3A3B"/>
                </a:solidFill>
              </a:rPr>
              <a:t>Four environments: repository, CI/build, test/staging, production</a:t>
            </a:r>
          </a:p>
        </p:txBody>
      </p:sp>
      <p:sp>
        <p:nvSpPr>
          <p:cNvPr id="16" name="Oval 15"/>
          <p:cNvSpPr/>
          <p:nvPr/>
        </p:nvSpPr>
        <p:spPr>
          <a:xfrm>
            <a:off x="9646920" y="2240280"/>
            <a:ext cx="329184" cy="329184"/>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a:t>
            </a:r>
          </a:p>
        </p:txBody>
      </p:sp>
      <p:sp>
        <p:nvSpPr>
          <p:cNvPr id="17" name="Rounded Rectangle 16"/>
          <p:cNvSpPr/>
          <p:nvPr/>
        </p:nvSpPr>
        <p:spPr>
          <a:xfrm>
            <a:off x="5577840" y="3136392"/>
            <a:ext cx="4526280" cy="89611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594360" rtlCol="0" anchor="t"/>
          <a:lstStyle/>
          <a:p>
            <a:pPr marL="0" indent="0" algn="l">
              <a:spcAft>
                <a:spcPts val="200"/>
              </a:spcAft>
              <a:buNone/>
            </a:pPr>
            <a:r>
              <a:rPr sz="1200" b="1">
                <a:solidFill>
                  <a:srgbClr val="E3051E"/>
                </a:solidFill>
              </a:rPr>
              <a:t>Level 2  </a:t>
            </a:r>
            <a:r>
              <a:rPr sz="1200" b="1">
                <a:solidFill>
                  <a:srgbClr val="3D3A3B"/>
                </a:solidFill>
              </a:rPr>
              <a:t>Instrumentation and monitoring</a:t>
            </a:r>
          </a:p>
          <a:p>
            <a:pPr marL="0" indent="0" algn="l">
              <a:spcAft>
                <a:spcPts val="200"/>
              </a:spcAft>
              <a:buNone/>
            </a:pPr>
            <a:r>
              <a:rPr sz="1050">
                <a:solidFill>
                  <a:srgbClr val="3D3A3B"/>
                </a:solidFill>
              </a:rPr>
              <a:t>CPU, RAM, disk, network and request latency on Production</a:t>
            </a:r>
          </a:p>
        </p:txBody>
      </p:sp>
      <p:sp>
        <p:nvSpPr>
          <p:cNvPr id="18" name="Oval 17"/>
          <p:cNvSpPr/>
          <p:nvPr/>
        </p:nvSpPr>
        <p:spPr>
          <a:xfrm>
            <a:off x="9646920" y="3227832"/>
            <a:ext cx="329184" cy="329184"/>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a:t>
            </a:r>
          </a:p>
        </p:txBody>
      </p:sp>
      <p:sp>
        <p:nvSpPr>
          <p:cNvPr id="19" name="Rounded Rectangle 18"/>
          <p:cNvSpPr/>
          <p:nvPr/>
        </p:nvSpPr>
        <p:spPr>
          <a:xfrm>
            <a:off x="5577840" y="4123944"/>
            <a:ext cx="4526280" cy="89611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594360" rtlCol="0" anchor="t"/>
          <a:lstStyle/>
          <a:p>
            <a:pPr marL="0" indent="0" algn="l">
              <a:spcAft>
                <a:spcPts val="200"/>
              </a:spcAft>
              <a:buNone/>
            </a:pPr>
            <a:r>
              <a:rPr sz="1200" b="1">
                <a:solidFill>
                  <a:srgbClr val="E3051E"/>
                </a:solidFill>
              </a:rPr>
              <a:t>Level 3  </a:t>
            </a:r>
            <a:r>
              <a:rPr sz="1200" b="1">
                <a:solidFill>
                  <a:srgbClr val="3D3A3B"/>
                </a:solidFill>
              </a:rPr>
              <a:t>Application deployment and verification</a:t>
            </a:r>
          </a:p>
          <a:p>
            <a:pPr marL="0" indent="0" algn="l">
              <a:spcAft>
                <a:spcPts val="200"/>
              </a:spcAft>
              <a:buNone/>
            </a:pPr>
            <a:r>
              <a:rPr sz="1050">
                <a:solidFill>
                  <a:srgbClr val="3D3A3B"/>
                </a:solidFill>
              </a:rPr>
              <a:t>A working app with unit, integration and end-to-end tests before Production</a:t>
            </a:r>
          </a:p>
        </p:txBody>
      </p:sp>
      <p:sp>
        <p:nvSpPr>
          <p:cNvPr id="20" name="Oval 19"/>
          <p:cNvSpPr/>
          <p:nvPr/>
        </p:nvSpPr>
        <p:spPr>
          <a:xfrm>
            <a:off x="9646920" y="4215383"/>
            <a:ext cx="329184" cy="329184"/>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a:t>
            </a:r>
          </a:p>
        </p:txBody>
      </p:sp>
      <p:sp>
        <p:nvSpPr>
          <p:cNvPr id="21" name="Rounded Rectangle 20"/>
          <p:cNvSpPr/>
          <p:nvPr/>
        </p:nvSpPr>
        <p:spPr>
          <a:xfrm>
            <a:off x="5577840" y="5111496"/>
            <a:ext cx="4526280" cy="89611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594360" rtlCol="0" anchor="t"/>
          <a:lstStyle/>
          <a:p>
            <a:pPr marL="0" indent="0" algn="l">
              <a:spcAft>
                <a:spcPts val="200"/>
              </a:spcAft>
              <a:buNone/>
            </a:pPr>
            <a:r>
              <a:rPr sz="1200" b="1">
                <a:solidFill>
                  <a:srgbClr val="E3051E"/>
                </a:solidFill>
              </a:rPr>
              <a:t>Level 4  </a:t>
            </a:r>
            <a:r>
              <a:rPr sz="1200" b="1">
                <a:solidFill>
                  <a:srgbClr val="3D3A3B"/>
                </a:solidFill>
              </a:rPr>
              <a:t>Full automation</a:t>
            </a:r>
          </a:p>
          <a:p>
            <a:pPr marL="0" indent="0" algn="l">
              <a:spcAft>
                <a:spcPts val="200"/>
              </a:spcAft>
              <a:buNone/>
            </a:pPr>
            <a:r>
              <a:rPr sz="1050">
                <a:solidFill>
                  <a:srgbClr val="3D3A3B"/>
                </a:solidFill>
              </a:rPr>
              <a:t>A visible code change pushed to the repository flows to Production on its own</a:t>
            </a:r>
          </a:p>
        </p:txBody>
      </p:sp>
      <p:sp>
        <p:nvSpPr>
          <p:cNvPr id="22" name="Oval 21"/>
          <p:cNvSpPr/>
          <p:nvPr/>
        </p:nvSpPr>
        <p:spPr>
          <a:xfrm>
            <a:off x="9646920" y="5202936"/>
            <a:ext cx="329184" cy="329184"/>
          </a:xfrm>
          <a:prstGeom prst="ellipse">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a:t>
            </a:r>
          </a:p>
        </p:txBody>
      </p:sp>
    </p:spTree>
    <p:extLst>
      <p:ext uri="{BB962C8B-B14F-4D97-AF65-F5344CB8AC3E}">
        <p14:creationId xmlns:p14="http://schemas.microsoft.com/office/powerpoint/2010/main" val="2193753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4AB83-F7B4-2C43-BEA5-E416856D04DE}"/>
              </a:ext>
            </a:extLst>
          </p:cNvPr>
          <p:cNvSpPr>
            <a:spLocks noGrp="1"/>
          </p:cNvSpPr>
          <p:nvPr>
            <p:ph type="ctrTitle"/>
          </p:nvPr>
        </p:nvSpPr>
        <p:spPr>
          <a:xfrm>
            <a:off x="429768" y="448056"/>
            <a:ext cx="9683496" cy="585216"/>
          </a:xfrm>
        </p:spPr>
        <p:txBody>
          <a:bodyPr/>
          <a:lstStyle/>
          <a:p>
            <a:r>
              <a:t>Project Scope and Objectives</a:t>
            </a:r>
          </a:p>
        </p:txBody>
      </p:sp>
      <p:sp>
        <p:nvSpPr>
          <p:cNvPr id="4" name="Text Placeholder 3">
            <a:extLst>
              <a:ext uri="{FF2B5EF4-FFF2-40B4-BE49-F238E27FC236}">
                <a16:creationId xmlns:a16="http://schemas.microsoft.com/office/drawing/2014/main" id="{51A73DD8-685B-B243-B018-D9338F9F7B5C}"/>
              </a:ext>
            </a:extLst>
          </p:cNvPr>
          <p:cNvSpPr>
            <a:spLocks noGrp="1"/>
          </p:cNvSpPr>
          <p:nvPr>
            <p:ph type="body" sz="quarter" idx="10"/>
          </p:nvPr>
        </p:nvSpPr>
        <p:spPr>
          <a:xfrm>
            <a:off x="429768" y="1115568"/>
            <a:ext cx="9683496" cy="457200"/>
          </a:xfrm>
        </p:spPr>
        <p:txBody>
          <a:bodyPr/>
          <a:lstStyle/>
          <a:p>
            <a:r>
              <a:rPr sz="1500"/>
              <a:t>A small app on purpose: every stage of the pipeline can be shown working on it in minutes.</a:t>
            </a:r>
            <a:endParaRPr lang="en-US"/>
          </a:p>
        </p:txBody>
      </p:sp>
      <p:sp>
        <p:nvSpPr>
          <p:cNvPr id="5" name="Text Placeholder 4">
            <a:extLst>
              <a:ext uri="{FF2B5EF4-FFF2-40B4-BE49-F238E27FC236}">
                <a16:creationId xmlns:a16="http://schemas.microsoft.com/office/drawing/2014/main" id="{6F60F101-8E29-8241-9CF7-91F0544017AB}"/>
              </a:ext>
            </a:extLst>
          </p:cNvPr>
          <p:cNvSpPr>
            <a:spLocks noGrp="1"/>
          </p:cNvSpPr>
          <p:nvPr>
            <p:ph type="body" sz="quarter" idx="11"/>
          </p:nvPr>
        </p:nvSpPr>
        <p:spPr>
          <a:xfrm>
            <a:off x="429768" y="6336792"/>
            <a:ext cx="9683496" cy="246888"/>
          </a:xfrm>
        </p:spPr>
        <p:txBody>
          <a:bodyPr/>
          <a:lstStyle/>
          <a:p>
            <a:r>
              <a:rPr>
                <a:solidFill>
                  <a:srgbClr val="6E6B6C"/>
                </a:solidFill>
              </a:rPr>
              <a:t>Targets are the ones set in our Project Brief (Sections 2 and 4). Monitoring stack, alerts and rollback are covered on later slides.</a:t>
            </a:r>
            <a:endParaRPr lang="en-US"/>
          </a:p>
        </p:txBody>
      </p:sp>
      <p:sp>
        <p:nvSpPr>
          <p:cNvPr id="6" name="TextBox 5"/>
          <p:cNvSpPr txBox="1"/>
          <p:nvPr/>
        </p:nvSpPr>
        <p:spPr>
          <a:xfrm>
            <a:off x="429768" y="1691640"/>
            <a:ext cx="3931920" cy="320040"/>
          </a:xfrm>
          <a:prstGeom prst="rect">
            <a:avLst/>
          </a:prstGeom>
          <a:noFill/>
        </p:spPr>
        <p:txBody>
          <a:bodyPr wrap="square" lIns="45720" tIns="27432" rIns="45720" bIns="27432" anchor="t">
            <a:spAutoFit/>
          </a:bodyPr>
          <a:lstStyle/>
          <a:p>
            <a:pPr marL="0" indent="0" algn="l">
              <a:spcAft>
                <a:spcPts val="200"/>
              </a:spcAft>
              <a:buNone/>
            </a:pPr>
            <a:r>
              <a:rPr sz="1400" b="1">
                <a:solidFill>
                  <a:srgbClr val="3D3A3B"/>
                </a:solidFill>
              </a:rPr>
              <a:t>Target application: URL shortener</a:t>
            </a:r>
          </a:p>
        </p:txBody>
      </p:sp>
      <p:sp>
        <p:nvSpPr>
          <p:cNvPr id="7" name="Rounded Rectangle 6"/>
          <p:cNvSpPr/>
          <p:nvPr/>
        </p:nvSpPr>
        <p:spPr>
          <a:xfrm>
            <a:off x="429768" y="2103120"/>
            <a:ext cx="960120" cy="73152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400" b="1">
                <a:solidFill>
                  <a:srgbClr val="FFFFFF"/>
                </a:solidFill>
              </a:rPr>
              <a:t>web</a:t>
            </a:r>
          </a:p>
        </p:txBody>
      </p:sp>
      <p:sp>
        <p:nvSpPr>
          <p:cNvPr id="8" name="TextBox 7"/>
          <p:cNvSpPr txBox="1"/>
          <p:nvPr/>
        </p:nvSpPr>
        <p:spPr>
          <a:xfrm>
            <a:off x="1481328" y="2103120"/>
            <a:ext cx="2926080" cy="777240"/>
          </a:xfrm>
          <a:prstGeom prst="rect">
            <a:avLst/>
          </a:prstGeom>
          <a:noFill/>
        </p:spPr>
        <p:txBody>
          <a:bodyPr wrap="square" lIns="45720" tIns="27432" rIns="45720" bIns="27432" anchor="ctr">
            <a:spAutoFit/>
          </a:bodyPr>
          <a:lstStyle/>
          <a:p>
            <a:pPr marL="0" indent="0" algn="l">
              <a:spcAft>
                <a:spcPts val="100"/>
              </a:spcAft>
              <a:buNone/>
            </a:pPr>
            <a:r>
              <a:rPr sz="1200" b="1">
                <a:solidFill>
                  <a:srgbClr val="3D3A3B"/>
                </a:solidFill>
              </a:rPr>
              <a:t>Nginx + Vue 3</a:t>
            </a:r>
          </a:p>
          <a:p>
            <a:pPr marL="0" indent="0" algn="l">
              <a:spcAft>
                <a:spcPts val="100"/>
              </a:spcAft>
              <a:buNone/>
            </a:pPr>
            <a:r>
              <a:rPr sz="1050">
                <a:solidFill>
                  <a:srgbClr val="3D3A3B"/>
                </a:solidFill>
              </a:rPr>
              <a:t>Home page, stats page, version footer</a:t>
            </a:r>
          </a:p>
        </p:txBody>
      </p:sp>
      <p:sp>
        <p:nvSpPr>
          <p:cNvPr id="9" name="Down Arrow 8"/>
          <p:cNvSpPr/>
          <p:nvPr/>
        </p:nvSpPr>
        <p:spPr>
          <a:xfrm>
            <a:off x="813815" y="2834639"/>
            <a:ext cx="182880" cy="137160"/>
          </a:xfrm>
          <a:prstGeom prst="downArrow">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429768" y="2971800"/>
            <a:ext cx="960120" cy="73152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400" b="1">
                <a:solidFill>
                  <a:srgbClr val="FFFFFF"/>
                </a:solidFill>
              </a:rPr>
              <a:t>api</a:t>
            </a:r>
          </a:p>
        </p:txBody>
      </p:sp>
      <p:sp>
        <p:nvSpPr>
          <p:cNvPr id="11" name="TextBox 10"/>
          <p:cNvSpPr txBox="1"/>
          <p:nvPr/>
        </p:nvSpPr>
        <p:spPr>
          <a:xfrm>
            <a:off x="1481328" y="2971800"/>
            <a:ext cx="2926080" cy="777240"/>
          </a:xfrm>
          <a:prstGeom prst="rect">
            <a:avLst/>
          </a:prstGeom>
          <a:noFill/>
        </p:spPr>
        <p:txBody>
          <a:bodyPr wrap="square" lIns="45720" tIns="27432" rIns="45720" bIns="27432" anchor="ctr">
            <a:spAutoFit/>
          </a:bodyPr>
          <a:lstStyle/>
          <a:p>
            <a:pPr marL="0" indent="0" algn="l">
              <a:spcAft>
                <a:spcPts val="100"/>
              </a:spcAft>
              <a:buNone/>
            </a:pPr>
            <a:r>
              <a:rPr sz="1200" b="1">
                <a:solidFill>
                  <a:srgbClr val="3D3A3B"/>
                </a:solidFill>
              </a:rPr>
              <a:t>Node 22 + Express 5</a:t>
            </a:r>
          </a:p>
          <a:p>
            <a:pPr marL="0" indent="0" algn="l">
              <a:spcAft>
                <a:spcPts val="100"/>
              </a:spcAft>
              <a:buNone/>
            </a:pPr>
            <a:r>
              <a:rPr sz="1050">
                <a:solidFill>
                  <a:srgbClr val="3D3A3B"/>
                </a:solidFill>
              </a:rPr>
              <a:t>POST /api/links, GET /:code, stats, /health, /metrics</a:t>
            </a:r>
          </a:p>
        </p:txBody>
      </p:sp>
      <p:sp>
        <p:nvSpPr>
          <p:cNvPr id="12" name="Down Arrow 11"/>
          <p:cNvSpPr/>
          <p:nvPr/>
        </p:nvSpPr>
        <p:spPr>
          <a:xfrm>
            <a:off x="813815" y="3703320"/>
            <a:ext cx="182880" cy="137160"/>
          </a:xfrm>
          <a:prstGeom prst="downArrow">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12"/>
          <p:cNvSpPr/>
          <p:nvPr/>
        </p:nvSpPr>
        <p:spPr>
          <a:xfrm>
            <a:off x="429768" y="3840479"/>
            <a:ext cx="960120" cy="73152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400" b="1">
                <a:solidFill>
                  <a:srgbClr val="FFFFFF"/>
                </a:solidFill>
              </a:rPr>
              <a:t>db</a:t>
            </a:r>
          </a:p>
        </p:txBody>
      </p:sp>
      <p:sp>
        <p:nvSpPr>
          <p:cNvPr id="14" name="TextBox 13"/>
          <p:cNvSpPr txBox="1"/>
          <p:nvPr/>
        </p:nvSpPr>
        <p:spPr>
          <a:xfrm>
            <a:off x="1481328" y="3840479"/>
            <a:ext cx="2926080" cy="777240"/>
          </a:xfrm>
          <a:prstGeom prst="rect">
            <a:avLst/>
          </a:prstGeom>
          <a:noFill/>
        </p:spPr>
        <p:txBody>
          <a:bodyPr wrap="square" lIns="45720" tIns="27432" rIns="45720" bIns="27432" anchor="ctr">
            <a:spAutoFit/>
          </a:bodyPr>
          <a:lstStyle/>
          <a:p>
            <a:pPr marL="0" indent="0" algn="l">
              <a:spcAft>
                <a:spcPts val="100"/>
              </a:spcAft>
              <a:buNone/>
            </a:pPr>
            <a:r>
              <a:rPr sz="1200" b="1">
                <a:solidFill>
                  <a:srgbClr val="3D3A3B"/>
                </a:solidFill>
              </a:rPr>
              <a:t>PostgreSQL 17</a:t>
            </a:r>
          </a:p>
          <a:p>
            <a:pPr marL="0" indent="0" algn="l">
              <a:spcAft>
                <a:spcPts val="100"/>
              </a:spcAft>
              <a:buNone/>
            </a:pPr>
            <a:r>
              <a:rPr sz="1050">
                <a:solidFill>
                  <a:srgbClr val="3D3A3B"/>
                </a:solidFill>
              </a:rPr>
              <a:t>links and clicks tables, named volume</a:t>
            </a:r>
          </a:p>
        </p:txBody>
      </p:sp>
      <p:sp>
        <p:nvSpPr>
          <p:cNvPr id="15" name="TextBox 14"/>
          <p:cNvSpPr txBox="1"/>
          <p:nvPr/>
        </p:nvSpPr>
        <p:spPr>
          <a:xfrm>
            <a:off x="429768" y="4754880"/>
            <a:ext cx="3931920" cy="1371600"/>
          </a:xfrm>
          <a:prstGeom prst="rect">
            <a:avLst/>
          </a:prstGeom>
          <a:noFill/>
        </p:spPr>
        <p:txBody>
          <a:bodyPr wrap="square" lIns="45720" tIns="27432" rIns="45720" bIns="27432" anchor="t">
            <a:spAutoFit/>
          </a:bodyPr>
          <a:lstStyle/>
          <a:p>
            <a:pPr marL="0" indent="0" algn="l">
              <a:spcAft>
                <a:spcPts val="200"/>
              </a:spcAft>
              <a:buNone/>
            </a:pPr>
            <a:r>
              <a:rPr sz="1100" b="1">
                <a:solidFill>
                  <a:srgbClr val="3D3A3B"/>
                </a:solidFill>
              </a:rPr>
              <a:t>One Docker Compose file </a:t>
            </a:r>
            <a:r>
              <a:rPr sz="1100">
                <a:solidFill>
                  <a:srgbClr val="3D3A3B"/>
                </a:solidFill>
              </a:rPr>
              <a:t>runs the same three containers on a laptop, on Staging and on Production. Only the environment file changes. Images are tagged with the full commit SHA, never "latest".</a:t>
            </a:r>
          </a:p>
        </p:txBody>
      </p:sp>
      <p:sp>
        <p:nvSpPr>
          <p:cNvPr id="16" name="TextBox 15"/>
          <p:cNvSpPr txBox="1"/>
          <p:nvPr/>
        </p:nvSpPr>
        <p:spPr>
          <a:xfrm>
            <a:off x="4663440" y="1691640"/>
            <a:ext cx="5394960" cy="320040"/>
          </a:xfrm>
          <a:prstGeom prst="rect">
            <a:avLst/>
          </a:prstGeom>
          <a:noFill/>
        </p:spPr>
        <p:txBody>
          <a:bodyPr wrap="square" lIns="45720" tIns="27432" rIns="45720" bIns="27432" anchor="t">
            <a:spAutoFit/>
          </a:bodyPr>
          <a:lstStyle/>
          <a:p>
            <a:pPr marL="0" indent="0" algn="l">
              <a:spcAft>
                <a:spcPts val="200"/>
              </a:spcAft>
              <a:buNone/>
            </a:pPr>
            <a:r>
              <a:rPr sz="1400" b="1">
                <a:solidFill>
                  <a:srgbClr val="3D3A3B"/>
                </a:solidFill>
              </a:rPr>
              <a:t>The four environments and the automation boundary</a:t>
            </a:r>
          </a:p>
        </p:txBody>
      </p:sp>
      <p:graphicFrame>
        <p:nvGraphicFramePr>
          <p:cNvPr id="17" name="Environments table"/>
          <p:cNvGraphicFramePr>
            <a:graphicFrameLocks noGrp="1"/>
          </p:cNvGraphicFramePr>
          <p:nvPr/>
        </p:nvGraphicFramePr>
        <p:xfrm>
          <a:off x="4663440" y="2103120"/>
          <a:ext cx="5440680" cy="1956816"/>
        </p:xfrm>
        <a:graphic>
          <a:graphicData uri="http://schemas.openxmlformats.org/drawingml/2006/table">
            <a:tbl>
              <a:tblPr>
                <a:tableStyleId>{5C22544A-7EE6-4342-B048-85BDC9FD1C3A}</a:tableStyleId>
              </a:tblPr>
              <a:tblGrid>
                <a:gridCol w="13258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84048">
                <a:tc>
                  <a:txBody>
                    <a:bodyPr/>
                    <a:lstStyle/>
                    <a:p>
                      <a:pPr marL="0" indent="0">
                        <a:buNone/>
                      </a:pPr>
                      <a:r>
                        <a:rPr sz="1050" b="1">
                          <a:solidFill>
                            <a:srgbClr val="FFFFFF"/>
                          </a:solidFill>
                        </a:rPr>
                        <a:t>Environment</a:t>
                      </a:r>
                    </a:p>
                  </a:txBody>
                  <a:tcPr marL="73152" marR="73152" marT="36576" marB="36576" anchor="ctr">
                    <a:solidFill>
                      <a:srgbClr val="3D3A3B"/>
                    </a:solidFill>
                  </a:tcPr>
                </a:tc>
                <a:tc>
                  <a:txBody>
                    <a:bodyPr/>
                    <a:lstStyle/>
                    <a:p>
                      <a:pPr marL="0" indent="0">
                        <a:buNone/>
                      </a:pPr>
                      <a:r>
                        <a:rPr sz="1050" b="1">
                          <a:solidFill>
                            <a:srgbClr val="FFFFFF"/>
                          </a:solidFill>
                        </a:rPr>
                        <a:t>Tool</a:t>
                      </a:r>
                    </a:p>
                  </a:txBody>
                  <a:tcPr marL="73152" marR="73152" marT="36576" marB="36576" anchor="ctr">
                    <a:solidFill>
                      <a:srgbClr val="3D3A3B"/>
                    </a:solidFill>
                  </a:tcPr>
                </a:tc>
                <a:tc>
                  <a:txBody>
                    <a:bodyPr/>
                    <a:lstStyle/>
                    <a:p>
                      <a:pPr marL="0" indent="0">
                        <a:buNone/>
                      </a:pPr>
                      <a:r>
                        <a:rPr sz="1050" b="1">
                          <a:solidFill>
                            <a:srgbClr val="FFFFFF"/>
                          </a:solidFill>
                        </a:rPr>
                        <a:t>What happens there</a:t>
                      </a:r>
                    </a:p>
                  </a:txBody>
                  <a:tcPr marL="73152" marR="73152" marT="36576" marB="36576" anchor="ctr">
                    <a:solidFill>
                      <a:srgbClr val="3D3A3B"/>
                    </a:solidFill>
                  </a:tcPr>
                </a:tc>
                <a:extLst>
                  <a:ext uri="{0D108BD9-81ED-4DB2-BD59-A6C34878D82A}">
                    <a16:rowId xmlns:a16="http://schemas.microsoft.com/office/drawing/2014/main" val="10000"/>
                  </a:ext>
                </a:extLst>
              </a:tr>
              <a:tr h="384048">
                <a:tc>
                  <a:txBody>
                    <a:bodyPr/>
                    <a:lstStyle/>
                    <a:p>
                      <a:pPr marL="0" indent="0">
                        <a:buNone/>
                      </a:pPr>
                      <a:r>
                        <a:rPr sz="1050" b="1">
                          <a:solidFill>
                            <a:srgbClr val="3D3A3B"/>
                          </a:solidFill>
                        </a:rPr>
                        <a:t>Code repository</a:t>
                      </a:r>
                    </a:p>
                  </a:txBody>
                  <a:tcPr marL="73152" marR="73152" marT="36576" marB="36576" anchor="ctr">
                    <a:solidFill>
                      <a:srgbClr val="F2F2F2"/>
                    </a:solidFill>
                  </a:tcPr>
                </a:tc>
                <a:tc>
                  <a:txBody>
                    <a:bodyPr/>
                    <a:lstStyle/>
                    <a:p>
                      <a:pPr marL="0" indent="0">
                        <a:buNone/>
                      </a:pPr>
                      <a:r>
                        <a:rPr sz="1050">
                          <a:solidFill>
                            <a:srgbClr val="3D3A3B"/>
                          </a:solidFill>
                        </a:rPr>
                        <a:t>GitHub</a:t>
                      </a:r>
                    </a:p>
                  </a:txBody>
                  <a:tcPr marL="73152" marR="73152" marT="36576" marB="36576" anchor="ctr">
                    <a:solidFill>
                      <a:srgbClr val="F2F2F2"/>
                    </a:solidFill>
                  </a:tcPr>
                </a:tc>
                <a:tc>
                  <a:txBody>
                    <a:bodyPr/>
                    <a:lstStyle/>
                    <a:p>
                      <a:pPr marL="0" indent="0">
                        <a:buNone/>
                      </a:pPr>
                      <a:r>
                        <a:rPr sz="1050">
                          <a:solidFill>
                            <a:srgbClr val="3D3A3B"/>
                          </a:solidFill>
                        </a:rPr>
                        <a:t>Branch per issue, pull request review, protected main</a:t>
                      </a:r>
                    </a:p>
                  </a:txBody>
                  <a:tcPr marL="73152" marR="73152" marT="36576" marB="36576" anchor="ctr">
                    <a:solidFill>
                      <a:srgbClr val="F2F2F2"/>
                    </a:solidFill>
                  </a:tcPr>
                </a:tc>
                <a:extLst>
                  <a:ext uri="{0D108BD9-81ED-4DB2-BD59-A6C34878D82A}">
                    <a16:rowId xmlns:a16="http://schemas.microsoft.com/office/drawing/2014/main" val="10001"/>
                  </a:ext>
                </a:extLst>
              </a:tr>
              <a:tr h="384048">
                <a:tc>
                  <a:txBody>
                    <a:bodyPr/>
                    <a:lstStyle/>
                    <a:p>
                      <a:pPr marL="0" indent="0">
                        <a:buNone/>
                      </a:pPr>
                      <a:r>
                        <a:rPr sz="1050" b="1">
                          <a:solidFill>
                            <a:srgbClr val="3D3A3B"/>
                          </a:solidFill>
                        </a:rPr>
                        <a:t>CI / build</a:t>
                      </a:r>
                    </a:p>
                  </a:txBody>
                  <a:tcPr marL="73152" marR="73152" marT="36576" marB="36576" anchor="ctr">
                    <a:solidFill>
                      <a:srgbClr val="FFFFFF"/>
                    </a:solidFill>
                  </a:tcPr>
                </a:tc>
                <a:tc>
                  <a:txBody>
                    <a:bodyPr/>
                    <a:lstStyle/>
                    <a:p>
                      <a:pPr marL="0" indent="0">
                        <a:buNone/>
                      </a:pPr>
                      <a:r>
                        <a:rPr sz="1050">
                          <a:solidFill>
                            <a:srgbClr val="3D3A3B"/>
                          </a:solidFill>
                        </a:rPr>
                        <a:t>GitHub Actions</a:t>
                      </a:r>
                    </a:p>
                  </a:txBody>
                  <a:tcPr marL="73152" marR="73152" marT="36576" marB="36576" anchor="ctr">
                    <a:solidFill>
                      <a:srgbClr val="FFFFFF"/>
                    </a:solidFill>
                  </a:tcPr>
                </a:tc>
                <a:tc>
                  <a:txBody>
                    <a:bodyPr/>
                    <a:lstStyle/>
                    <a:p>
                      <a:pPr marL="0" indent="0">
                        <a:buNone/>
                      </a:pPr>
                      <a:r>
                        <a:rPr sz="1050">
                          <a:solidFill>
                            <a:srgbClr val="3D3A3B"/>
                          </a:solidFill>
                        </a:rPr>
                        <a:t>Lint, unit, integration, image build, Trivy scan, push to GHCR</a:t>
                      </a:r>
                    </a:p>
                  </a:txBody>
                  <a:tcPr marL="73152" marR="73152" marT="36576" marB="36576" anchor="ctr">
                    <a:solidFill>
                      <a:srgbClr val="FFFFFF"/>
                    </a:solidFill>
                  </a:tcPr>
                </a:tc>
                <a:extLst>
                  <a:ext uri="{0D108BD9-81ED-4DB2-BD59-A6C34878D82A}">
                    <a16:rowId xmlns:a16="http://schemas.microsoft.com/office/drawing/2014/main" val="10002"/>
                  </a:ext>
                </a:extLst>
              </a:tr>
              <a:tr h="384048">
                <a:tc>
                  <a:txBody>
                    <a:bodyPr/>
                    <a:lstStyle/>
                    <a:p>
                      <a:pPr marL="0" indent="0">
                        <a:buNone/>
                      </a:pPr>
                      <a:r>
                        <a:rPr sz="1050" b="1">
                          <a:solidFill>
                            <a:srgbClr val="3D3A3B"/>
                          </a:solidFill>
                        </a:rPr>
                        <a:t>Test / Staging</a:t>
                      </a:r>
                    </a:p>
                  </a:txBody>
                  <a:tcPr marL="73152" marR="73152" marT="36576" marB="36576" anchor="ctr">
                    <a:solidFill>
                      <a:srgbClr val="F2F2F2"/>
                    </a:solidFill>
                  </a:tcPr>
                </a:tc>
                <a:tc>
                  <a:txBody>
                    <a:bodyPr/>
                    <a:lstStyle/>
                    <a:p>
                      <a:pPr marL="0" indent="0">
                        <a:buNone/>
                      </a:pPr>
                      <a:r>
                        <a:rPr sz="1050">
                          <a:solidFill>
                            <a:srgbClr val="3D3A3B"/>
                          </a:solidFill>
                        </a:rPr>
                        <a:t>AWS EC2 t3.micro</a:t>
                      </a:r>
                    </a:p>
                  </a:txBody>
                  <a:tcPr marL="73152" marR="73152" marT="36576" marB="36576" anchor="ctr">
                    <a:solidFill>
                      <a:srgbClr val="F2F2F2"/>
                    </a:solidFill>
                  </a:tcPr>
                </a:tc>
                <a:tc>
                  <a:txBody>
                    <a:bodyPr/>
                    <a:lstStyle/>
                    <a:p>
                      <a:pPr marL="0" indent="0">
                        <a:buNone/>
                      </a:pPr>
                      <a:r>
                        <a:rPr sz="1050">
                          <a:solidFill>
                            <a:srgbClr val="3D3A3B"/>
                          </a:solidFill>
                        </a:rPr>
                        <a:t>Every merge deploys here, smoke test, Playwright end-to-end</a:t>
                      </a:r>
                    </a:p>
                  </a:txBody>
                  <a:tcPr marL="73152" marR="73152" marT="36576" marB="36576" anchor="ctr">
                    <a:solidFill>
                      <a:srgbClr val="F2F2F2"/>
                    </a:solidFill>
                  </a:tcPr>
                </a:tc>
                <a:extLst>
                  <a:ext uri="{0D108BD9-81ED-4DB2-BD59-A6C34878D82A}">
                    <a16:rowId xmlns:a16="http://schemas.microsoft.com/office/drawing/2014/main" val="10003"/>
                  </a:ext>
                </a:extLst>
              </a:tr>
              <a:tr h="384048">
                <a:tc>
                  <a:txBody>
                    <a:bodyPr/>
                    <a:lstStyle/>
                    <a:p>
                      <a:pPr marL="0" indent="0">
                        <a:buNone/>
                      </a:pPr>
                      <a:r>
                        <a:rPr sz="1050" b="1">
                          <a:solidFill>
                            <a:srgbClr val="3D3A3B"/>
                          </a:solidFill>
                        </a:rPr>
                        <a:t>Production</a:t>
                      </a:r>
                    </a:p>
                  </a:txBody>
                  <a:tcPr marL="73152" marR="73152" marT="36576" marB="36576" anchor="ctr">
                    <a:solidFill>
                      <a:srgbClr val="FFFFFF"/>
                    </a:solidFill>
                  </a:tcPr>
                </a:tc>
                <a:tc>
                  <a:txBody>
                    <a:bodyPr/>
                    <a:lstStyle/>
                    <a:p>
                      <a:pPr marL="0" indent="0">
                        <a:buNone/>
                      </a:pPr>
                      <a:r>
                        <a:rPr sz="1050">
                          <a:solidFill>
                            <a:srgbClr val="3D3A3B"/>
                          </a:solidFill>
                        </a:rPr>
                        <a:t>AWS EC2 t3.small</a:t>
                      </a:r>
                    </a:p>
                  </a:txBody>
                  <a:tcPr marL="73152" marR="73152" marT="36576" marB="36576" anchor="ctr">
                    <a:solidFill>
                      <a:srgbClr val="FFFFFF"/>
                    </a:solidFill>
                  </a:tcPr>
                </a:tc>
                <a:tc>
                  <a:txBody>
                    <a:bodyPr/>
                    <a:lstStyle/>
                    <a:p>
                      <a:pPr marL="0" indent="0">
                        <a:buNone/>
                      </a:pPr>
                      <a:r>
                        <a:rPr sz="1050">
                          <a:solidFill>
                            <a:srgbClr val="3D3A3B"/>
                          </a:solidFill>
                        </a:rPr>
                        <a:t>Same image, deployed after one manual approval, monitored</a:t>
                      </a:r>
                    </a:p>
                  </a:txBody>
                  <a:tcPr marL="73152" marR="73152"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18" name="Rounded Rectangle 17"/>
          <p:cNvSpPr/>
          <p:nvPr/>
        </p:nvSpPr>
        <p:spPr>
          <a:xfrm>
            <a:off x="4663440" y="4160520"/>
            <a:ext cx="5440680" cy="457200"/>
          </a:xfrm>
          <a:prstGeom prst="roundRect">
            <a:avLst>
              <a:gd name="adj" fmla="val 15000"/>
            </a:avLst>
          </a:prstGeom>
          <a:solidFill>
            <a:srgbClr val="E7E7E8"/>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marL="0" indent="0" algn="l">
              <a:spcAft>
                <a:spcPts val="200"/>
              </a:spcAft>
              <a:buNone/>
            </a:pPr>
            <a:r>
              <a:rPr sz="1100" b="1">
                <a:solidFill>
                  <a:srgbClr val="3D3A3B"/>
                </a:solidFill>
              </a:rPr>
              <a:t>Automation boundary: </a:t>
            </a:r>
            <a:r>
              <a:rPr sz="1100">
                <a:solidFill>
                  <a:srgbClr val="3D3A3B"/>
                </a:solidFill>
              </a:rPr>
              <a:t>automatic up to Staging and the end-to-end tests. One human approval before Production.</a:t>
            </a:r>
          </a:p>
        </p:txBody>
      </p:sp>
      <p:sp>
        <p:nvSpPr>
          <p:cNvPr id="19" name="TextBox 18"/>
          <p:cNvSpPr txBox="1"/>
          <p:nvPr/>
        </p:nvSpPr>
        <p:spPr>
          <a:xfrm>
            <a:off x="4663440" y="4754880"/>
            <a:ext cx="5394960" cy="274320"/>
          </a:xfrm>
          <a:prstGeom prst="rect">
            <a:avLst/>
          </a:prstGeom>
          <a:noFill/>
        </p:spPr>
        <p:txBody>
          <a:bodyPr wrap="square" lIns="45720" tIns="27432" rIns="45720" bIns="27432" anchor="t">
            <a:spAutoFit/>
          </a:bodyPr>
          <a:lstStyle/>
          <a:p>
            <a:pPr marL="0" indent="0" algn="l">
              <a:spcAft>
                <a:spcPts val="200"/>
              </a:spcAft>
              <a:buNone/>
            </a:pPr>
            <a:r>
              <a:rPr sz="1250" b="1">
                <a:solidFill>
                  <a:srgbClr val="3D3A3B"/>
                </a:solidFill>
              </a:rPr>
              <a:t>Targets we set in the Project Brief</a:t>
            </a:r>
          </a:p>
        </p:txBody>
      </p:sp>
      <p:sp>
        <p:nvSpPr>
          <p:cNvPr id="20" name="Rounded Rectangle 19"/>
          <p:cNvSpPr/>
          <p:nvPr/>
        </p:nvSpPr>
        <p:spPr>
          <a:xfrm>
            <a:off x="4663440" y="5074920"/>
            <a:ext cx="1280160" cy="100584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800" b="1">
                <a:solidFill>
                  <a:srgbClr val="E3051E"/>
                </a:solidFill>
              </a:rPr>
              <a:t>80%</a:t>
            </a:r>
          </a:p>
          <a:p>
            <a:pPr marL="0" indent="0" algn="ctr">
              <a:spcAft>
                <a:spcPts val="200"/>
              </a:spcAft>
              <a:buNone/>
            </a:pPr>
            <a:r>
              <a:rPr sz="1000">
                <a:solidFill>
                  <a:srgbClr val="3D3A3B"/>
                </a:solidFill>
              </a:rPr>
              <a:t>unit test coverage</a:t>
            </a:r>
          </a:p>
        </p:txBody>
      </p:sp>
      <p:sp>
        <p:nvSpPr>
          <p:cNvPr id="21" name="Rounded Rectangle 20"/>
          <p:cNvSpPr/>
          <p:nvPr/>
        </p:nvSpPr>
        <p:spPr>
          <a:xfrm>
            <a:off x="6035040" y="5074920"/>
            <a:ext cx="1280160" cy="100584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800" b="1">
                <a:solidFill>
                  <a:srgbClr val="E3051E"/>
                </a:solidFill>
              </a:rPr>
              <a:t>&lt; 5 min</a:t>
            </a:r>
          </a:p>
          <a:p>
            <a:pPr marL="0" indent="0" algn="ctr">
              <a:spcAft>
                <a:spcPts val="200"/>
              </a:spcAft>
              <a:buNone/>
            </a:pPr>
            <a:r>
              <a:rPr sz="1000">
                <a:solidFill>
                  <a:srgbClr val="3D3A3B"/>
                </a:solidFill>
              </a:rPr>
              <a:t>push to Production</a:t>
            </a:r>
          </a:p>
        </p:txBody>
      </p:sp>
      <p:sp>
        <p:nvSpPr>
          <p:cNvPr id="22" name="Rounded Rectangle 21"/>
          <p:cNvSpPr/>
          <p:nvPr/>
        </p:nvSpPr>
        <p:spPr>
          <a:xfrm>
            <a:off x="7406640" y="5074920"/>
            <a:ext cx="1280160" cy="100584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800" b="1">
                <a:solidFill>
                  <a:srgbClr val="E3051E"/>
                </a:solidFill>
              </a:rPr>
              <a:t>0</a:t>
            </a:r>
          </a:p>
          <a:p>
            <a:pPr marL="0" indent="0" algn="ctr">
              <a:spcAft>
                <a:spcPts val="200"/>
              </a:spcAft>
              <a:buNone/>
            </a:pPr>
            <a:r>
              <a:rPr sz="1000">
                <a:solidFill>
                  <a:srgbClr val="3D3A3B"/>
                </a:solidFill>
              </a:rPr>
              <a:t>critical CVEs in images</a:t>
            </a:r>
          </a:p>
        </p:txBody>
      </p:sp>
      <p:sp>
        <p:nvSpPr>
          <p:cNvPr id="23" name="Rounded Rectangle 22"/>
          <p:cNvSpPr/>
          <p:nvPr/>
        </p:nvSpPr>
        <p:spPr>
          <a:xfrm>
            <a:off x="8778240" y="5074920"/>
            <a:ext cx="1280160" cy="1005840"/>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marL="0" indent="0" algn="ctr">
              <a:spcAft>
                <a:spcPts val="200"/>
              </a:spcAft>
              <a:buNone/>
            </a:pPr>
            <a:r>
              <a:rPr sz="1800" b="1">
                <a:solidFill>
                  <a:srgbClr val="E3051E"/>
                </a:solidFill>
              </a:rPr>
              <a:t>100%</a:t>
            </a:r>
          </a:p>
          <a:p>
            <a:pPr marL="0" indent="0" algn="ctr">
              <a:spcAft>
                <a:spcPts val="200"/>
              </a:spcAft>
              <a:buNone/>
            </a:pPr>
            <a:r>
              <a:rPr sz="1000">
                <a:solidFill>
                  <a:srgbClr val="3D3A3B"/>
                </a:solidFill>
              </a:rPr>
              <a:t>of merges deployed to Staging</a:t>
            </a:r>
          </a:p>
        </p:txBody>
      </p:sp>
    </p:spTree>
    <p:extLst>
      <p:ext uri="{BB962C8B-B14F-4D97-AF65-F5344CB8AC3E}">
        <p14:creationId xmlns:p14="http://schemas.microsoft.com/office/powerpoint/2010/main" val="3284318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83DB9-F778-8148-808A-075D79C4A934}"/>
              </a:ext>
            </a:extLst>
          </p:cNvPr>
          <p:cNvSpPr>
            <a:spLocks noGrp="1"/>
          </p:cNvSpPr>
          <p:nvPr>
            <p:ph type="ctrTitle"/>
          </p:nvPr>
        </p:nvSpPr>
        <p:spPr>
          <a:xfrm>
            <a:off x="429768" y="448056"/>
            <a:ext cx="9683496" cy="585216"/>
          </a:xfrm>
        </p:spPr>
        <p:txBody>
          <a:bodyPr/>
          <a:lstStyle/>
          <a:p>
            <a:r>
              <a:t>Project Outcome/Deliverables</a:t>
            </a:r>
          </a:p>
        </p:txBody>
      </p:sp>
      <p:sp>
        <p:nvSpPr>
          <p:cNvPr id="4" name="Text Placeholder 3">
            <a:extLst>
              <a:ext uri="{FF2B5EF4-FFF2-40B4-BE49-F238E27FC236}">
                <a16:creationId xmlns:a16="http://schemas.microsoft.com/office/drawing/2014/main" id="{9D6A9732-00B6-434C-AACB-1085A61D9329}"/>
              </a:ext>
            </a:extLst>
          </p:cNvPr>
          <p:cNvSpPr>
            <a:spLocks noGrp="1"/>
          </p:cNvSpPr>
          <p:nvPr>
            <p:ph type="body" sz="quarter" idx="10"/>
          </p:nvPr>
        </p:nvSpPr>
        <p:spPr>
          <a:xfrm>
            <a:off x="429768" y="1115568"/>
            <a:ext cx="9683496" cy="457200"/>
          </a:xfrm>
        </p:spPr>
        <p:txBody>
          <a:bodyPr/>
          <a:lstStyle/>
          <a:p>
            <a:r>
              <a:rPr sz="1500"/>
              <a:t>Every target from the brief was met, and all four levels are live on the servers.</a:t>
            </a:r>
            <a:endParaRPr lang="en-US"/>
          </a:p>
        </p:txBody>
      </p:sp>
      <p:sp>
        <p:nvSpPr>
          <p:cNvPr id="5" name="Text Placeholder 4">
            <a:extLst>
              <a:ext uri="{FF2B5EF4-FFF2-40B4-BE49-F238E27FC236}">
                <a16:creationId xmlns:a16="http://schemas.microsoft.com/office/drawing/2014/main" id="{5594CCD1-78F3-7141-8323-B2EA5D33BFEA}"/>
              </a:ext>
            </a:extLst>
          </p:cNvPr>
          <p:cNvSpPr>
            <a:spLocks noGrp="1"/>
          </p:cNvSpPr>
          <p:nvPr>
            <p:ph type="body" sz="quarter" idx="11"/>
          </p:nvPr>
        </p:nvSpPr>
        <p:spPr>
          <a:xfrm>
            <a:off x="429768" y="6336792"/>
            <a:ext cx="9683496" cy="246888"/>
          </a:xfrm>
        </p:spPr>
        <p:txBody>
          <a:bodyPr/>
          <a:lstStyle/>
          <a:p>
            <a:r>
              <a:rPr>
                <a:solidFill>
                  <a:srgbClr val="6E6B6C"/>
                </a:solidFill>
              </a:rPr>
              <a:t>Timings from the GitHub Actions run on main for commit 77d184b (17 Oct 2026). Coverage from the backend job summary.</a:t>
            </a:r>
            <a:endParaRPr lang="en-US"/>
          </a:p>
        </p:txBody>
      </p:sp>
      <p:graphicFrame>
        <p:nvGraphicFramePr>
          <p:cNvPr id="6" name="Targets vs actual"/>
          <p:cNvGraphicFramePr>
            <a:graphicFrameLocks noGrp="1"/>
          </p:cNvGraphicFramePr>
          <p:nvPr/>
        </p:nvGraphicFramePr>
        <p:xfrm>
          <a:off x="429768" y="1691640"/>
          <a:ext cx="5394960" cy="4206237"/>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600891">
                <a:tc>
                  <a:txBody>
                    <a:bodyPr/>
                    <a:lstStyle/>
                    <a:p>
                      <a:pPr marL="0" indent="0">
                        <a:buNone/>
                      </a:pPr>
                      <a:r>
                        <a:rPr sz="1000" b="1">
                          <a:solidFill>
                            <a:srgbClr val="FFFFFF"/>
                          </a:solidFill>
                        </a:rPr>
                        <a:t>Target (Project Brief)</a:t>
                      </a:r>
                    </a:p>
                  </a:txBody>
                  <a:tcPr marL="73152" marR="73152" marT="36576" marB="36576" anchor="ctr">
                    <a:solidFill>
                      <a:srgbClr val="3D3A3B"/>
                    </a:solidFill>
                  </a:tcPr>
                </a:tc>
                <a:tc>
                  <a:txBody>
                    <a:bodyPr/>
                    <a:lstStyle/>
                    <a:p>
                      <a:pPr marL="0" indent="0">
                        <a:buNone/>
                      </a:pPr>
                      <a:r>
                        <a:rPr sz="1000" b="1">
                          <a:solidFill>
                            <a:srgbClr val="FFFFFF"/>
                          </a:solidFill>
                        </a:rPr>
                        <a:t>Actual</a:t>
                      </a:r>
                    </a:p>
                  </a:txBody>
                  <a:tcPr marL="73152" marR="73152" marT="36576" marB="36576" anchor="ctr">
                    <a:solidFill>
                      <a:srgbClr val="3D3A3B"/>
                    </a:solidFill>
                  </a:tcPr>
                </a:tc>
                <a:tc>
                  <a:txBody>
                    <a:bodyPr/>
                    <a:lstStyle/>
                    <a:p>
                      <a:pPr marL="0" indent="0">
                        <a:buNone/>
                      </a:pPr>
                      <a:r>
                        <a:rPr sz="1000" b="1">
                          <a:solidFill>
                            <a:srgbClr val="FFFFFF"/>
                          </a:solidFill>
                        </a:rPr>
                        <a:t>Status</a:t>
                      </a:r>
                    </a:p>
                  </a:txBody>
                  <a:tcPr marL="73152" marR="73152" marT="36576" marB="36576" anchor="ctr">
                    <a:solidFill>
                      <a:srgbClr val="3D3A3B"/>
                    </a:solidFill>
                  </a:tcPr>
                </a:tc>
                <a:extLst>
                  <a:ext uri="{0D108BD9-81ED-4DB2-BD59-A6C34878D82A}">
                    <a16:rowId xmlns:a16="http://schemas.microsoft.com/office/drawing/2014/main" val="10000"/>
                  </a:ext>
                </a:extLst>
              </a:tr>
              <a:tr h="600891">
                <a:tc>
                  <a:txBody>
                    <a:bodyPr/>
                    <a:lstStyle/>
                    <a:p>
                      <a:pPr marL="0" indent="0">
                        <a:buNone/>
                      </a:pPr>
                      <a:r>
                        <a:rPr sz="1000" b="1">
                          <a:solidFill>
                            <a:srgbClr val="3D3A3B"/>
                          </a:solidFill>
                        </a:rPr>
                        <a:t>Unit test coverage at least 80%</a:t>
                      </a:r>
                    </a:p>
                  </a:txBody>
                  <a:tcPr marL="73152" marR="73152" marT="36576" marB="36576" anchor="ctr">
                    <a:solidFill>
                      <a:srgbClr val="F2F2F2"/>
                    </a:solidFill>
                  </a:tcPr>
                </a:tc>
                <a:tc>
                  <a:txBody>
                    <a:bodyPr/>
                    <a:lstStyle/>
                    <a:p>
                      <a:pPr marL="0" indent="0">
                        <a:buNone/>
                      </a:pPr>
                      <a:r>
                        <a:rPr sz="1000">
                          <a:solidFill>
                            <a:srgbClr val="3D3A3B"/>
                          </a:solidFill>
                        </a:rPr>
                        <a:t>98.7% lines, 121 unit tests, plus 3 integration and 4 end-to-end tests</a:t>
                      </a:r>
                    </a:p>
                  </a:txBody>
                  <a:tcPr marL="73152" marR="73152" marT="36576" marB="36576" anchor="ctr">
                    <a:solidFill>
                      <a:srgbClr val="F2F2F2"/>
                    </a:solidFill>
                  </a:tcPr>
                </a:tc>
                <a:tc>
                  <a:txBody>
                    <a:bodyPr/>
                    <a:lstStyle/>
                    <a:p>
                      <a:pPr marL="0" indent="0">
                        <a:buNone/>
                      </a:pPr>
                      <a:r>
                        <a:rPr sz="1000" b="1">
                          <a:solidFill>
                            <a:srgbClr val="1A7F37"/>
                          </a:solidFill>
                        </a:rPr>
                        <a:t>Met</a:t>
                      </a:r>
                    </a:p>
                  </a:txBody>
                  <a:tcPr marL="73152" marR="73152" marT="36576" marB="36576" anchor="ctr">
                    <a:solidFill>
                      <a:srgbClr val="F2F2F2"/>
                    </a:solidFill>
                  </a:tcPr>
                </a:tc>
                <a:extLst>
                  <a:ext uri="{0D108BD9-81ED-4DB2-BD59-A6C34878D82A}">
                    <a16:rowId xmlns:a16="http://schemas.microsoft.com/office/drawing/2014/main" val="10001"/>
                  </a:ext>
                </a:extLst>
              </a:tr>
              <a:tr h="600891">
                <a:tc>
                  <a:txBody>
                    <a:bodyPr/>
                    <a:lstStyle/>
                    <a:p>
                      <a:pPr marL="0" indent="0">
                        <a:buNone/>
                      </a:pPr>
                      <a:r>
                        <a:rPr sz="1000" b="1">
                          <a:solidFill>
                            <a:srgbClr val="3D3A3B"/>
                          </a:solidFill>
                        </a:rPr>
                        <a:t>Push to Production in under 5 minutes</a:t>
                      </a:r>
                    </a:p>
                  </a:txBody>
                  <a:tcPr marL="73152" marR="73152" marT="36576" marB="36576" anchor="ctr">
                    <a:solidFill>
                      <a:srgbClr val="FFFFFF"/>
                    </a:solidFill>
                  </a:tcPr>
                </a:tc>
                <a:tc>
                  <a:txBody>
                    <a:bodyPr/>
                    <a:lstStyle/>
                    <a:p>
                      <a:pPr marL="0" indent="0">
                        <a:buNone/>
                      </a:pPr>
                      <a:r>
                        <a:rPr sz="1000">
                          <a:solidFill>
                            <a:srgbClr val="3D3A3B"/>
                          </a:solidFill>
                        </a:rPr>
                        <a:t>Staging live at 2:21, end-to-end done at 3:07, Production at 4:56 (includes approval wait)</a:t>
                      </a:r>
                    </a:p>
                  </a:txBody>
                  <a:tcPr marL="73152" marR="73152" marT="36576" marB="36576" anchor="ctr">
                    <a:solidFill>
                      <a:srgbClr val="FFFFFF"/>
                    </a:solidFill>
                  </a:tcPr>
                </a:tc>
                <a:tc>
                  <a:txBody>
                    <a:bodyPr/>
                    <a:lstStyle/>
                    <a:p>
                      <a:pPr marL="0" indent="0">
                        <a:buNone/>
                      </a:pPr>
                      <a:r>
                        <a:rPr sz="1000" b="1">
                          <a:solidFill>
                            <a:srgbClr val="1A7F37"/>
                          </a:solidFill>
                        </a:rPr>
                        <a:t>Met</a:t>
                      </a:r>
                    </a:p>
                  </a:txBody>
                  <a:tcPr marL="73152" marR="73152" marT="36576" marB="36576" anchor="ctr">
                    <a:solidFill>
                      <a:srgbClr val="FFFFFF"/>
                    </a:solidFill>
                  </a:tcPr>
                </a:tc>
                <a:extLst>
                  <a:ext uri="{0D108BD9-81ED-4DB2-BD59-A6C34878D82A}">
                    <a16:rowId xmlns:a16="http://schemas.microsoft.com/office/drawing/2014/main" val="10002"/>
                  </a:ext>
                </a:extLst>
              </a:tr>
              <a:tr h="600891">
                <a:tc>
                  <a:txBody>
                    <a:bodyPr/>
                    <a:lstStyle/>
                    <a:p>
                      <a:pPr marL="0" indent="0">
                        <a:buNone/>
                      </a:pPr>
                      <a:r>
                        <a:rPr sz="1000" b="1">
                          <a:solidFill>
                            <a:srgbClr val="3D3A3B"/>
                          </a:solidFill>
                        </a:rPr>
                        <a:t>Zero critical vulnerabilities in images</a:t>
                      </a:r>
                    </a:p>
                  </a:txBody>
                  <a:tcPr marL="73152" marR="73152" marT="36576" marB="36576" anchor="ctr">
                    <a:solidFill>
                      <a:srgbClr val="F2F2F2"/>
                    </a:solidFill>
                  </a:tcPr>
                </a:tc>
                <a:tc>
                  <a:txBody>
                    <a:bodyPr/>
                    <a:lstStyle/>
                    <a:p>
                      <a:pPr marL="0" indent="0">
                        <a:buNone/>
                      </a:pPr>
                      <a:r>
                        <a:rPr sz="1000">
                          <a:solidFill>
                            <a:srgbClr val="3D3A3B"/>
                          </a:solidFill>
                        </a:rPr>
                        <a:t>Trivy scans both images on every run; a fixable CRITICAL fails the build</a:t>
                      </a:r>
                    </a:p>
                  </a:txBody>
                  <a:tcPr marL="73152" marR="73152" marT="36576" marB="36576" anchor="ctr">
                    <a:solidFill>
                      <a:srgbClr val="F2F2F2"/>
                    </a:solidFill>
                  </a:tcPr>
                </a:tc>
                <a:tc>
                  <a:txBody>
                    <a:bodyPr/>
                    <a:lstStyle/>
                    <a:p>
                      <a:pPr marL="0" indent="0">
                        <a:buNone/>
                      </a:pPr>
                      <a:r>
                        <a:rPr sz="1000" b="1">
                          <a:solidFill>
                            <a:srgbClr val="1A7F37"/>
                          </a:solidFill>
                        </a:rPr>
                        <a:t>Met</a:t>
                      </a:r>
                    </a:p>
                  </a:txBody>
                  <a:tcPr marL="73152" marR="73152" marT="36576" marB="36576" anchor="ctr">
                    <a:solidFill>
                      <a:srgbClr val="F2F2F2"/>
                    </a:solidFill>
                  </a:tcPr>
                </a:tc>
                <a:extLst>
                  <a:ext uri="{0D108BD9-81ED-4DB2-BD59-A6C34878D82A}">
                    <a16:rowId xmlns:a16="http://schemas.microsoft.com/office/drawing/2014/main" val="10003"/>
                  </a:ext>
                </a:extLst>
              </a:tr>
              <a:tr h="600891">
                <a:tc>
                  <a:txBody>
                    <a:bodyPr/>
                    <a:lstStyle/>
                    <a:p>
                      <a:pPr marL="0" indent="0">
                        <a:buNone/>
                      </a:pPr>
                      <a:r>
                        <a:rPr sz="1000" b="1">
                          <a:solidFill>
                            <a:srgbClr val="3D3A3B"/>
                          </a:solidFill>
                        </a:rPr>
                        <a:t>Every merge deployed to Staging</a:t>
                      </a:r>
                    </a:p>
                  </a:txBody>
                  <a:tcPr marL="73152" marR="73152" marT="36576" marB="36576" anchor="ctr">
                    <a:solidFill>
                      <a:srgbClr val="FFFFFF"/>
                    </a:solidFill>
                  </a:tcPr>
                </a:tc>
                <a:tc>
                  <a:txBody>
                    <a:bodyPr/>
                    <a:lstStyle/>
                    <a:p>
                      <a:pPr marL="0" indent="0">
                        <a:buNone/>
                      </a:pPr>
                      <a:r>
                        <a:rPr sz="1000">
                          <a:solidFill>
                            <a:srgbClr val="3D3A3B"/>
                          </a:solidFill>
                        </a:rPr>
                        <a:t>Automatic deploy plus /health smoke test on each push to main</a:t>
                      </a:r>
                    </a:p>
                  </a:txBody>
                  <a:tcPr marL="73152" marR="73152" marT="36576" marB="36576" anchor="ctr">
                    <a:solidFill>
                      <a:srgbClr val="FFFFFF"/>
                    </a:solidFill>
                  </a:tcPr>
                </a:tc>
                <a:tc>
                  <a:txBody>
                    <a:bodyPr/>
                    <a:lstStyle/>
                    <a:p>
                      <a:pPr marL="0" indent="0">
                        <a:buNone/>
                      </a:pPr>
                      <a:r>
                        <a:rPr sz="1000" b="1">
                          <a:solidFill>
                            <a:srgbClr val="1A7F37"/>
                          </a:solidFill>
                        </a:rPr>
                        <a:t>Met</a:t>
                      </a:r>
                    </a:p>
                  </a:txBody>
                  <a:tcPr marL="73152" marR="73152" marT="36576" marB="36576" anchor="ctr">
                    <a:solidFill>
                      <a:srgbClr val="FFFFFF"/>
                    </a:solidFill>
                  </a:tcPr>
                </a:tc>
                <a:extLst>
                  <a:ext uri="{0D108BD9-81ED-4DB2-BD59-A6C34878D82A}">
                    <a16:rowId xmlns:a16="http://schemas.microsoft.com/office/drawing/2014/main" val="10004"/>
                  </a:ext>
                </a:extLst>
              </a:tr>
              <a:tr h="600891">
                <a:tc>
                  <a:txBody>
                    <a:bodyPr/>
                    <a:lstStyle/>
                    <a:p>
                      <a:pPr marL="0" indent="0">
                        <a:buNone/>
                      </a:pPr>
                      <a:r>
                        <a:rPr sz="1000" b="1">
                          <a:solidFill>
                            <a:srgbClr val="3D3A3B"/>
                          </a:solidFill>
                        </a:rPr>
                        <a:t>Real-time monitoring on Production</a:t>
                      </a:r>
                    </a:p>
                  </a:txBody>
                  <a:tcPr marL="73152" marR="73152" marT="36576" marB="36576" anchor="ctr">
                    <a:solidFill>
                      <a:srgbClr val="F2F2F2"/>
                    </a:solidFill>
                  </a:tcPr>
                </a:tc>
                <a:tc>
                  <a:txBody>
                    <a:bodyPr/>
                    <a:lstStyle/>
                    <a:p>
                      <a:pPr marL="0" indent="0">
                        <a:buNone/>
                      </a:pPr>
                      <a:r>
                        <a:rPr sz="1000">
                          <a:solidFill>
                            <a:srgbClr val="3D3A3B"/>
                          </a:solidFill>
                        </a:rPr>
                        <a:t>Prometheus, node_exporter, cAdvisor, Grafana: 6 panels with live data</a:t>
                      </a:r>
                    </a:p>
                  </a:txBody>
                  <a:tcPr marL="73152" marR="73152" marT="36576" marB="36576" anchor="ctr">
                    <a:solidFill>
                      <a:srgbClr val="F2F2F2"/>
                    </a:solidFill>
                  </a:tcPr>
                </a:tc>
                <a:tc>
                  <a:txBody>
                    <a:bodyPr/>
                    <a:lstStyle/>
                    <a:p>
                      <a:pPr marL="0" indent="0">
                        <a:buNone/>
                      </a:pPr>
                      <a:r>
                        <a:rPr sz="1000" b="1">
                          <a:solidFill>
                            <a:srgbClr val="1A7F37"/>
                          </a:solidFill>
                        </a:rPr>
                        <a:t>Met</a:t>
                      </a:r>
                    </a:p>
                  </a:txBody>
                  <a:tcPr marL="73152" marR="73152" marT="36576" marB="36576" anchor="ctr">
                    <a:solidFill>
                      <a:srgbClr val="F2F2F2"/>
                    </a:solidFill>
                  </a:tcPr>
                </a:tc>
                <a:extLst>
                  <a:ext uri="{0D108BD9-81ED-4DB2-BD59-A6C34878D82A}">
                    <a16:rowId xmlns:a16="http://schemas.microsoft.com/office/drawing/2014/main" val="10005"/>
                  </a:ext>
                </a:extLst>
              </a:tr>
              <a:tr h="600891">
                <a:tc>
                  <a:txBody>
                    <a:bodyPr/>
                    <a:lstStyle/>
                    <a:p>
                      <a:pPr marL="0" indent="0">
                        <a:buNone/>
                      </a:pPr>
                      <a:r>
                        <a:rPr sz="1000" b="1">
                          <a:solidFill>
                            <a:srgbClr val="3D3A3B"/>
                          </a:solidFill>
                        </a:rPr>
                        <a:t>Rollback path</a:t>
                      </a:r>
                    </a:p>
                  </a:txBody>
                  <a:tcPr marL="73152" marR="73152" marT="36576" marB="36576" anchor="ctr">
                    <a:solidFill>
                      <a:srgbClr val="FFFFFF"/>
                    </a:solidFill>
                  </a:tcPr>
                </a:tc>
                <a:tc>
                  <a:txBody>
                    <a:bodyPr/>
                    <a:lstStyle/>
                    <a:p>
                      <a:pPr marL="0" indent="0">
                        <a:buNone/>
                      </a:pPr>
                      <a:r>
                        <a:rPr sz="1000">
                          <a:solidFill>
                            <a:srgbClr val="3D3A3B"/>
                          </a:solidFill>
                        </a:rPr>
                        <a:t>Previous image SHA kept on the server; rollback workflow in progress (#13)</a:t>
                      </a:r>
                    </a:p>
                  </a:txBody>
                  <a:tcPr marL="73152" marR="73152" marT="36576" marB="36576" anchor="ctr">
                    <a:solidFill>
                      <a:srgbClr val="FFFFFF"/>
                    </a:solidFill>
                  </a:tcPr>
                </a:tc>
                <a:tc>
                  <a:txBody>
                    <a:bodyPr/>
                    <a:lstStyle/>
                    <a:p>
                      <a:pPr marL="0" indent="0">
                        <a:buNone/>
                      </a:pPr>
                      <a:r>
                        <a:rPr sz="1000" b="1">
                          <a:solidFill>
                            <a:srgbClr val="B26A00"/>
                          </a:solidFill>
                        </a:rPr>
                        <a:t>In progress</a:t>
                      </a:r>
                    </a:p>
                  </a:txBody>
                  <a:tcPr marL="73152" marR="73152" marT="36576" marB="36576" anchor="ctr">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035040" y="1691640"/>
            <a:ext cx="4069080" cy="320040"/>
          </a:xfrm>
          <a:prstGeom prst="rect">
            <a:avLst/>
          </a:prstGeom>
          <a:noFill/>
        </p:spPr>
        <p:txBody>
          <a:bodyPr wrap="square" lIns="45720" tIns="27432" rIns="45720" bIns="27432" anchor="t">
            <a:spAutoFit/>
          </a:bodyPr>
          <a:lstStyle/>
          <a:p>
            <a:pPr marL="0" indent="0" algn="l">
              <a:spcAft>
                <a:spcPts val="200"/>
              </a:spcAft>
              <a:buNone/>
            </a:pPr>
            <a:r>
              <a:rPr sz="1400" b="1">
                <a:solidFill>
                  <a:srgbClr val="3D3A3B"/>
                </a:solidFill>
              </a:rPr>
              <a:t>One run on main, all nine jobs green</a:t>
            </a:r>
          </a:p>
        </p:txBody>
      </p:sp>
      <p:sp>
        <p:nvSpPr>
          <p:cNvPr id="8" name="TextBox 7"/>
          <p:cNvSpPr txBox="1"/>
          <p:nvPr/>
        </p:nvSpPr>
        <p:spPr>
          <a:xfrm>
            <a:off x="6035040" y="214884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backend</a:t>
            </a:r>
          </a:p>
        </p:txBody>
      </p:sp>
      <p:sp>
        <p:nvSpPr>
          <p:cNvPr id="9" name="Rectangle 8"/>
          <p:cNvSpPr/>
          <p:nvPr/>
        </p:nvSpPr>
        <p:spPr>
          <a:xfrm>
            <a:off x="7498079" y="2221992"/>
            <a:ext cx="243077"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7786878" y="214884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29s</a:t>
            </a:r>
          </a:p>
        </p:txBody>
      </p:sp>
      <p:sp>
        <p:nvSpPr>
          <p:cNvPr id="11" name="TextBox 10"/>
          <p:cNvSpPr txBox="1"/>
          <p:nvPr/>
        </p:nvSpPr>
        <p:spPr>
          <a:xfrm>
            <a:off x="6035040" y="251460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frontend</a:t>
            </a:r>
          </a:p>
        </p:txBody>
      </p:sp>
      <p:sp>
        <p:nvSpPr>
          <p:cNvPr id="12" name="Rectangle 11"/>
          <p:cNvSpPr/>
          <p:nvPr/>
        </p:nvSpPr>
        <p:spPr>
          <a:xfrm>
            <a:off x="7498079" y="2587752"/>
            <a:ext cx="92202"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636002" y="251460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11s</a:t>
            </a:r>
          </a:p>
        </p:txBody>
      </p:sp>
      <p:sp>
        <p:nvSpPr>
          <p:cNvPr id="14" name="TextBox 13"/>
          <p:cNvSpPr txBox="1"/>
          <p:nvPr/>
        </p:nvSpPr>
        <p:spPr>
          <a:xfrm>
            <a:off x="6035040" y="288036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deploy scripts</a:t>
            </a:r>
          </a:p>
        </p:txBody>
      </p:sp>
      <p:sp>
        <p:nvSpPr>
          <p:cNvPr id="15" name="Rectangle 14"/>
          <p:cNvSpPr/>
          <p:nvPr/>
        </p:nvSpPr>
        <p:spPr>
          <a:xfrm>
            <a:off x="7498079" y="2953512"/>
            <a:ext cx="54864"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598664" y="288036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6s</a:t>
            </a:r>
          </a:p>
        </p:txBody>
      </p:sp>
      <p:sp>
        <p:nvSpPr>
          <p:cNvPr id="17" name="TextBox 16"/>
          <p:cNvSpPr txBox="1"/>
          <p:nvPr/>
        </p:nvSpPr>
        <p:spPr>
          <a:xfrm>
            <a:off x="6035040" y="324612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image (api)</a:t>
            </a:r>
          </a:p>
        </p:txBody>
      </p:sp>
      <p:sp>
        <p:nvSpPr>
          <p:cNvPr id="18" name="Rectangle 17"/>
          <p:cNvSpPr/>
          <p:nvPr/>
        </p:nvSpPr>
        <p:spPr>
          <a:xfrm>
            <a:off x="7766303" y="3319272"/>
            <a:ext cx="393954"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8205978" y="324612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47s</a:t>
            </a:r>
          </a:p>
        </p:txBody>
      </p:sp>
      <p:sp>
        <p:nvSpPr>
          <p:cNvPr id="20" name="TextBox 19"/>
          <p:cNvSpPr txBox="1"/>
          <p:nvPr/>
        </p:nvSpPr>
        <p:spPr>
          <a:xfrm>
            <a:off x="6035040" y="361188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image (web)</a:t>
            </a:r>
          </a:p>
        </p:txBody>
      </p:sp>
      <p:sp>
        <p:nvSpPr>
          <p:cNvPr id="21" name="Rectangle 20"/>
          <p:cNvSpPr/>
          <p:nvPr/>
        </p:nvSpPr>
        <p:spPr>
          <a:xfrm>
            <a:off x="7774686" y="3685032"/>
            <a:ext cx="410718"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8231124" y="361188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49s</a:t>
            </a:r>
          </a:p>
        </p:txBody>
      </p:sp>
      <p:sp>
        <p:nvSpPr>
          <p:cNvPr id="23" name="TextBox 22"/>
          <p:cNvSpPr txBox="1"/>
          <p:nvPr/>
        </p:nvSpPr>
        <p:spPr>
          <a:xfrm>
            <a:off x="6035040" y="3977639"/>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build</a:t>
            </a:r>
          </a:p>
        </p:txBody>
      </p:sp>
      <p:sp>
        <p:nvSpPr>
          <p:cNvPr id="24" name="Rectangle 23"/>
          <p:cNvSpPr/>
          <p:nvPr/>
        </p:nvSpPr>
        <p:spPr>
          <a:xfrm>
            <a:off x="8210549" y="4050791"/>
            <a:ext cx="54864"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8311134" y="3977639"/>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2s</a:t>
            </a:r>
          </a:p>
        </p:txBody>
      </p:sp>
      <p:sp>
        <p:nvSpPr>
          <p:cNvPr id="26" name="TextBox 25"/>
          <p:cNvSpPr txBox="1"/>
          <p:nvPr/>
        </p:nvSpPr>
        <p:spPr>
          <a:xfrm>
            <a:off x="6035040" y="434340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deploy (staging)</a:t>
            </a:r>
          </a:p>
        </p:txBody>
      </p:sp>
      <p:sp>
        <p:nvSpPr>
          <p:cNvPr id="27" name="Rectangle 26"/>
          <p:cNvSpPr/>
          <p:nvPr/>
        </p:nvSpPr>
        <p:spPr>
          <a:xfrm>
            <a:off x="8260841" y="4416552"/>
            <a:ext cx="419100"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8725662" y="434340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50s</a:t>
            </a:r>
          </a:p>
        </p:txBody>
      </p:sp>
      <p:sp>
        <p:nvSpPr>
          <p:cNvPr id="29" name="TextBox 28"/>
          <p:cNvSpPr txBox="1"/>
          <p:nvPr/>
        </p:nvSpPr>
        <p:spPr>
          <a:xfrm>
            <a:off x="6035040" y="470916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e2e</a:t>
            </a:r>
          </a:p>
        </p:txBody>
      </p:sp>
      <p:sp>
        <p:nvSpPr>
          <p:cNvPr id="30" name="Rectangle 29"/>
          <p:cNvSpPr/>
          <p:nvPr/>
        </p:nvSpPr>
        <p:spPr>
          <a:xfrm>
            <a:off x="8713469" y="4782312"/>
            <a:ext cx="352044" cy="182880"/>
          </a:xfrm>
          <a:prstGeom prst="rect">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9111233" y="470916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42s</a:t>
            </a:r>
          </a:p>
        </p:txBody>
      </p:sp>
      <p:sp>
        <p:nvSpPr>
          <p:cNvPr id="32" name="TextBox 31"/>
          <p:cNvSpPr txBox="1"/>
          <p:nvPr/>
        </p:nvSpPr>
        <p:spPr>
          <a:xfrm>
            <a:off x="6035040" y="507492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approval wait</a:t>
            </a:r>
          </a:p>
        </p:txBody>
      </p:sp>
      <p:sp>
        <p:nvSpPr>
          <p:cNvPr id="33" name="Rectangle 32"/>
          <p:cNvSpPr/>
          <p:nvPr/>
        </p:nvSpPr>
        <p:spPr>
          <a:xfrm>
            <a:off x="9065514" y="5148072"/>
            <a:ext cx="494538" cy="182880"/>
          </a:xfrm>
          <a:prstGeom prst="rect">
            <a:avLst/>
          </a:prstGeom>
          <a:solidFill>
            <a:srgbClr val="E7E7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9605772" y="507492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59s</a:t>
            </a:r>
          </a:p>
        </p:txBody>
      </p:sp>
      <p:sp>
        <p:nvSpPr>
          <p:cNvPr id="35" name="TextBox 34"/>
          <p:cNvSpPr txBox="1"/>
          <p:nvPr/>
        </p:nvSpPr>
        <p:spPr>
          <a:xfrm>
            <a:off x="6035040" y="5440680"/>
            <a:ext cx="1417320" cy="329184"/>
          </a:xfrm>
          <a:prstGeom prst="rect">
            <a:avLst/>
          </a:prstGeom>
          <a:noFill/>
        </p:spPr>
        <p:txBody>
          <a:bodyPr wrap="square" lIns="45720" tIns="27432" rIns="45720" bIns="27432" anchor="ctr">
            <a:spAutoFit/>
          </a:bodyPr>
          <a:lstStyle/>
          <a:p>
            <a:pPr marL="0" indent="0" algn="l">
              <a:spcAft>
                <a:spcPts val="200"/>
              </a:spcAft>
              <a:buNone/>
            </a:pPr>
            <a:r>
              <a:rPr sz="1000">
                <a:solidFill>
                  <a:srgbClr val="3D3A3B"/>
                </a:solidFill>
              </a:rPr>
              <a:t>deploy (production)</a:t>
            </a:r>
          </a:p>
        </p:txBody>
      </p:sp>
      <p:sp>
        <p:nvSpPr>
          <p:cNvPr id="36" name="Rectangle 35"/>
          <p:cNvSpPr/>
          <p:nvPr/>
        </p:nvSpPr>
        <p:spPr>
          <a:xfrm>
            <a:off x="9560051" y="5513832"/>
            <a:ext cx="419100" cy="182880"/>
          </a:xfrm>
          <a:prstGeom prst="rect">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10024872" y="5440680"/>
            <a:ext cx="548640" cy="329184"/>
          </a:xfrm>
          <a:prstGeom prst="rect">
            <a:avLst/>
          </a:prstGeom>
          <a:noFill/>
        </p:spPr>
        <p:txBody>
          <a:bodyPr wrap="square" lIns="45720" tIns="27432" rIns="45720" bIns="27432" anchor="ctr">
            <a:spAutoFit/>
          </a:bodyPr>
          <a:lstStyle/>
          <a:p>
            <a:pPr marL="0" indent="0" algn="l">
              <a:spcAft>
                <a:spcPts val="200"/>
              </a:spcAft>
              <a:buNone/>
            </a:pPr>
            <a:r>
              <a:rPr sz="900">
                <a:solidFill>
                  <a:srgbClr val="6E6B6C"/>
                </a:solidFill>
              </a:rPr>
              <a:t>50s</a:t>
            </a:r>
          </a:p>
        </p:txBody>
      </p:sp>
      <p:sp>
        <p:nvSpPr>
          <p:cNvPr id="38" name="Rectangle 37"/>
          <p:cNvSpPr/>
          <p:nvPr/>
        </p:nvSpPr>
        <p:spPr>
          <a:xfrm>
            <a:off x="7498079" y="5824727"/>
            <a:ext cx="9144" cy="73152"/>
          </a:xfrm>
          <a:prstGeom prst="rect">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7269479" y="5897879"/>
            <a:ext cx="457200" cy="228600"/>
          </a:xfrm>
          <a:prstGeom prst="rect">
            <a:avLst/>
          </a:prstGeom>
          <a:noFill/>
        </p:spPr>
        <p:txBody>
          <a:bodyPr wrap="square" lIns="45720" tIns="27432" rIns="45720" bIns="27432" anchor="t">
            <a:spAutoFit/>
          </a:bodyPr>
          <a:lstStyle/>
          <a:p>
            <a:pPr marL="0" indent="0" algn="ctr">
              <a:spcAft>
                <a:spcPts val="200"/>
              </a:spcAft>
              <a:buNone/>
            </a:pPr>
            <a:r>
              <a:rPr sz="850">
                <a:solidFill>
                  <a:srgbClr val="6E6B6C"/>
                </a:solidFill>
              </a:rPr>
              <a:t>0 min</a:t>
            </a:r>
          </a:p>
        </p:txBody>
      </p:sp>
      <p:sp>
        <p:nvSpPr>
          <p:cNvPr id="40" name="Rectangle 39"/>
          <p:cNvSpPr/>
          <p:nvPr/>
        </p:nvSpPr>
        <p:spPr>
          <a:xfrm>
            <a:off x="8001000" y="5824727"/>
            <a:ext cx="9144" cy="73152"/>
          </a:xfrm>
          <a:prstGeom prst="rect">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7772400" y="5897879"/>
            <a:ext cx="457200" cy="228600"/>
          </a:xfrm>
          <a:prstGeom prst="rect">
            <a:avLst/>
          </a:prstGeom>
          <a:noFill/>
        </p:spPr>
        <p:txBody>
          <a:bodyPr wrap="square" lIns="45720" tIns="27432" rIns="45720" bIns="27432" anchor="t">
            <a:spAutoFit/>
          </a:bodyPr>
          <a:lstStyle/>
          <a:p>
            <a:pPr marL="0" indent="0" algn="ctr">
              <a:spcAft>
                <a:spcPts val="200"/>
              </a:spcAft>
              <a:buNone/>
            </a:pPr>
            <a:r>
              <a:rPr sz="850">
                <a:solidFill>
                  <a:srgbClr val="6E6B6C"/>
                </a:solidFill>
              </a:rPr>
              <a:t>1 min</a:t>
            </a:r>
          </a:p>
        </p:txBody>
      </p:sp>
      <p:sp>
        <p:nvSpPr>
          <p:cNvPr id="42" name="Rectangle 41"/>
          <p:cNvSpPr/>
          <p:nvPr/>
        </p:nvSpPr>
        <p:spPr>
          <a:xfrm>
            <a:off x="8503919" y="5824727"/>
            <a:ext cx="9144" cy="73152"/>
          </a:xfrm>
          <a:prstGeom prst="rect">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TextBox 42"/>
          <p:cNvSpPr txBox="1"/>
          <p:nvPr/>
        </p:nvSpPr>
        <p:spPr>
          <a:xfrm>
            <a:off x="8275319" y="5897879"/>
            <a:ext cx="457200" cy="228600"/>
          </a:xfrm>
          <a:prstGeom prst="rect">
            <a:avLst/>
          </a:prstGeom>
          <a:noFill/>
        </p:spPr>
        <p:txBody>
          <a:bodyPr wrap="square" lIns="45720" tIns="27432" rIns="45720" bIns="27432" anchor="t">
            <a:spAutoFit/>
          </a:bodyPr>
          <a:lstStyle/>
          <a:p>
            <a:pPr marL="0" indent="0" algn="ctr">
              <a:spcAft>
                <a:spcPts val="200"/>
              </a:spcAft>
              <a:buNone/>
            </a:pPr>
            <a:r>
              <a:rPr sz="850">
                <a:solidFill>
                  <a:srgbClr val="6E6B6C"/>
                </a:solidFill>
              </a:rPr>
              <a:t>2 min</a:t>
            </a:r>
          </a:p>
        </p:txBody>
      </p:sp>
      <p:sp>
        <p:nvSpPr>
          <p:cNvPr id="44" name="Rectangle 43"/>
          <p:cNvSpPr/>
          <p:nvPr/>
        </p:nvSpPr>
        <p:spPr>
          <a:xfrm>
            <a:off x="9006840" y="5824727"/>
            <a:ext cx="9144" cy="73152"/>
          </a:xfrm>
          <a:prstGeom prst="rect">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8778240" y="5897879"/>
            <a:ext cx="457200" cy="228600"/>
          </a:xfrm>
          <a:prstGeom prst="rect">
            <a:avLst/>
          </a:prstGeom>
          <a:noFill/>
        </p:spPr>
        <p:txBody>
          <a:bodyPr wrap="square" lIns="45720" tIns="27432" rIns="45720" bIns="27432" anchor="t">
            <a:spAutoFit/>
          </a:bodyPr>
          <a:lstStyle/>
          <a:p>
            <a:pPr marL="0" indent="0" algn="ctr">
              <a:spcAft>
                <a:spcPts val="200"/>
              </a:spcAft>
              <a:buNone/>
            </a:pPr>
            <a:r>
              <a:rPr sz="850">
                <a:solidFill>
                  <a:srgbClr val="6E6B6C"/>
                </a:solidFill>
              </a:rPr>
              <a:t>3 min</a:t>
            </a:r>
          </a:p>
        </p:txBody>
      </p:sp>
      <p:sp>
        <p:nvSpPr>
          <p:cNvPr id="46" name="Rectangle 45"/>
          <p:cNvSpPr/>
          <p:nvPr/>
        </p:nvSpPr>
        <p:spPr>
          <a:xfrm>
            <a:off x="9509759" y="5824727"/>
            <a:ext cx="9144" cy="73152"/>
          </a:xfrm>
          <a:prstGeom prst="rect">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TextBox 46"/>
          <p:cNvSpPr txBox="1"/>
          <p:nvPr/>
        </p:nvSpPr>
        <p:spPr>
          <a:xfrm>
            <a:off x="9281159" y="5897879"/>
            <a:ext cx="457200" cy="228600"/>
          </a:xfrm>
          <a:prstGeom prst="rect">
            <a:avLst/>
          </a:prstGeom>
          <a:noFill/>
        </p:spPr>
        <p:txBody>
          <a:bodyPr wrap="square" lIns="45720" tIns="27432" rIns="45720" bIns="27432" anchor="t">
            <a:spAutoFit/>
          </a:bodyPr>
          <a:lstStyle/>
          <a:p>
            <a:pPr marL="0" indent="0" algn="ctr">
              <a:spcAft>
                <a:spcPts val="200"/>
              </a:spcAft>
              <a:buNone/>
            </a:pPr>
            <a:r>
              <a:rPr sz="850">
                <a:solidFill>
                  <a:srgbClr val="6E6B6C"/>
                </a:solidFill>
              </a:rPr>
              <a:t>4 min</a:t>
            </a:r>
          </a:p>
        </p:txBody>
      </p:sp>
      <p:sp>
        <p:nvSpPr>
          <p:cNvPr id="48" name="Rectangle 47"/>
          <p:cNvSpPr/>
          <p:nvPr/>
        </p:nvSpPr>
        <p:spPr>
          <a:xfrm>
            <a:off x="10012680" y="5824727"/>
            <a:ext cx="9144" cy="73152"/>
          </a:xfrm>
          <a:prstGeom prst="rect">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9784080" y="5897879"/>
            <a:ext cx="457200" cy="228600"/>
          </a:xfrm>
          <a:prstGeom prst="rect">
            <a:avLst/>
          </a:prstGeom>
          <a:noFill/>
        </p:spPr>
        <p:txBody>
          <a:bodyPr wrap="square" lIns="45720" tIns="27432" rIns="45720" bIns="27432" anchor="t">
            <a:spAutoFit/>
          </a:bodyPr>
          <a:lstStyle/>
          <a:p>
            <a:pPr marL="0" indent="0" algn="ctr">
              <a:spcAft>
                <a:spcPts val="200"/>
              </a:spcAft>
              <a:buNone/>
            </a:pPr>
            <a:r>
              <a:rPr sz="850">
                <a:solidFill>
                  <a:srgbClr val="6E6B6C"/>
                </a:solidFill>
              </a:rPr>
              <a:t>5 min</a:t>
            </a:r>
          </a:p>
        </p:txBody>
      </p:sp>
    </p:spTree>
    <p:extLst>
      <p:ext uri="{BB962C8B-B14F-4D97-AF65-F5344CB8AC3E}">
        <p14:creationId xmlns:p14="http://schemas.microsoft.com/office/powerpoint/2010/main" val="4041567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8FFD-6873-794A-ADE2-400553DFE1DC}"/>
              </a:ext>
            </a:extLst>
          </p:cNvPr>
          <p:cNvSpPr>
            <a:spLocks noGrp="1"/>
          </p:cNvSpPr>
          <p:nvPr>
            <p:ph type="ctrTitle"/>
          </p:nvPr>
        </p:nvSpPr>
        <p:spPr>
          <a:xfrm>
            <a:off x="429768" y="448056"/>
            <a:ext cx="9683496" cy="585216"/>
          </a:xfrm>
        </p:spPr>
        <p:txBody>
          <a:bodyPr/>
          <a:lstStyle/>
          <a:p>
            <a:pPr algn="l"/>
            <a:r>
              <a:t>Design Concepts &amp; Trade-offs</a:t>
            </a:r>
          </a:p>
        </p:txBody>
      </p:sp>
      <p:sp>
        <p:nvSpPr>
          <p:cNvPr id="4" name="Text Placeholder 3">
            <a:extLst>
              <a:ext uri="{FF2B5EF4-FFF2-40B4-BE49-F238E27FC236}">
                <a16:creationId xmlns:a16="http://schemas.microsoft.com/office/drawing/2014/main" id="{39E99D8B-D692-FE44-87F0-976CF98B329E}"/>
              </a:ext>
            </a:extLst>
          </p:cNvPr>
          <p:cNvSpPr>
            <a:spLocks noGrp="1"/>
          </p:cNvSpPr>
          <p:nvPr>
            <p:ph type="body" sz="quarter" idx="10"/>
          </p:nvPr>
        </p:nvSpPr>
        <p:spPr>
          <a:xfrm>
            <a:off x="429768" y="1115568"/>
            <a:ext cx="9683496" cy="457200"/>
          </a:xfrm>
        </p:spPr>
        <p:txBody>
          <a:bodyPr/>
          <a:lstStyle/>
          <a:p>
            <a:r>
              <a:rPr sz="1500"/>
              <a:t>One ecosystem, one image, two identical servers: simple to run, hard to get wrong.</a:t>
            </a:r>
            <a:endParaRPr lang="en-US"/>
          </a:p>
        </p:txBody>
      </p:sp>
      <p:sp>
        <p:nvSpPr>
          <p:cNvPr id="5" name="Text Placeholder 4">
            <a:extLst>
              <a:ext uri="{FF2B5EF4-FFF2-40B4-BE49-F238E27FC236}">
                <a16:creationId xmlns:a16="http://schemas.microsoft.com/office/drawing/2014/main" id="{02DC0396-78AF-EE49-B32E-876FA9372250}"/>
              </a:ext>
            </a:extLst>
          </p:cNvPr>
          <p:cNvSpPr>
            <a:spLocks noGrp="1"/>
          </p:cNvSpPr>
          <p:nvPr>
            <p:ph type="body" sz="quarter" idx="11"/>
          </p:nvPr>
        </p:nvSpPr>
        <p:spPr>
          <a:xfrm>
            <a:off x="429768" y="6336792"/>
            <a:ext cx="9683496" cy="246888"/>
          </a:xfrm>
        </p:spPr>
        <p:txBody>
          <a:bodyPr/>
          <a:lstStyle/>
          <a:p>
            <a:r>
              <a:rPr>
                <a:solidFill>
                  <a:srgbClr val="6E6B6C"/>
                </a:solidFill>
              </a:rPr>
              <a:t>Only the SHA-tagged image that passed every check is promoted. Staging and Production run the same Compose file and the same deploy script.</a:t>
            </a:r>
            <a:endParaRPr lang="en-US"/>
          </a:p>
        </p:txBody>
      </p:sp>
      <p:sp>
        <p:nvSpPr>
          <p:cNvPr id="6" name="Rounded Rectangle 5"/>
          <p:cNvSpPr/>
          <p:nvPr/>
        </p:nvSpPr>
        <p:spPr>
          <a:xfrm>
            <a:off x="429768" y="1783080"/>
            <a:ext cx="1463040" cy="86868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marL="0" indent="0" algn="ctr">
              <a:spcAft>
                <a:spcPts val="200"/>
              </a:spcAft>
              <a:buNone/>
            </a:pPr>
            <a:r>
              <a:rPr sz="1150" b="1">
                <a:solidFill>
                  <a:srgbClr val="FFFFFF"/>
                </a:solidFill>
              </a:rPr>
              <a:t>Developer</a:t>
            </a:r>
          </a:p>
          <a:p>
            <a:pPr marL="0" indent="0" algn="ctr">
              <a:spcAft>
                <a:spcPts val="200"/>
              </a:spcAft>
              <a:buNone/>
            </a:pPr>
            <a:r>
              <a:rPr sz="850">
                <a:solidFill>
                  <a:srgbClr val="FFFFFF"/>
                </a:solidFill>
              </a:rPr>
              <a:t>git push, pull request</a:t>
            </a:r>
          </a:p>
        </p:txBody>
      </p:sp>
      <p:sp>
        <p:nvSpPr>
          <p:cNvPr id="7" name="Right Arrow 6"/>
          <p:cNvSpPr/>
          <p:nvPr/>
        </p:nvSpPr>
        <p:spPr>
          <a:xfrm>
            <a:off x="1901952" y="2125979"/>
            <a:ext cx="137160" cy="182880"/>
          </a:xfrm>
          <a:prstGeom prst="rightArrow">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ounded Rectangle 7"/>
          <p:cNvSpPr/>
          <p:nvPr/>
        </p:nvSpPr>
        <p:spPr>
          <a:xfrm>
            <a:off x="2048256" y="1783080"/>
            <a:ext cx="1463040" cy="86868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marL="0" indent="0" algn="ctr">
              <a:spcAft>
                <a:spcPts val="200"/>
              </a:spcAft>
              <a:buNone/>
            </a:pPr>
            <a:r>
              <a:rPr sz="1150" b="1">
                <a:solidFill>
                  <a:srgbClr val="FFFFFF"/>
                </a:solidFill>
              </a:rPr>
              <a:t>GitHub</a:t>
            </a:r>
          </a:p>
          <a:p>
            <a:pPr marL="0" indent="0" algn="ctr">
              <a:spcAft>
                <a:spcPts val="200"/>
              </a:spcAft>
              <a:buNone/>
            </a:pPr>
            <a:r>
              <a:rPr sz="850">
                <a:solidFill>
                  <a:srgbClr val="FFFFFF"/>
                </a:solidFill>
              </a:rPr>
              <a:t>repository, protected main, CODEOWNERS</a:t>
            </a:r>
          </a:p>
        </p:txBody>
      </p:sp>
      <p:sp>
        <p:nvSpPr>
          <p:cNvPr id="9" name="Right Arrow 8"/>
          <p:cNvSpPr/>
          <p:nvPr/>
        </p:nvSpPr>
        <p:spPr>
          <a:xfrm>
            <a:off x="3520440" y="2125979"/>
            <a:ext cx="137160" cy="182880"/>
          </a:xfrm>
          <a:prstGeom prst="rightArrow">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3666744" y="1783080"/>
            <a:ext cx="1463040" cy="86868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marL="0" indent="0" algn="ctr">
              <a:spcAft>
                <a:spcPts val="200"/>
              </a:spcAft>
              <a:buNone/>
            </a:pPr>
            <a:r>
              <a:rPr sz="1150" b="1">
                <a:solidFill>
                  <a:srgbClr val="FFFFFF"/>
                </a:solidFill>
              </a:rPr>
              <a:t>GitHub Actions</a:t>
            </a:r>
          </a:p>
          <a:p>
            <a:pPr marL="0" indent="0" algn="ctr">
              <a:spcAft>
                <a:spcPts val="200"/>
              </a:spcAft>
              <a:buNone/>
            </a:pPr>
            <a:r>
              <a:rPr sz="850">
                <a:solidFill>
                  <a:srgbClr val="FFFFFF"/>
                </a:solidFill>
              </a:rPr>
              <a:t>lint, tests, Trivy, build images</a:t>
            </a:r>
          </a:p>
        </p:txBody>
      </p:sp>
      <p:sp>
        <p:nvSpPr>
          <p:cNvPr id="11" name="Right Arrow 10"/>
          <p:cNvSpPr/>
          <p:nvPr/>
        </p:nvSpPr>
        <p:spPr>
          <a:xfrm>
            <a:off x="5138927" y="2125979"/>
            <a:ext cx="137160" cy="182880"/>
          </a:xfrm>
          <a:prstGeom prst="rightArrow">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ounded Rectangle 11"/>
          <p:cNvSpPr/>
          <p:nvPr/>
        </p:nvSpPr>
        <p:spPr>
          <a:xfrm>
            <a:off x="5285232" y="1783080"/>
            <a:ext cx="1463040" cy="86868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marL="0" indent="0" algn="ctr">
              <a:spcAft>
                <a:spcPts val="200"/>
              </a:spcAft>
              <a:buNone/>
            </a:pPr>
            <a:r>
              <a:rPr sz="1150" b="1">
                <a:solidFill>
                  <a:srgbClr val="FFFFFF"/>
                </a:solidFill>
              </a:rPr>
              <a:t>GHCR</a:t>
            </a:r>
          </a:p>
          <a:p>
            <a:pPr marL="0" indent="0" algn="ctr">
              <a:spcAft>
                <a:spcPts val="200"/>
              </a:spcAft>
              <a:buNone/>
            </a:pPr>
            <a:r>
              <a:rPr sz="850">
                <a:solidFill>
                  <a:srgbClr val="FFFFFF"/>
                </a:solidFill>
              </a:rPr>
              <a:t>images tagged with commit SHA</a:t>
            </a:r>
          </a:p>
        </p:txBody>
      </p:sp>
      <p:sp>
        <p:nvSpPr>
          <p:cNvPr id="13" name="Right Arrow 12"/>
          <p:cNvSpPr/>
          <p:nvPr/>
        </p:nvSpPr>
        <p:spPr>
          <a:xfrm>
            <a:off x="6757416" y="2125979"/>
            <a:ext cx="137160" cy="182880"/>
          </a:xfrm>
          <a:prstGeom prst="rightArrow">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ounded Rectangle 13"/>
          <p:cNvSpPr/>
          <p:nvPr/>
        </p:nvSpPr>
        <p:spPr>
          <a:xfrm>
            <a:off x="6903720" y="1783080"/>
            <a:ext cx="1463040" cy="868680"/>
          </a:xfrm>
          <a:prstGeom prst="roundRect">
            <a:avLst>
              <a:gd name="adj" fmla="val 10000"/>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marL="0" indent="0" algn="ctr">
              <a:spcAft>
                <a:spcPts val="200"/>
              </a:spcAft>
              <a:buNone/>
            </a:pPr>
            <a:r>
              <a:rPr sz="1150" b="1">
                <a:solidFill>
                  <a:srgbClr val="FFFFFF"/>
                </a:solidFill>
              </a:rPr>
              <a:t>Staging EC2</a:t>
            </a:r>
          </a:p>
          <a:p>
            <a:pPr marL="0" indent="0" algn="ctr">
              <a:spcAft>
                <a:spcPts val="200"/>
              </a:spcAft>
              <a:buNone/>
            </a:pPr>
            <a:r>
              <a:rPr sz="850">
                <a:solidFill>
                  <a:srgbClr val="FFFFFF"/>
                </a:solidFill>
              </a:rPr>
              <a:t>web, api, db; smoke test; Playwright</a:t>
            </a:r>
          </a:p>
        </p:txBody>
      </p:sp>
      <p:sp>
        <p:nvSpPr>
          <p:cNvPr id="15" name="Right Arrow 14"/>
          <p:cNvSpPr/>
          <p:nvPr/>
        </p:nvSpPr>
        <p:spPr>
          <a:xfrm>
            <a:off x="8375904" y="2125979"/>
            <a:ext cx="137160" cy="182880"/>
          </a:xfrm>
          <a:prstGeom prst="rightArrow">
            <a:avLst/>
          </a:prstGeom>
          <a:solidFill>
            <a:srgbClr val="6E6B6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8522208" y="1783080"/>
            <a:ext cx="1463040" cy="868680"/>
          </a:xfrm>
          <a:prstGeom prst="roundRect">
            <a:avLst>
              <a:gd name="adj" fmla="val 10000"/>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marL="0" indent="0" algn="ctr">
              <a:spcAft>
                <a:spcPts val="200"/>
              </a:spcAft>
              <a:buNone/>
            </a:pPr>
            <a:r>
              <a:rPr sz="1150" b="1">
                <a:solidFill>
                  <a:srgbClr val="FFFFFF"/>
                </a:solidFill>
              </a:rPr>
              <a:t>Production EC2</a:t>
            </a:r>
          </a:p>
          <a:p>
            <a:pPr marL="0" indent="0" algn="ctr">
              <a:spcAft>
                <a:spcPts val="200"/>
              </a:spcAft>
              <a:buNone/>
            </a:pPr>
            <a:r>
              <a:rPr sz="850">
                <a:solidFill>
                  <a:srgbClr val="FFFFFF"/>
                </a:solidFill>
              </a:rPr>
              <a:t>web, api, db + Prometheus, Grafana, node_exporter, cAdvisor</a:t>
            </a:r>
          </a:p>
        </p:txBody>
      </p:sp>
      <p:sp>
        <p:nvSpPr>
          <p:cNvPr id="17" name="Rounded Rectangle 16"/>
          <p:cNvSpPr/>
          <p:nvPr/>
        </p:nvSpPr>
        <p:spPr>
          <a:xfrm>
            <a:off x="7964424" y="2724912"/>
            <a:ext cx="960120" cy="274320"/>
          </a:xfrm>
          <a:prstGeom prst="roundRect">
            <a:avLst>
              <a:gd name="adj" fmla="val 30000"/>
            </a:avLst>
          </a:prstGeom>
          <a:solidFill>
            <a:srgbClr val="E7E7E8"/>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850" b="1">
                <a:solidFill>
                  <a:srgbClr val="3D3A3B"/>
                </a:solidFill>
              </a:rPr>
              <a:t>approval</a:t>
            </a:r>
          </a:p>
        </p:txBody>
      </p:sp>
      <p:sp>
        <p:nvSpPr>
          <p:cNvPr id="18" name="TextBox 17"/>
          <p:cNvSpPr txBox="1"/>
          <p:nvPr/>
        </p:nvSpPr>
        <p:spPr>
          <a:xfrm>
            <a:off x="429768" y="3200400"/>
            <a:ext cx="3291840" cy="274320"/>
          </a:xfrm>
          <a:prstGeom prst="rect">
            <a:avLst/>
          </a:prstGeom>
          <a:noFill/>
        </p:spPr>
        <p:txBody>
          <a:bodyPr wrap="square" lIns="45720" tIns="27432" rIns="45720" bIns="27432" anchor="t">
            <a:spAutoFit/>
          </a:bodyPr>
          <a:lstStyle/>
          <a:p>
            <a:pPr marL="0" indent="0" algn="l">
              <a:spcAft>
                <a:spcPts val="200"/>
              </a:spcAft>
              <a:buNone/>
            </a:pPr>
            <a:r>
              <a:rPr sz="1250" b="1">
                <a:solidFill>
                  <a:srgbClr val="3D3A3B"/>
                </a:solidFill>
              </a:rPr>
              <a:t>Design concepts</a:t>
            </a:r>
          </a:p>
        </p:txBody>
      </p:sp>
      <p:sp>
        <p:nvSpPr>
          <p:cNvPr id="19" name="TextBox 18"/>
          <p:cNvSpPr txBox="1"/>
          <p:nvPr/>
        </p:nvSpPr>
        <p:spPr>
          <a:xfrm>
            <a:off x="429768" y="3520440"/>
            <a:ext cx="3291840" cy="2194560"/>
          </a:xfrm>
          <a:prstGeom prst="rect">
            <a:avLst/>
          </a:prstGeom>
          <a:noFill/>
        </p:spPr>
        <p:txBody>
          <a:bodyPr wrap="square" lIns="45720" tIns="27432" rIns="45720" bIns="27432" anchor="t">
            <a:spAutoFit/>
          </a:bodyPr>
          <a:lstStyle/>
          <a:p>
            <a:pPr marL="0" indent="0" algn="l">
              <a:spcAft>
                <a:spcPts val="500"/>
              </a:spcAft>
              <a:buNone/>
            </a:pPr>
            <a:r>
              <a:rPr sz="1100">
                <a:solidFill>
                  <a:srgbClr val="3D3A3B"/>
                </a:solidFill>
              </a:rPr>
              <a:t>Build once, promote the same SHA-tagged image</a:t>
            </a:r>
          </a:p>
          <a:p>
            <a:pPr marL="0" indent="0" algn="l">
              <a:spcAft>
                <a:spcPts val="500"/>
              </a:spcAft>
              <a:buNone/>
            </a:pPr>
            <a:r>
              <a:rPr sz="1100">
                <a:solidFill>
                  <a:srgbClr val="3D3A3B"/>
                </a:solidFill>
              </a:rPr>
              <a:t>Same Compose file and deploy script on both servers</a:t>
            </a:r>
          </a:p>
          <a:p>
            <a:pPr marL="0" indent="0" algn="l">
              <a:spcAft>
                <a:spcPts val="500"/>
              </a:spcAft>
              <a:buNone/>
            </a:pPr>
            <a:r>
              <a:rPr sz="1100">
                <a:solidFill>
                  <a:srgbClr val="3D3A3B"/>
                </a:solidFill>
              </a:rPr>
              <a:t>Trunk-based: branch per issue, review, squash to main</a:t>
            </a:r>
          </a:p>
          <a:p>
            <a:pPr marL="0" indent="0" algn="l">
              <a:spcAft>
                <a:spcPts val="500"/>
              </a:spcAft>
              <a:buNone/>
            </a:pPr>
            <a:r>
              <a:rPr sz="1100">
                <a:solidFill>
                  <a:srgbClr val="3D3A3B"/>
                </a:solidFill>
              </a:rPr>
              <a:t>Health endpoint gates every deploy; metrics feed Grafana</a:t>
            </a:r>
          </a:p>
        </p:txBody>
      </p:sp>
      <p:graphicFrame>
        <p:nvGraphicFramePr>
          <p:cNvPr id="20" name="Tool matrix"/>
          <p:cNvGraphicFramePr>
            <a:graphicFrameLocks noGrp="1"/>
          </p:cNvGraphicFramePr>
          <p:nvPr/>
        </p:nvGraphicFramePr>
        <p:xfrm>
          <a:off x="3931920" y="3200400"/>
          <a:ext cx="6172200" cy="2834640"/>
        </p:xfrm>
        <a:graphic>
          <a:graphicData uri="http://schemas.openxmlformats.org/drawingml/2006/table">
            <a:tbl>
              <a:tblPr>
                <a:tableStyleId>{5C22544A-7EE6-4342-B048-85BDC9FD1C3A}</a:tableStyleId>
              </a:tblPr>
              <a:tblGrid>
                <a:gridCol w="8686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472440">
                <a:tc>
                  <a:txBody>
                    <a:bodyPr/>
                    <a:lstStyle/>
                    <a:p>
                      <a:pPr marL="0" indent="0">
                        <a:buNone/>
                      </a:pPr>
                      <a:r>
                        <a:rPr sz="950" b="1">
                          <a:solidFill>
                            <a:srgbClr val="FFFFFF"/>
                          </a:solidFill>
                        </a:rPr>
                        <a:t>Stage</a:t>
                      </a:r>
                    </a:p>
                  </a:txBody>
                  <a:tcPr marL="73152" marR="73152" marT="36576" marB="36576" anchor="ctr">
                    <a:solidFill>
                      <a:srgbClr val="3D3A3B"/>
                    </a:solidFill>
                  </a:tcPr>
                </a:tc>
                <a:tc>
                  <a:txBody>
                    <a:bodyPr/>
                    <a:lstStyle/>
                    <a:p>
                      <a:pPr marL="0" indent="0">
                        <a:buNone/>
                      </a:pPr>
                      <a:r>
                        <a:rPr sz="950" b="1">
                          <a:solidFill>
                            <a:srgbClr val="FFFFFF"/>
                          </a:solidFill>
                        </a:rPr>
                        <a:t>Chosen</a:t>
                      </a:r>
                    </a:p>
                  </a:txBody>
                  <a:tcPr marL="73152" marR="73152" marT="36576" marB="36576" anchor="ctr">
                    <a:solidFill>
                      <a:srgbClr val="3D3A3B"/>
                    </a:solidFill>
                  </a:tcPr>
                </a:tc>
                <a:tc>
                  <a:txBody>
                    <a:bodyPr/>
                    <a:lstStyle/>
                    <a:p>
                      <a:pPr marL="0" indent="0">
                        <a:buNone/>
                      </a:pPr>
                      <a:r>
                        <a:rPr sz="950" b="1">
                          <a:solidFill>
                            <a:srgbClr val="FFFFFF"/>
                          </a:solidFill>
                        </a:rPr>
                        <a:t>Considered</a:t>
                      </a:r>
                    </a:p>
                  </a:txBody>
                  <a:tcPr marL="73152" marR="73152" marT="36576" marB="36576" anchor="ctr">
                    <a:solidFill>
                      <a:srgbClr val="3D3A3B"/>
                    </a:solidFill>
                  </a:tcPr>
                </a:tc>
                <a:tc>
                  <a:txBody>
                    <a:bodyPr/>
                    <a:lstStyle/>
                    <a:p>
                      <a:pPr marL="0" indent="0">
                        <a:buNone/>
                      </a:pPr>
                      <a:r>
                        <a:rPr sz="950" b="1">
                          <a:solidFill>
                            <a:srgbClr val="FFFFFF"/>
                          </a:solidFill>
                        </a:rPr>
                        <a:t>Why</a:t>
                      </a:r>
                    </a:p>
                  </a:txBody>
                  <a:tcPr marL="73152" marR="73152" marT="36576" marB="36576" anchor="ctr">
                    <a:solidFill>
                      <a:srgbClr val="3D3A3B"/>
                    </a:solidFill>
                  </a:tcPr>
                </a:tc>
                <a:extLst>
                  <a:ext uri="{0D108BD9-81ED-4DB2-BD59-A6C34878D82A}">
                    <a16:rowId xmlns:a16="http://schemas.microsoft.com/office/drawing/2014/main" val="10000"/>
                  </a:ext>
                </a:extLst>
              </a:tr>
              <a:tr h="472440">
                <a:tc>
                  <a:txBody>
                    <a:bodyPr/>
                    <a:lstStyle/>
                    <a:p>
                      <a:pPr marL="0" indent="0">
                        <a:buNone/>
                      </a:pPr>
                      <a:r>
                        <a:rPr sz="950" b="1">
                          <a:solidFill>
                            <a:srgbClr val="3D3A3B"/>
                          </a:solidFill>
                        </a:rPr>
                        <a:t>CI / build</a:t>
                      </a:r>
                    </a:p>
                  </a:txBody>
                  <a:tcPr marL="73152" marR="73152" marT="36576" marB="36576" anchor="ctr">
                    <a:solidFill>
                      <a:srgbClr val="F2F2F2"/>
                    </a:solidFill>
                  </a:tcPr>
                </a:tc>
                <a:tc>
                  <a:txBody>
                    <a:bodyPr/>
                    <a:lstStyle/>
                    <a:p>
                      <a:pPr marL="0" indent="0">
                        <a:buNone/>
                      </a:pPr>
                      <a:r>
                        <a:rPr sz="950">
                          <a:solidFill>
                            <a:srgbClr val="3D3A3B"/>
                          </a:solidFill>
                        </a:rPr>
                        <a:t>GitHub Actions</a:t>
                      </a:r>
                    </a:p>
                  </a:txBody>
                  <a:tcPr marL="73152" marR="73152" marT="36576" marB="36576" anchor="ctr">
                    <a:solidFill>
                      <a:srgbClr val="F2F2F2"/>
                    </a:solidFill>
                  </a:tcPr>
                </a:tc>
                <a:tc>
                  <a:txBody>
                    <a:bodyPr/>
                    <a:lstStyle/>
                    <a:p>
                      <a:pPr marL="0" indent="0">
                        <a:buNone/>
                      </a:pPr>
                      <a:r>
                        <a:rPr sz="950">
                          <a:solidFill>
                            <a:srgbClr val="3D3A3B"/>
                          </a:solidFill>
                        </a:rPr>
                        <a:t>Jenkins, GitLab CI</a:t>
                      </a:r>
                    </a:p>
                  </a:txBody>
                  <a:tcPr marL="73152" marR="73152" marT="36576" marB="36576" anchor="ctr">
                    <a:solidFill>
                      <a:srgbClr val="F2F2F2"/>
                    </a:solidFill>
                  </a:tcPr>
                </a:tc>
                <a:tc>
                  <a:txBody>
                    <a:bodyPr/>
                    <a:lstStyle/>
                    <a:p>
                      <a:pPr marL="0" indent="0">
                        <a:buNone/>
                      </a:pPr>
                      <a:r>
                        <a:rPr sz="950">
                          <a:solidFill>
                            <a:srgbClr val="3D3A3B"/>
                          </a:solidFill>
                        </a:rPr>
                        <a:t>No server to run or patch; same place as the code; free minutes</a:t>
                      </a:r>
                    </a:p>
                  </a:txBody>
                  <a:tcPr marL="73152" marR="73152" marT="36576" marB="36576" anchor="ctr">
                    <a:solidFill>
                      <a:srgbClr val="F2F2F2"/>
                    </a:solidFill>
                  </a:tcPr>
                </a:tc>
                <a:extLst>
                  <a:ext uri="{0D108BD9-81ED-4DB2-BD59-A6C34878D82A}">
                    <a16:rowId xmlns:a16="http://schemas.microsoft.com/office/drawing/2014/main" val="10001"/>
                  </a:ext>
                </a:extLst>
              </a:tr>
              <a:tr h="472440">
                <a:tc>
                  <a:txBody>
                    <a:bodyPr/>
                    <a:lstStyle/>
                    <a:p>
                      <a:pPr marL="0" indent="0">
                        <a:buNone/>
                      </a:pPr>
                      <a:r>
                        <a:rPr sz="950" b="1">
                          <a:solidFill>
                            <a:srgbClr val="3D3A3B"/>
                          </a:solidFill>
                        </a:rPr>
                        <a:t>Hosting</a:t>
                      </a:r>
                    </a:p>
                  </a:txBody>
                  <a:tcPr marL="73152" marR="73152" marT="36576" marB="36576" anchor="ctr">
                    <a:solidFill>
                      <a:srgbClr val="FFFFFF"/>
                    </a:solidFill>
                  </a:tcPr>
                </a:tc>
                <a:tc>
                  <a:txBody>
                    <a:bodyPr/>
                    <a:lstStyle/>
                    <a:p>
                      <a:pPr marL="0" indent="0">
                        <a:buNone/>
                      </a:pPr>
                      <a:r>
                        <a:rPr sz="950">
                          <a:solidFill>
                            <a:srgbClr val="3D3A3B"/>
                          </a:solidFill>
                        </a:rPr>
                        <a:t>AWS EC2</a:t>
                      </a:r>
                    </a:p>
                  </a:txBody>
                  <a:tcPr marL="73152" marR="73152" marT="36576" marB="36576" anchor="ctr">
                    <a:solidFill>
                      <a:srgbClr val="FFFFFF"/>
                    </a:solidFill>
                  </a:tcPr>
                </a:tc>
                <a:tc>
                  <a:txBody>
                    <a:bodyPr/>
                    <a:lstStyle/>
                    <a:p>
                      <a:pPr marL="0" indent="0">
                        <a:buNone/>
                      </a:pPr>
                      <a:r>
                        <a:rPr sz="950">
                          <a:solidFill>
                            <a:srgbClr val="3D3A3B"/>
                          </a:solidFill>
                        </a:rPr>
                        <a:t>DigitalOcean, local VMs</a:t>
                      </a:r>
                    </a:p>
                  </a:txBody>
                  <a:tcPr marL="73152" marR="73152" marT="36576" marB="36576" anchor="ctr">
                    <a:solidFill>
                      <a:srgbClr val="FFFFFF"/>
                    </a:solidFill>
                  </a:tcPr>
                </a:tc>
                <a:tc>
                  <a:txBody>
                    <a:bodyPr/>
                    <a:lstStyle/>
                    <a:p>
                      <a:pPr marL="0" indent="0">
                        <a:buNone/>
                      </a:pPr>
                      <a:r>
                        <a:rPr sz="950">
                          <a:solidFill>
                            <a:srgbClr val="3D3A3B"/>
                          </a:solidFill>
                        </a:rPr>
                        <a:t>Public IPs and security groups; free tier; team had EC2 experience</a:t>
                      </a:r>
                    </a:p>
                  </a:txBody>
                  <a:tcPr marL="73152" marR="73152" marT="36576" marB="36576" anchor="ctr">
                    <a:solidFill>
                      <a:srgbClr val="FFFFFF"/>
                    </a:solidFill>
                  </a:tcPr>
                </a:tc>
                <a:extLst>
                  <a:ext uri="{0D108BD9-81ED-4DB2-BD59-A6C34878D82A}">
                    <a16:rowId xmlns:a16="http://schemas.microsoft.com/office/drawing/2014/main" val="10002"/>
                  </a:ext>
                </a:extLst>
              </a:tr>
              <a:tr h="472440">
                <a:tc>
                  <a:txBody>
                    <a:bodyPr/>
                    <a:lstStyle/>
                    <a:p>
                      <a:pPr marL="0" indent="0">
                        <a:buNone/>
                      </a:pPr>
                      <a:r>
                        <a:rPr sz="950" b="1">
                          <a:solidFill>
                            <a:srgbClr val="3D3A3B"/>
                          </a:solidFill>
                        </a:rPr>
                        <a:t>Runtime</a:t>
                      </a:r>
                    </a:p>
                  </a:txBody>
                  <a:tcPr marL="73152" marR="73152" marT="36576" marB="36576" anchor="ctr">
                    <a:solidFill>
                      <a:srgbClr val="F2F2F2"/>
                    </a:solidFill>
                  </a:tcPr>
                </a:tc>
                <a:tc>
                  <a:txBody>
                    <a:bodyPr/>
                    <a:lstStyle/>
                    <a:p>
                      <a:pPr marL="0" indent="0">
                        <a:buNone/>
                      </a:pPr>
                      <a:r>
                        <a:rPr sz="950">
                          <a:solidFill>
                            <a:srgbClr val="3D3A3B"/>
                          </a:solidFill>
                        </a:rPr>
                        <a:t>Docker Compose</a:t>
                      </a:r>
                    </a:p>
                  </a:txBody>
                  <a:tcPr marL="73152" marR="73152" marT="36576" marB="36576" anchor="ctr">
                    <a:solidFill>
                      <a:srgbClr val="F2F2F2"/>
                    </a:solidFill>
                  </a:tcPr>
                </a:tc>
                <a:tc>
                  <a:txBody>
                    <a:bodyPr/>
                    <a:lstStyle/>
                    <a:p>
                      <a:pPr marL="0" indent="0">
                        <a:buNone/>
                      </a:pPr>
                      <a:r>
                        <a:rPr sz="950">
                          <a:solidFill>
                            <a:srgbClr val="3D3A3B"/>
                          </a:solidFill>
                        </a:rPr>
                        <a:t>Kubernetes, bare Node</a:t>
                      </a:r>
                    </a:p>
                  </a:txBody>
                  <a:tcPr marL="73152" marR="73152" marT="36576" marB="36576" anchor="ctr">
                    <a:solidFill>
                      <a:srgbClr val="F2F2F2"/>
                    </a:solidFill>
                  </a:tcPr>
                </a:tc>
                <a:tc>
                  <a:txBody>
                    <a:bodyPr/>
                    <a:lstStyle/>
                    <a:p>
                      <a:pPr marL="0" indent="0">
                        <a:buNone/>
                      </a:pPr>
                      <a:r>
                        <a:rPr sz="950">
                          <a:solidFill>
                            <a:srgbClr val="3D3A3B"/>
                          </a:solidFill>
                        </a:rPr>
                        <a:t>Three containers on one host; Kubernetes is complexity we do not need</a:t>
                      </a:r>
                    </a:p>
                  </a:txBody>
                  <a:tcPr marL="73152" marR="73152" marT="36576" marB="36576" anchor="ctr">
                    <a:solidFill>
                      <a:srgbClr val="F2F2F2"/>
                    </a:solidFill>
                  </a:tcPr>
                </a:tc>
                <a:extLst>
                  <a:ext uri="{0D108BD9-81ED-4DB2-BD59-A6C34878D82A}">
                    <a16:rowId xmlns:a16="http://schemas.microsoft.com/office/drawing/2014/main" val="10003"/>
                  </a:ext>
                </a:extLst>
              </a:tr>
              <a:tr h="472440">
                <a:tc>
                  <a:txBody>
                    <a:bodyPr/>
                    <a:lstStyle/>
                    <a:p>
                      <a:pPr marL="0" indent="0">
                        <a:buNone/>
                      </a:pPr>
                      <a:r>
                        <a:rPr sz="950" b="1">
                          <a:solidFill>
                            <a:srgbClr val="3D3A3B"/>
                          </a:solidFill>
                        </a:rPr>
                        <a:t>Monitoring</a:t>
                      </a:r>
                    </a:p>
                  </a:txBody>
                  <a:tcPr marL="73152" marR="73152" marT="36576" marB="36576" anchor="ctr">
                    <a:solidFill>
                      <a:srgbClr val="FFFFFF"/>
                    </a:solidFill>
                  </a:tcPr>
                </a:tc>
                <a:tc>
                  <a:txBody>
                    <a:bodyPr/>
                    <a:lstStyle/>
                    <a:p>
                      <a:pPr marL="0" indent="0">
                        <a:buNone/>
                      </a:pPr>
                      <a:r>
                        <a:rPr sz="950">
                          <a:solidFill>
                            <a:srgbClr val="3D3A3B"/>
                          </a:solidFill>
                        </a:rPr>
                        <a:t>Prometheus + Grafana</a:t>
                      </a:r>
                    </a:p>
                  </a:txBody>
                  <a:tcPr marL="73152" marR="73152" marT="36576" marB="36576" anchor="ctr">
                    <a:solidFill>
                      <a:srgbClr val="FFFFFF"/>
                    </a:solidFill>
                  </a:tcPr>
                </a:tc>
                <a:tc>
                  <a:txBody>
                    <a:bodyPr/>
                    <a:lstStyle/>
                    <a:p>
                      <a:pPr marL="0" indent="0">
                        <a:buNone/>
                      </a:pPr>
                      <a:r>
                        <a:rPr sz="950">
                          <a:solidFill>
                            <a:srgbClr val="3D3A3B"/>
                          </a:solidFill>
                        </a:rPr>
                        <a:t>CloudWatch, Datadog</a:t>
                      </a:r>
                    </a:p>
                  </a:txBody>
                  <a:tcPr marL="73152" marR="73152" marT="36576" marB="36576" anchor="ctr">
                    <a:solidFill>
                      <a:srgbClr val="FFFFFF"/>
                    </a:solidFill>
                  </a:tcPr>
                </a:tc>
                <a:tc>
                  <a:txBody>
                    <a:bodyPr/>
                    <a:lstStyle/>
                    <a:p>
                      <a:pPr marL="0" indent="0">
                        <a:buNone/>
                      </a:pPr>
                      <a:r>
                        <a:rPr sz="950">
                          <a:solidFill>
                            <a:srgbClr val="3D3A3B"/>
                          </a:solidFill>
                        </a:rPr>
                        <a:t>Open source, runs beside the app, no vendor cost or lock-in</a:t>
                      </a:r>
                    </a:p>
                  </a:txBody>
                  <a:tcPr marL="73152" marR="73152" marT="36576" marB="36576" anchor="ctr">
                    <a:solidFill>
                      <a:srgbClr val="FFFFFF"/>
                    </a:solidFill>
                  </a:tcPr>
                </a:tc>
                <a:extLst>
                  <a:ext uri="{0D108BD9-81ED-4DB2-BD59-A6C34878D82A}">
                    <a16:rowId xmlns:a16="http://schemas.microsoft.com/office/drawing/2014/main" val="10004"/>
                  </a:ext>
                </a:extLst>
              </a:tr>
              <a:tr h="472440">
                <a:tc>
                  <a:txBody>
                    <a:bodyPr/>
                    <a:lstStyle/>
                    <a:p>
                      <a:pPr marL="0" indent="0">
                        <a:buNone/>
                      </a:pPr>
                      <a:r>
                        <a:rPr sz="950" b="1">
                          <a:solidFill>
                            <a:srgbClr val="3D3A3B"/>
                          </a:solidFill>
                        </a:rPr>
                        <a:t>Tests</a:t>
                      </a:r>
                    </a:p>
                  </a:txBody>
                  <a:tcPr marL="73152" marR="73152" marT="36576" marB="36576" anchor="ctr">
                    <a:solidFill>
                      <a:srgbClr val="F2F2F2"/>
                    </a:solidFill>
                  </a:tcPr>
                </a:tc>
                <a:tc>
                  <a:txBody>
                    <a:bodyPr/>
                    <a:lstStyle/>
                    <a:p>
                      <a:pPr marL="0" indent="0">
                        <a:buNone/>
                      </a:pPr>
                      <a:r>
                        <a:rPr sz="950">
                          <a:solidFill>
                            <a:srgbClr val="3D3A3B"/>
                          </a:solidFill>
                        </a:rPr>
                        <a:t>Vitest, Supertest, Playwright</a:t>
                      </a:r>
                    </a:p>
                  </a:txBody>
                  <a:tcPr marL="73152" marR="73152" marT="36576" marB="36576" anchor="ctr">
                    <a:solidFill>
                      <a:srgbClr val="F2F2F2"/>
                    </a:solidFill>
                  </a:tcPr>
                </a:tc>
                <a:tc>
                  <a:txBody>
                    <a:bodyPr/>
                    <a:lstStyle/>
                    <a:p>
                      <a:pPr marL="0" indent="0">
                        <a:buNone/>
                      </a:pPr>
                      <a:r>
                        <a:rPr sz="950">
                          <a:solidFill>
                            <a:srgbClr val="3D3A3B"/>
                          </a:solidFill>
                        </a:rPr>
                        <a:t>Jest, Cypress</a:t>
                      </a:r>
                    </a:p>
                  </a:txBody>
                  <a:tcPr marL="73152" marR="73152" marT="36576" marB="36576" anchor="ctr">
                    <a:solidFill>
                      <a:srgbClr val="F2F2F2"/>
                    </a:solidFill>
                  </a:tcPr>
                </a:tc>
                <a:tc>
                  <a:txBody>
                    <a:bodyPr/>
                    <a:lstStyle/>
                    <a:p>
                      <a:pPr marL="0" indent="0">
                        <a:buNone/>
                      </a:pPr>
                      <a:r>
                        <a:rPr sz="950">
                          <a:solidFill>
                            <a:srgbClr val="3D3A3B"/>
                          </a:solidFill>
                        </a:rPr>
                        <a:t>One JavaScript stack end to end; Playwright is faster in CI</a:t>
                      </a:r>
                    </a:p>
                  </a:txBody>
                  <a:tcPr marL="73152" marR="73152" marT="36576" marB="36576" anchor="ctr">
                    <a:solidFill>
                      <a:srgbClr val="F2F2F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14553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9CD25-C8A7-B547-A638-0B9902A6F0DB}"/>
              </a:ext>
            </a:extLst>
          </p:cNvPr>
          <p:cNvSpPr>
            <a:spLocks noGrp="1"/>
          </p:cNvSpPr>
          <p:nvPr>
            <p:ph type="ctrTitle"/>
          </p:nvPr>
        </p:nvSpPr>
        <p:spPr>
          <a:xfrm>
            <a:off x="429768" y="448056"/>
            <a:ext cx="9683496" cy="585216"/>
          </a:xfrm>
        </p:spPr>
        <p:txBody>
          <a:bodyPr/>
          <a:lstStyle/>
          <a:p>
            <a:pPr algn="l"/>
            <a:r>
              <a:t>Execution &amp; Technical Challenges</a:t>
            </a:r>
            <a:endParaRPr lang="en-US" dirty="0">
              <a:latin typeface="+mj-lt"/>
            </a:endParaRPr>
          </a:p>
        </p:txBody>
      </p:sp>
      <p:sp>
        <p:nvSpPr>
          <p:cNvPr id="4" name="Text Placeholder 3">
            <a:extLst>
              <a:ext uri="{FF2B5EF4-FFF2-40B4-BE49-F238E27FC236}">
                <a16:creationId xmlns:a16="http://schemas.microsoft.com/office/drawing/2014/main" id="{F2282519-BAB0-C54F-8481-4E80B23DEFFD}"/>
              </a:ext>
            </a:extLst>
          </p:cNvPr>
          <p:cNvSpPr>
            <a:spLocks noGrp="1"/>
          </p:cNvSpPr>
          <p:nvPr>
            <p:ph type="body" sz="quarter" idx="10"/>
          </p:nvPr>
        </p:nvSpPr>
        <p:spPr>
          <a:xfrm>
            <a:off x="429768" y="1115568"/>
            <a:ext cx="9683496" cy="457200"/>
          </a:xfrm>
        </p:spPr>
        <p:txBody>
          <a:bodyPr/>
          <a:lstStyle/>
          <a:p>
            <a:r>
              <a:rPr sz="1500"/>
              <a:t>Four problems that only showed up when the pieces met. Each was found by a test, a review or a log.</a:t>
            </a:r>
            <a:endParaRPr lang="en-US"/>
          </a:p>
        </p:txBody>
      </p:sp>
      <p:sp>
        <p:nvSpPr>
          <p:cNvPr id="5" name="Rounded Rectangle 4"/>
          <p:cNvSpPr/>
          <p:nvPr/>
        </p:nvSpPr>
        <p:spPr>
          <a:xfrm>
            <a:off x="429768" y="1737360"/>
            <a:ext cx="4754880" cy="21031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566928" y="1874519"/>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1</a:t>
            </a:r>
          </a:p>
        </p:txBody>
      </p:sp>
      <p:sp>
        <p:nvSpPr>
          <p:cNvPr id="7" name="TextBox 6"/>
          <p:cNvSpPr txBox="1"/>
          <p:nvPr/>
        </p:nvSpPr>
        <p:spPr>
          <a:xfrm>
            <a:off x="960119" y="1847088"/>
            <a:ext cx="4114800" cy="365760"/>
          </a:xfrm>
          <a:prstGeom prst="rect">
            <a:avLst/>
          </a:prstGeom>
          <a:noFill/>
        </p:spPr>
        <p:txBody>
          <a:bodyPr wrap="square" lIns="45720" tIns="27432" rIns="45720" bIns="27432" anchor="ctr">
            <a:spAutoFit/>
          </a:bodyPr>
          <a:lstStyle/>
          <a:p>
            <a:pPr marL="0" indent="0" algn="l">
              <a:spcAft>
                <a:spcPts val="200"/>
              </a:spcAft>
              <a:buNone/>
            </a:pPr>
            <a:r>
              <a:rPr sz="1250" b="1">
                <a:solidFill>
                  <a:srgbClr val="3D3A3B"/>
                </a:solidFill>
              </a:rPr>
              <a:t>Wrong metric labels on failed requests</a:t>
            </a:r>
          </a:p>
        </p:txBody>
      </p:sp>
      <p:sp>
        <p:nvSpPr>
          <p:cNvPr id="8" name="TextBox 7"/>
          <p:cNvSpPr txBox="1"/>
          <p:nvPr/>
        </p:nvSpPr>
        <p:spPr>
          <a:xfrm>
            <a:off x="566928" y="2286000"/>
            <a:ext cx="4480560" cy="822960"/>
          </a:xfrm>
          <a:prstGeom prst="rect">
            <a:avLst/>
          </a:prstGeom>
          <a:noFill/>
        </p:spPr>
        <p:txBody>
          <a:bodyPr wrap="square" lIns="45720" tIns="27432" rIns="45720" bIns="27432" anchor="t">
            <a:spAutoFit/>
          </a:bodyPr>
          <a:lstStyle/>
          <a:p>
            <a:pPr marL="0" indent="0" algn="l">
              <a:spcAft>
                <a:spcPts val="0"/>
              </a:spcAft>
              <a:buNone/>
            </a:pPr>
            <a:r>
              <a:rPr sz="1000" b="1">
                <a:solidFill>
                  <a:srgbClr val="E3051E"/>
                </a:solidFill>
              </a:rPr>
              <a:t>Problem  </a:t>
            </a:r>
            <a:r>
              <a:rPr sz="1000">
                <a:solidFill>
                  <a:srgbClr val="3D3A3B"/>
                </a:solidFill>
              </a:rPr>
              <a:t>Express resets req.baseUrl when an error leaves a mounted router, before the response finishes. A failing POST /api/links was counted as route "/", so error rates per route were wrong.</a:t>
            </a:r>
          </a:p>
        </p:txBody>
      </p:sp>
      <p:sp>
        <p:nvSpPr>
          <p:cNvPr id="9" name="TextBox 8"/>
          <p:cNvSpPr txBox="1"/>
          <p:nvPr/>
        </p:nvSpPr>
        <p:spPr>
          <a:xfrm>
            <a:off x="566928" y="3063239"/>
            <a:ext cx="4480560" cy="502920"/>
          </a:xfrm>
          <a:prstGeom prst="rect">
            <a:avLst/>
          </a:prstGeom>
          <a:noFill/>
        </p:spPr>
        <p:txBody>
          <a:bodyPr wrap="square" lIns="45720" tIns="27432" rIns="45720" bIns="27432" anchor="t">
            <a:spAutoFit/>
          </a:bodyPr>
          <a:lstStyle/>
          <a:p>
            <a:pPr marL="0" indent="0" algn="l">
              <a:spcAft>
                <a:spcPts val="0"/>
              </a:spcAft>
              <a:buNone/>
            </a:pPr>
            <a:r>
              <a:rPr sz="1000" b="1">
                <a:solidFill>
                  <a:srgbClr val="1A7F37"/>
                </a:solidFill>
              </a:rPr>
              <a:t>Fix  </a:t>
            </a:r>
            <a:r>
              <a:rPr sz="1000">
                <a:solidFill>
                  <a:srgbClr val="3D3A3B"/>
                </a:solidFill>
              </a:rPr>
              <a:t>Found in code review. A tiny middleware remembers the mount path; routeLabel() uses it. Unit test with a rejecting DB query.</a:t>
            </a:r>
          </a:p>
        </p:txBody>
      </p:sp>
      <p:sp>
        <p:nvSpPr>
          <p:cNvPr id="10" name="Rectangle 9"/>
          <p:cNvSpPr/>
          <p:nvPr/>
        </p:nvSpPr>
        <p:spPr>
          <a:xfrm>
            <a:off x="566928" y="3493007"/>
            <a:ext cx="4480560" cy="256032"/>
          </a:xfrm>
          <a:prstGeom prst="rect">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marL="0" indent="0" algn="l">
              <a:spcAft>
                <a:spcPts val="200"/>
              </a:spcAft>
              <a:buNone/>
            </a:pPr>
            <a:r>
              <a:rPr sz="950">
                <a:solidFill>
                  <a:srgbClr val="3D3A3B"/>
                </a:solidFill>
                <a:latin typeface="Consolas"/>
              </a:rPr>
              <a:t>res.locals.mountPath = req.baseUrl</a:t>
            </a:r>
          </a:p>
        </p:txBody>
      </p:sp>
      <p:sp>
        <p:nvSpPr>
          <p:cNvPr id="11" name="Rounded Rectangle 10"/>
          <p:cNvSpPr/>
          <p:nvPr/>
        </p:nvSpPr>
        <p:spPr>
          <a:xfrm>
            <a:off x="5367528" y="1737360"/>
            <a:ext cx="4754880" cy="21031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Oval 11"/>
          <p:cNvSpPr/>
          <p:nvPr/>
        </p:nvSpPr>
        <p:spPr>
          <a:xfrm>
            <a:off x="5504688" y="1874519"/>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2</a:t>
            </a:r>
          </a:p>
        </p:txBody>
      </p:sp>
      <p:sp>
        <p:nvSpPr>
          <p:cNvPr id="13" name="TextBox 12"/>
          <p:cNvSpPr txBox="1"/>
          <p:nvPr/>
        </p:nvSpPr>
        <p:spPr>
          <a:xfrm>
            <a:off x="5897880" y="1847088"/>
            <a:ext cx="4114800" cy="365760"/>
          </a:xfrm>
          <a:prstGeom prst="rect">
            <a:avLst/>
          </a:prstGeom>
          <a:noFill/>
        </p:spPr>
        <p:txBody>
          <a:bodyPr wrap="square" lIns="45720" tIns="27432" rIns="45720" bIns="27432" anchor="ctr">
            <a:spAutoFit/>
          </a:bodyPr>
          <a:lstStyle/>
          <a:p>
            <a:pPr marL="0" indent="0" algn="l">
              <a:spcAft>
                <a:spcPts val="200"/>
              </a:spcAft>
              <a:buNone/>
            </a:pPr>
            <a:r>
              <a:rPr sz="1250" b="1">
                <a:solidFill>
                  <a:srgbClr val="3D3A3B"/>
                </a:solidFill>
              </a:rPr>
              <a:t>Docker network created by hand breaks deploys</a:t>
            </a:r>
          </a:p>
        </p:txBody>
      </p:sp>
      <p:sp>
        <p:nvSpPr>
          <p:cNvPr id="14" name="TextBox 13"/>
          <p:cNvSpPr txBox="1"/>
          <p:nvPr/>
        </p:nvSpPr>
        <p:spPr>
          <a:xfrm>
            <a:off x="5504688" y="2286000"/>
            <a:ext cx="4480560" cy="822960"/>
          </a:xfrm>
          <a:prstGeom prst="rect">
            <a:avLst/>
          </a:prstGeom>
          <a:noFill/>
        </p:spPr>
        <p:txBody>
          <a:bodyPr wrap="square" lIns="45720" tIns="27432" rIns="45720" bIns="27432" anchor="t">
            <a:spAutoFit/>
          </a:bodyPr>
          <a:lstStyle/>
          <a:p>
            <a:pPr marL="0" indent="0" algn="l">
              <a:spcAft>
                <a:spcPts val="0"/>
              </a:spcAft>
              <a:buNone/>
            </a:pPr>
            <a:r>
              <a:rPr sz="1000" b="1">
                <a:solidFill>
                  <a:srgbClr val="E3051E"/>
                </a:solidFill>
              </a:rPr>
              <a:t>Problem  </a:t>
            </a:r>
            <a:r>
              <a:rPr sz="1000">
                <a:solidFill>
                  <a:srgbClr val="3D3A3B"/>
                </a:solidFill>
              </a:rPr>
              <a:t>The monitoring stack needed the app network on Production before the app existed there. A network made with docker network create has no Compose labels, so the first deploy would fail.</a:t>
            </a:r>
          </a:p>
        </p:txBody>
      </p:sp>
      <p:sp>
        <p:nvSpPr>
          <p:cNvPr id="15" name="TextBox 14"/>
          <p:cNvSpPr txBox="1"/>
          <p:nvPr/>
        </p:nvSpPr>
        <p:spPr>
          <a:xfrm>
            <a:off x="5504688" y="3063239"/>
            <a:ext cx="4480560" cy="502920"/>
          </a:xfrm>
          <a:prstGeom prst="rect">
            <a:avLst/>
          </a:prstGeom>
          <a:noFill/>
        </p:spPr>
        <p:txBody>
          <a:bodyPr wrap="square" lIns="45720" tIns="27432" rIns="45720" bIns="27432" anchor="t">
            <a:spAutoFit/>
          </a:bodyPr>
          <a:lstStyle/>
          <a:p>
            <a:pPr marL="0" indent="0" algn="l">
              <a:spcAft>
                <a:spcPts val="0"/>
              </a:spcAft>
              <a:buNone/>
            </a:pPr>
            <a:r>
              <a:rPr sz="1000" b="1">
                <a:solidFill>
                  <a:srgbClr val="1A7F37"/>
                </a:solidFill>
              </a:rPr>
              <a:t>Fix  </a:t>
            </a:r>
            <a:r>
              <a:rPr sz="1000">
                <a:solidFill>
                  <a:srgbClr val="3D3A3B"/>
                </a:solidFill>
              </a:rPr>
              <a:t>First Production deploy run with deploy.sh so Compose owned the network; Prometheus joins it as external.</a:t>
            </a:r>
          </a:p>
        </p:txBody>
      </p:sp>
      <p:sp>
        <p:nvSpPr>
          <p:cNvPr id="16" name="Rectangle 15"/>
          <p:cNvSpPr/>
          <p:nvPr/>
        </p:nvSpPr>
        <p:spPr>
          <a:xfrm>
            <a:off x="5504688" y="3493007"/>
            <a:ext cx="4480560" cy="256032"/>
          </a:xfrm>
          <a:prstGeom prst="rect">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marL="0" indent="0" algn="l">
              <a:spcAft>
                <a:spcPts val="200"/>
              </a:spcAft>
              <a:buNone/>
            </a:pPr>
            <a:r>
              <a:rPr sz="950">
                <a:solidFill>
                  <a:srgbClr val="3D3A3B"/>
                </a:solidFill>
                <a:latin typeface="Consolas"/>
              </a:rPr>
              <a:t>networks: swe40006-app: external: true</a:t>
            </a:r>
          </a:p>
        </p:txBody>
      </p:sp>
      <p:sp>
        <p:nvSpPr>
          <p:cNvPr id="17" name="Rounded Rectangle 16"/>
          <p:cNvSpPr/>
          <p:nvPr/>
        </p:nvSpPr>
        <p:spPr>
          <a:xfrm>
            <a:off x="429768" y="4023360"/>
            <a:ext cx="4754880" cy="21031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Oval 17"/>
          <p:cNvSpPr/>
          <p:nvPr/>
        </p:nvSpPr>
        <p:spPr>
          <a:xfrm>
            <a:off x="566928" y="4160520"/>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3</a:t>
            </a:r>
          </a:p>
        </p:txBody>
      </p:sp>
      <p:sp>
        <p:nvSpPr>
          <p:cNvPr id="19" name="TextBox 18"/>
          <p:cNvSpPr txBox="1"/>
          <p:nvPr/>
        </p:nvSpPr>
        <p:spPr>
          <a:xfrm>
            <a:off x="960119" y="4133088"/>
            <a:ext cx="4114800" cy="365760"/>
          </a:xfrm>
          <a:prstGeom prst="rect">
            <a:avLst/>
          </a:prstGeom>
          <a:noFill/>
        </p:spPr>
        <p:txBody>
          <a:bodyPr wrap="square" lIns="45720" tIns="27432" rIns="45720" bIns="27432" anchor="ctr">
            <a:spAutoFit/>
          </a:bodyPr>
          <a:lstStyle/>
          <a:p>
            <a:pPr marL="0" indent="0" algn="l">
              <a:spcAft>
                <a:spcPts val="200"/>
              </a:spcAft>
              <a:buNone/>
            </a:pPr>
            <a:r>
              <a:rPr sz="1250" b="1">
                <a:solidFill>
                  <a:srgbClr val="3D3A3B"/>
                </a:solidFill>
              </a:rPr>
              <a:t>The word "deploy" vanished from CI logs</a:t>
            </a:r>
          </a:p>
        </p:txBody>
      </p:sp>
      <p:sp>
        <p:nvSpPr>
          <p:cNvPr id="20" name="TextBox 19"/>
          <p:cNvSpPr txBox="1"/>
          <p:nvPr/>
        </p:nvSpPr>
        <p:spPr>
          <a:xfrm>
            <a:off x="566928" y="4572000"/>
            <a:ext cx="4480560" cy="822960"/>
          </a:xfrm>
          <a:prstGeom prst="rect">
            <a:avLst/>
          </a:prstGeom>
          <a:noFill/>
        </p:spPr>
        <p:txBody>
          <a:bodyPr wrap="square" lIns="45720" tIns="27432" rIns="45720" bIns="27432" anchor="t">
            <a:spAutoFit/>
          </a:bodyPr>
          <a:lstStyle/>
          <a:p>
            <a:pPr marL="0" indent="0" algn="l">
              <a:spcAft>
                <a:spcPts val="0"/>
              </a:spcAft>
              <a:buNone/>
            </a:pPr>
            <a:r>
              <a:rPr sz="1000" b="1">
                <a:solidFill>
                  <a:srgbClr val="E3051E"/>
                </a:solidFill>
              </a:rPr>
              <a:t>Problem  </a:t>
            </a:r>
            <a:r>
              <a:rPr sz="1000">
                <a:solidFill>
                  <a:srgbClr val="3D3A3B"/>
                </a:solidFill>
              </a:rPr>
              <a:t>The SSH user was stored as a secret. GitHub masks every secret value, and the user was "deploy", so every step named deploy showed as ***.</a:t>
            </a:r>
          </a:p>
        </p:txBody>
      </p:sp>
      <p:sp>
        <p:nvSpPr>
          <p:cNvPr id="21" name="TextBox 20"/>
          <p:cNvSpPr txBox="1"/>
          <p:nvPr/>
        </p:nvSpPr>
        <p:spPr>
          <a:xfrm>
            <a:off x="566928" y="5349240"/>
            <a:ext cx="4480560" cy="502920"/>
          </a:xfrm>
          <a:prstGeom prst="rect">
            <a:avLst/>
          </a:prstGeom>
          <a:noFill/>
        </p:spPr>
        <p:txBody>
          <a:bodyPr wrap="square" lIns="45720" tIns="27432" rIns="45720" bIns="27432" anchor="t">
            <a:spAutoFit/>
          </a:bodyPr>
          <a:lstStyle/>
          <a:p>
            <a:pPr marL="0" indent="0" algn="l">
              <a:spcAft>
                <a:spcPts val="0"/>
              </a:spcAft>
              <a:buNone/>
            </a:pPr>
            <a:r>
              <a:rPr sz="1000" b="1">
                <a:solidFill>
                  <a:srgbClr val="1A7F37"/>
                </a:solidFill>
              </a:rPr>
              <a:t>Fix  </a:t>
            </a:r>
            <a:r>
              <a:rPr sz="1000">
                <a:solidFill>
                  <a:srgbClr val="3D3A3B"/>
                </a:solidFill>
              </a:rPr>
              <a:t>Moved the user to an environment variable. Host, key and host key stay secrets.</a:t>
            </a:r>
          </a:p>
        </p:txBody>
      </p:sp>
      <p:sp>
        <p:nvSpPr>
          <p:cNvPr id="22" name="Rectangle 21"/>
          <p:cNvSpPr/>
          <p:nvPr/>
        </p:nvSpPr>
        <p:spPr>
          <a:xfrm>
            <a:off x="566928" y="5779008"/>
            <a:ext cx="4480560" cy="256032"/>
          </a:xfrm>
          <a:prstGeom prst="rect">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marL="0" indent="0" algn="l">
              <a:spcAft>
                <a:spcPts val="200"/>
              </a:spcAft>
              <a:buNone/>
            </a:pPr>
            <a:r>
              <a:rPr sz="950">
                <a:solidFill>
                  <a:srgbClr val="3D3A3B"/>
                </a:solidFill>
                <a:latin typeface="Consolas"/>
              </a:rPr>
              <a:t>vars.PROD_USER instead of secrets.PROD_USER</a:t>
            </a:r>
          </a:p>
        </p:txBody>
      </p:sp>
      <p:sp>
        <p:nvSpPr>
          <p:cNvPr id="23" name="Rounded Rectangle 22"/>
          <p:cNvSpPr/>
          <p:nvPr/>
        </p:nvSpPr>
        <p:spPr>
          <a:xfrm>
            <a:off x="5367528" y="4023360"/>
            <a:ext cx="4754880" cy="2103120"/>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5504688" y="4160520"/>
            <a:ext cx="310896" cy="310896"/>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100" b="1">
                <a:solidFill>
                  <a:srgbClr val="FFFFFF"/>
                </a:solidFill>
              </a:rPr>
              <a:t>4</a:t>
            </a:r>
          </a:p>
        </p:txBody>
      </p:sp>
      <p:sp>
        <p:nvSpPr>
          <p:cNvPr id="25" name="TextBox 24"/>
          <p:cNvSpPr txBox="1"/>
          <p:nvPr/>
        </p:nvSpPr>
        <p:spPr>
          <a:xfrm>
            <a:off x="5897880" y="4133088"/>
            <a:ext cx="4114800" cy="365760"/>
          </a:xfrm>
          <a:prstGeom prst="rect">
            <a:avLst/>
          </a:prstGeom>
          <a:noFill/>
        </p:spPr>
        <p:txBody>
          <a:bodyPr wrap="square" lIns="45720" tIns="27432" rIns="45720" bIns="27432" anchor="ctr">
            <a:spAutoFit/>
          </a:bodyPr>
          <a:lstStyle/>
          <a:p>
            <a:pPr marL="0" indent="0" algn="l">
              <a:spcAft>
                <a:spcPts val="200"/>
              </a:spcAft>
              <a:buNone/>
            </a:pPr>
            <a:r>
              <a:rPr sz="1250" b="1">
                <a:solidFill>
                  <a:srgbClr val="3D3A3B"/>
                </a:solidFill>
              </a:rPr>
              <a:t>/metrics must be scraped but never public</a:t>
            </a:r>
          </a:p>
        </p:txBody>
      </p:sp>
      <p:sp>
        <p:nvSpPr>
          <p:cNvPr id="26" name="TextBox 25"/>
          <p:cNvSpPr txBox="1"/>
          <p:nvPr/>
        </p:nvSpPr>
        <p:spPr>
          <a:xfrm>
            <a:off x="5504688" y="4572000"/>
            <a:ext cx="4480560" cy="822960"/>
          </a:xfrm>
          <a:prstGeom prst="rect">
            <a:avLst/>
          </a:prstGeom>
          <a:noFill/>
        </p:spPr>
        <p:txBody>
          <a:bodyPr wrap="square" lIns="45720" tIns="27432" rIns="45720" bIns="27432" anchor="t">
            <a:spAutoFit/>
          </a:bodyPr>
          <a:lstStyle/>
          <a:p>
            <a:pPr marL="0" indent="0" algn="l">
              <a:spcAft>
                <a:spcPts val="0"/>
              </a:spcAft>
              <a:buNone/>
            </a:pPr>
            <a:r>
              <a:rPr sz="1000" b="1">
                <a:solidFill>
                  <a:srgbClr val="E3051E"/>
                </a:solidFill>
              </a:rPr>
              <a:t>Problem  </a:t>
            </a:r>
            <a:r>
              <a:rPr sz="1000">
                <a:solidFill>
                  <a:srgbClr val="3D3A3B"/>
                </a:solidFill>
              </a:rPr>
              <a:t>Prometheus needs the endpoint, the internet must not see it, and /METRICS could slip past an exact Nginx match.</a:t>
            </a:r>
          </a:p>
        </p:txBody>
      </p:sp>
      <p:sp>
        <p:nvSpPr>
          <p:cNvPr id="27" name="TextBox 26"/>
          <p:cNvSpPr txBox="1"/>
          <p:nvPr/>
        </p:nvSpPr>
        <p:spPr>
          <a:xfrm>
            <a:off x="5504688" y="5349240"/>
            <a:ext cx="4480560" cy="502920"/>
          </a:xfrm>
          <a:prstGeom prst="rect">
            <a:avLst/>
          </a:prstGeom>
          <a:noFill/>
        </p:spPr>
        <p:txBody>
          <a:bodyPr wrap="square" lIns="45720" tIns="27432" rIns="45720" bIns="27432" anchor="t">
            <a:spAutoFit/>
          </a:bodyPr>
          <a:lstStyle/>
          <a:p>
            <a:pPr marL="0" indent="0" algn="l">
              <a:spcAft>
                <a:spcPts val="0"/>
              </a:spcAft>
              <a:buNone/>
            </a:pPr>
            <a:r>
              <a:rPr sz="1000" b="1">
                <a:solidFill>
                  <a:srgbClr val="1A7F37"/>
                </a:solidFill>
              </a:rPr>
              <a:t>Fix  </a:t>
            </a:r>
            <a:r>
              <a:rPr sz="1000">
                <a:solidFill>
                  <a:srgbClr val="3D3A3B"/>
                </a:solidFill>
              </a:rPr>
              <a:t>Nginx returns 404 for /metrics; Prometheus scrapes api:3000 on the Docker network; Express uses case-sensitive routing.</a:t>
            </a:r>
          </a:p>
        </p:txBody>
      </p:sp>
      <p:sp>
        <p:nvSpPr>
          <p:cNvPr id="28" name="Rectangle 27"/>
          <p:cNvSpPr/>
          <p:nvPr/>
        </p:nvSpPr>
        <p:spPr>
          <a:xfrm>
            <a:off x="5504688" y="5779008"/>
            <a:ext cx="4480560" cy="256032"/>
          </a:xfrm>
          <a:prstGeom prst="rect">
            <a:avLst/>
          </a:prstGeom>
          <a:solidFill>
            <a:srgbClr val="FFFFFF"/>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marL="0" indent="0" algn="l">
              <a:spcAft>
                <a:spcPts val="200"/>
              </a:spcAft>
              <a:buNone/>
            </a:pPr>
            <a:r>
              <a:rPr sz="950">
                <a:solidFill>
                  <a:srgbClr val="3D3A3B"/>
                </a:solidFill>
                <a:latin typeface="Consolas"/>
              </a:rPr>
              <a:t>location = /metrics { return 404; }</a:t>
            </a:r>
          </a:p>
        </p:txBody>
      </p:sp>
    </p:spTree>
    <p:extLst>
      <p:ext uri="{BB962C8B-B14F-4D97-AF65-F5344CB8AC3E}">
        <p14:creationId xmlns:p14="http://schemas.microsoft.com/office/powerpoint/2010/main" val="3098379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E9CB-1421-46C3-9F86-94F2EDD9BC62}"/>
              </a:ext>
            </a:extLst>
          </p:cNvPr>
          <p:cNvSpPr>
            <a:spLocks noGrp="1"/>
          </p:cNvSpPr>
          <p:nvPr>
            <p:ph type="ctrTitle"/>
          </p:nvPr>
        </p:nvSpPr>
        <p:spPr>
          <a:xfrm>
            <a:off x="429768" y="448056"/>
            <a:ext cx="9683496" cy="585216"/>
          </a:xfrm>
        </p:spPr>
        <p:txBody>
          <a:bodyPr/>
          <a:lstStyle/>
          <a:p>
            <a:r>
              <a:t>Deployment Demonstration</a:t>
            </a:r>
            <a:endParaRPr lang="en-AU" dirty="0">
              <a:latin typeface="+mj-lt"/>
            </a:endParaRPr>
          </a:p>
        </p:txBody>
      </p:sp>
      <p:sp>
        <p:nvSpPr>
          <p:cNvPr id="4" name="Text Placeholder 3">
            <a:extLst>
              <a:ext uri="{FF2B5EF4-FFF2-40B4-BE49-F238E27FC236}">
                <a16:creationId xmlns:a16="http://schemas.microsoft.com/office/drawing/2014/main" id="{683DE2E1-68E0-4489-B057-1843A213D446}"/>
              </a:ext>
            </a:extLst>
          </p:cNvPr>
          <p:cNvSpPr>
            <a:spLocks noGrp="1"/>
          </p:cNvSpPr>
          <p:nvPr>
            <p:ph type="body" sz="quarter" idx="10"/>
          </p:nvPr>
        </p:nvSpPr>
        <p:spPr>
          <a:xfrm>
            <a:off x="429768" y="1115568"/>
            <a:ext cx="9683496" cy="457200"/>
          </a:xfrm>
        </p:spPr>
        <p:txBody>
          <a:bodyPr/>
          <a:lstStyle/>
          <a:p>
            <a:r>
              <a:rPr sz="1500"/>
              <a:t>The demo commit was merged when we started. By now it should be live. Let's check.</a:t>
            </a:r>
            <a:endParaRPr lang="en-AU"/>
          </a:p>
        </p:txBody>
      </p:sp>
      <p:sp>
        <p:nvSpPr>
          <p:cNvPr id="5" name="Text Placeholder 4">
            <a:extLst>
              <a:ext uri="{FF2B5EF4-FFF2-40B4-BE49-F238E27FC236}">
                <a16:creationId xmlns:a16="http://schemas.microsoft.com/office/drawing/2014/main" id="{84D4DAF7-648D-492B-A0A0-516568A877C5}"/>
              </a:ext>
            </a:extLst>
          </p:cNvPr>
          <p:cNvSpPr>
            <a:spLocks noGrp="1"/>
          </p:cNvSpPr>
          <p:nvPr>
            <p:ph type="body" sz="quarter" idx="11"/>
          </p:nvPr>
        </p:nvSpPr>
        <p:spPr>
          <a:xfrm>
            <a:off x="429768" y="6336792"/>
            <a:ext cx="9683496" cy="246888"/>
          </a:xfrm>
        </p:spPr>
        <p:txBody>
          <a:bodyPr/>
          <a:lstStyle/>
          <a:p>
            <a:r>
              <a:rPr>
                <a:solidFill>
                  <a:srgbClr val="6E6B6C"/>
                </a:solidFill>
              </a:rPr>
              <a:t>Fallback: a recorded video of the same steps is on the laptop and in the repository. Live site and dashboard URLs are shown on screen during the demo.</a:t>
            </a:r>
            <a:endParaRPr lang="en-AU"/>
          </a:p>
        </p:txBody>
      </p:sp>
      <p:sp>
        <p:nvSpPr>
          <p:cNvPr id="6" name="Rounded Rectangle 5"/>
          <p:cNvSpPr/>
          <p:nvPr/>
        </p:nvSpPr>
        <p:spPr>
          <a:xfrm>
            <a:off x="429768" y="1783080"/>
            <a:ext cx="1298448"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Oval 6"/>
          <p:cNvSpPr/>
          <p:nvPr/>
        </p:nvSpPr>
        <p:spPr>
          <a:xfrm>
            <a:off x="539496" y="1892807"/>
            <a:ext cx="329184" cy="329184"/>
          </a:xfrm>
          <a:prstGeom prst="ellipse">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1</a:t>
            </a:r>
          </a:p>
        </p:txBody>
      </p:sp>
      <p:sp>
        <p:nvSpPr>
          <p:cNvPr id="8" name="TextBox 7"/>
          <p:cNvSpPr txBox="1"/>
          <p:nvPr/>
        </p:nvSpPr>
        <p:spPr>
          <a:xfrm>
            <a:off x="521207" y="2313432"/>
            <a:ext cx="1115568" cy="502920"/>
          </a:xfrm>
          <a:prstGeom prst="rect">
            <a:avLst/>
          </a:prstGeom>
          <a:noFill/>
        </p:spPr>
        <p:txBody>
          <a:bodyPr wrap="square" lIns="45720" tIns="27432" rIns="45720" bIns="27432" anchor="t">
            <a:spAutoFit/>
          </a:bodyPr>
          <a:lstStyle/>
          <a:p>
            <a:pPr marL="0" indent="0" algn="l">
              <a:spcAft>
                <a:spcPts val="0"/>
              </a:spcAft>
              <a:buNone/>
            </a:pPr>
            <a:r>
              <a:rPr sz="1150" b="1">
                <a:solidFill>
                  <a:srgbClr val="3D3A3B"/>
                </a:solidFill>
              </a:rPr>
              <a:t>Merged at minute 0</a:t>
            </a:r>
          </a:p>
        </p:txBody>
      </p:sp>
      <p:sp>
        <p:nvSpPr>
          <p:cNvPr id="9" name="TextBox 8"/>
          <p:cNvSpPr txBox="1"/>
          <p:nvPr/>
        </p:nvSpPr>
        <p:spPr>
          <a:xfrm>
            <a:off x="521207" y="2788920"/>
            <a:ext cx="1115568" cy="1325880"/>
          </a:xfrm>
          <a:prstGeom prst="rect">
            <a:avLst/>
          </a:prstGeom>
          <a:noFill/>
        </p:spPr>
        <p:txBody>
          <a:bodyPr wrap="square" lIns="45720" tIns="27432" rIns="45720" bIns="27432" anchor="t">
            <a:spAutoFit/>
          </a:bodyPr>
          <a:lstStyle/>
          <a:p>
            <a:pPr marL="0" indent="0" algn="l">
              <a:spcAft>
                <a:spcPts val="0"/>
              </a:spcAft>
              <a:buNone/>
            </a:pPr>
            <a:r>
              <a:rPr sz="1050">
                <a:solidFill>
                  <a:srgbClr val="3D3A3B"/>
                </a:solidFill>
              </a:rPr>
              <a:t>A one-line visible text change on the home page, merged to main</a:t>
            </a:r>
          </a:p>
        </p:txBody>
      </p:sp>
      <p:sp>
        <p:nvSpPr>
          <p:cNvPr id="10" name="TextBox 9"/>
          <p:cNvSpPr txBox="1"/>
          <p:nvPr/>
        </p:nvSpPr>
        <p:spPr>
          <a:xfrm>
            <a:off x="521207" y="4114800"/>
            <a:ext cx="1115568" cy="274320"/>
          </a:xfrm>
          <a:prstGeom prst="rect">
            <a:avLst/>
          </a:prstGeom>
          <a:noFill/>
        </p:spPr>
        <p:txBody>
          <a:bodyPr wrap="square" lIns="45720" tIns="27432" rIns="45720" bIns="27432" anchor="t">
            <a:spAutoFit/>
          </a:bodyPr>
          <a:lstStyle/>
          <a:p>
            <a:pPr marL="0" indent="0" algn="l">
              <a:spcAft>
                <a:spcPts val="200"/>
              </a:spcAft>
              <a:buNone/>
            </a:pPr>
            <a:r>
              <a:rPr sz="1050" b="1">
                <a:solidFill>
                  <a:srgbClr val="E3051E"/>
                </a:solidFill>
              </a:rPr>
              <a:t>Tuan</a:t>
            </a:r>
          </a:p>
        </p:txBody>
      </p:sp>
      <p:sp>
        <p:nvSpPr>
          <p:cNvPr id="11" name="Rounded Rectangle 10"/>
          <p:cNvSpPr/>
          <p:nvPr/>
        </p:nvSpPr>
        <p:spPr>
          <a:xfrm>
            <a:off x="1833372" y="1783080"/>
            <a:ext cx="1298448"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Oval 11"/>
          <p:cNvSpPr/>
          <p:nvPr/>
        </p:nvSpPr>
        <p:spPr>
          <a:xfrm>
            <a:off x="1943100" y="1892807"/>
            <a:ext cx="329184" cy="329184"/>
          </a:xfrm>
          <a:prstGeom prst="ellipse">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2</a:t>
            </a:r>
          </a:p>
        </p:txBody>
      </p:sp>
      <p:sp>
        <p:nvSpPr>
          <p:cNvPr id="13" name="TextBox 12"/>
          <p:cNvSpPr txBox="1"/>
          <p:nvPr/>
        </p:nvSpPr>
        <p:spPr>
          <a:xfrm>
            <a:off x="1924812" y="2313432"/>
            <a:ext cx="1115568" cy="502920"/>
          </a:xfrm>
          <a:prstGeom prst="rect">
            <a:avLst/>
          </a:prstGeom>
          <a:noFill/>
        </p:spPr>
        <p:txBody>
          <a:bodyPr wrap="square" lIns="45720" tIns="27432" rIns="45720" bIns="27432" anchor="t">
            <a:spAutoFit/>
          </a:bodyPr>
          <a:lstStyle/>
          <a:p>
            <a:pPr marL="0" indent="0" algn="l">
              <a:spcAft>
                <a:spcPts val="0"/>
              </a:spcAft>
              <a:buNone/>
            </a:pPr>
            <a:r>
              <a:rPr sz="1150" b="1">
                <a:solidFill>
                  <a:srgbClr val="3D3A3B"/>
                </a:solidFill>
              </a:rPr>
              <a:t>Run page</a:t>
            </a:r>
          </a:p>
        </p:txBody>
      </p:sp>
      <p:sp>
        <p:nvSpPr>
          <p:cNvPr id="14" name="TextBox 13"/>
          <p:cNvSpPr txBox="1"/>
          <p:nvPr/>
        </p:nvSpPr>
        <p:spPr>
          <a:xfrm>
            <a:off x="1924812" y="2788920"/>
            <a:ext cx="1115568" cy="1325880"/>
          </a:xfrm>
          <a:prstGeom prst="rect">
            <a:avLst/>
          </a:prstGeom>
          <a:noFill/>
        </p:spPr>
        <p:txBody>
          <a:bodyPr wrap="square" lIns="45720" tIns="27432" rIns="45720" bIns="27432" anchor="t">
            <a:spAutoFit/>
          </a:bodyPr>
          <a:lstStyle/>
          <a:p>
            <a:pPr marL="0" indent="0" algn="l">
              <a:spcAft>
                <a:spcPts val="0"/>
              </a:spcAft>
              <a:buNone/>
            </a:pPr>
            <a:r>
              <a:rPr sz="1050">
                <a:solidFill>
                  <a:srgbClr val="3D3A3B"/>
                </a:solidFill>
              </a:rPr>
              <a:t>backend, frontend, images, Trivy, Staging and e2e already green; note the SHA</a:t>
            </a:r>
          </a:p>
        </p:txBody>
      </p:sp>
      <p:sp>
        <p:nvSpPr>
          <p:cNvPr id="15" name="TextBox 14"/>
          <p:cNvSpPr txBox="1"/>
          <p:nvPr/>
        </p:nvSpPr>
        <p:spPr>
          <a:xfrm>
            <a:off x="1924812" y="4114800"/>
            <a:ext cx="1115568" cy="274320"/>
          </a:xfrm>
          <a:prstGeom prst="rect">
            <a:avLst/>
          </a:prstGeom>
          <a:noFill/>
        </p:spPr>
        <p:txBody>
          <a:bodyPr wrap="square" lIns="45720" tIns="27432" rIns="45720" bIns="27432" anchor="t">
            <a:spAutoFit/>
          </a:bodyPr>
          <a:lstStyle/>
          <a:p>
            <a:pPr marL="0" indent="0" algn="l">
              <a:spcAft>
                <a:spcPts val="200"/>
              </a:spcAft>
              <a:buNone/>
            </a:pPr>
            <a:r>
              <a:rPr sz="1050" b="1">
                <a:solidFill>
                  <a:srgbClr val="E3051E"/>
                </a:solidFill>
              </a:rPr>
              <a:t>Tuan</a:t>
            </a:r>
          </a:p>
        </p:txBody>
      </p:sp>
      <p:sp>
        <p:nvSpPr>
          <p:cNvPr id="16" name="Rounded Rectangle 15"/>
          <p:cNvSpPr/>
          <p:nvPr/>
        </p:nvSpPr>
        <p:spPr>
          <a:xfrm>
            <a:off x="3236976" y="1783080"/>
            <a:ext cx="1298448"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Oval 16"/>
          <p:cNvSpPr/>
          <p:nvPr/>
        </p:nvSpPr>
        <p:spPr>
          <a:xfrm>
            <a:off x="3346704" y="1892807"/>
            <a:ext cx="329184" cy="329184"/>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3</a:t>
            </a:r>
          </a:p>
        </p:txBody>
      </p:sp>
      <p:sp>
        <p:nvSpPr>
          <p:cNvPr id="18" name="TextBox 17"/>
          <p:cNvSpPr txBox="1"/>
          <p:nvPr/>
        </p:nvSpPr>
        <p:spPr>
          <a:xfrm>
            <a:off x="3328416" y="2313432"/>
            <a:ext cx="1115568" cy="502920"/>
          </a:xfrm>
          <a:prstGeom prst="rect">
            <a:avLst/>
          </a:prstGeom>
          <a:noFill/>
        </p:spPr>
        <p:txBody>
          <a:bodyPr wrap="square" lIns="45720" tIns="27432" rIns="45720" bIns="27432" anchor="t">
            <a:spAutoFit/>
          </a:bodyPr>
          <a:lstStyle/>
          <a:p>
            <a:pPr marL="0" indent="0" algn="l">
              <a:spcAft>
                <a:spcPts val="0"/>
              </a:spcAft>
              <a:buNone/>
            </a:pPr>
            <a:r>
              <a:rPr sz="1150" b="1">
                <a:solidFill>
                  <a:srgbClr val="3D3A3B"/>
                </a:solidFill>
              </a:rPr>
              <a:t>Approve</a:t>
            </a:r>
          </a:p>
        </p:txBody>
      </p:sp>
      <p:sp>
        <p:nvSpPr>
          <p:cNvPr id="19" name="TextBox 18"/>
          <p:cNvSpPr txBox="1"/>
          <p:nvPr/>
        </p:nvSpPr>
        <p:spPr>
          <a:xfrm>
            <a:off x="3328416" y="2788920"/>
            <a:ext cx="1115568" cy="1325880"/>
          </a:xfrm>
          <a:prstGeom prst="rect">
            <a:avLst/>
          </a:prstGeom>
          <a:noFill/>
        </p:spPr>
        <p:txBody>
          <a:bodyPr wrap="square" lIns="45720" tIns="27432" rIns="45720" bIns="27432" anchor="t">
            <a:spAutoFit/>
          </a:bodyPr>
          <a:lstStyle/>
          <a:p>
            <a:pPr marL="0" indent="0" algn="l">
              <a:spcAft>
                <a:spcPts val="0"/>
              </a:spcAft>
              <a:buNone/>
            </a:pPr>
            <a:r>
              <a:rPr sz="1050">
                <a:solidFill>
                  <a:srgbClr val="3D3A3B"/>
                </a:solidFill>
              </a:rPr>
              <a:t>Click Review deployments, approve production; about 60 seconds</a:t>
            </a:r>
          </a:p>
        </p:txBody>
      </p:sp>
      <p:sp>
        <p:nvSpPr>
          <p:cNvPr id="20" name="TextBox 19"/>
          <p:cNvSpPr txBox="1"/>
          <p:nvPr/>
        </p:nvSpPr>
        <p:spPr>
          <a:xfrm>
            <a:off x="3328416" y="4114800"/>
            <a:ext cx="1115568" cy="274320"/>
          </a:xfrm>
          <a:prstGeom prst="rect">
            <a:avLst/>
          </a:prstGeom>
          <a:noFill/>
        </p:spPr>
        <p:txBody>
          <a:bodyPr wrap="square" lIns="45720" tIns="27432" rIns="45720" bIns="27432" anchor="t">
            <a:spAutoFit/>
          </a:bodyPr>
          <a:lstStyle/>
          <a:p>
            <a:pPr marL="0" indent="0" algn="l">
              <a:spcAft>
                <a:spcPts val="200"/>
              </a:spcAft>
              <a:buNone/>
            </a:pPr>
            <a:r>
              <a:rPr sz="1050" b="1">
                <a:solidFill>
                  <a:srgbClr val="E3051E"/>
                </a:solidFill>
              </a:rPr>
              <a:t>Tuan</a:t>
            </a:r>
          </a:p>
        </p:txBody>
      </p:sp>
      <p:sp>
        <p:nvSpPr>
          <p:cNvPr id="21" name="Rounded Rectangle 20"/>
          <p:cNvSpPr/>
          <p:nvPr/>
        </p:nvSpPr>
        <p:spPr>
          <a:xfrm>
            <a:off x="4640579" y="1783080"/>
            <a:ext cx="1298448"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Oval 21"/>
          <p:cNvSpPr/>
          <p:nvPr/>
        </p:nvSpPr>
        <p:spPr>
          <a:xfrm>
            <a:off x="4750307" y="1892807"/>
            <a:ext cx="329184" cy="329184"/>
          </a:xfrm>
          <a:prstGeom prst="ellipse">
            <a:avLst/>
          </a:prstGeom>
          <a:solidFill>
            <a:srgbClr val="E3051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4</a:t>
            </a:r>
          </a:p>
        </p:txBody>
      </p:sp>
      <p:sp>
        <p:nvSpPr>
          <p:cNvPr id="23" name="TextBox 22"/>
          <p:cNvSpPr txBox="1"/>
          <p:nvPr/>
        </p:nvSpPr>
        <p:spPr>
          <a:xfrm>
            <a:off x="4732019" y="2313432"/>
            <a:ext cx="1115568" cy="502920"/>
          </a:xfrm>
          <a:prstGeom prst="rect">
            <a:avLst/>
          </a:prstGeom>
          <a:noFill/>
        </p:spPr>
        <p:txBody>
          <a:bodyPr wrap="square" lIns="45720" tIns="27432" rIns="45720" bIns="27432" anchor="t">
            <a:spAutoFit/>
          </a:bodyPr>
          <a:lstStyle/>
          <a:p>
            <a:pPr marL="0" indent="0" algn="l">
              <a:spcAft>
                <a:spcPts val="0"/>
              </a:spcAft>
              <a:buNone/>
            </a:pPr>
            <a:r>
              <a:rPr sz="1150" b="1">
                <a:solidFill>
                  <a:srgbClr val="3D3A3B"/>
                </a:solidFill>
              </a:rPr>
              <a:t>Live site</a:t>
            </a:r>
          </a:p>
        </p:txBody>
      </p:sp>
      <p:sp>
        <p:nvSpPr>
          <p:cNvPr id="24" name="TextBox 23"/>
          <p:cNvSpPr txBox="1"/>
          <p:nvPr/>
        </p:nvSpPr>
        <p:spPr>
          <a:xfrm>
            <a:off x="4732019" y="2788920"/>
            <a:ext cx="1115568" cy="1325880"/>
          </a:xfrm>
          <a:prstGeom prst="rect">
            <a:avLst/>
          </a:prstGeom>
          <a:noFill/>
        </p:spPr>
        <p:txBody>
          <a:bodyPr wrap="square" lIns="45720" tIns="27432" rIns="45720" bIns="27432" anchor="t">
            <a:spAutoFit/>
          </a:bodyPr>
          <a:lstStyle/>
          <a:p>
            <a:pPr marL="0" indent="0" algn="l">
              <a:spcAft>
                <a:spcPts val="0"/>
              </a:spcAft>
              <a:buNone/>
            </a:pPr>
            <a:r>
              <a:rPr sz="1050">
                <a:solidFill>
                  <a:srgbClr val="3D3A3B"/>
                </a:solidFill>
              </a:rPr>
              <a:t>New text is there; footer shows v&lt;sha&gt; matching the run</a:t>
            </a:r>
          </a:p>
        </p:txBody>
      </p:sp>
      <p:sp>
        <p:nvSpPr>
          <p:cNvPr id="25" name="TextBox 24"/>
          <p:cNvSpPr txBox="1"/>
          <p:nvPr/>
        </p:nvSpPr>
        <p:spPr>
          <a:xfrm>
            <a:off x="4732019" y="4114800"/>
            <a:ext cx="1115568" cy="274320"/>
          </a:xfrm>
          <a:prstGeom prst="rect">
            <a:avLst/>
          </a:prstGeom>
          <a:noFill/>
        </p:spPr>
        <p:txBody>
          <a:bodyPr wrap="square" lIns="45720" tIns="27432" rIns="45720" bIns="27432" anchor="t">
            <a:spAutoFit/>
          </a:bodyPr>
          <a:lstStyle/>
          <a:p>
            <a:pPr marL="0" indent="0" algn="l">
              <a:spcAft>
                <a:spcPts val="200"/>
              </a:spcAft>
              <a:buNone/>
            </a:pPr>
            <a:r>
              <a:rPr sz="1050" b="1">
                <a:solidFill>
                  <a:srgbClr val="E3051E"/>
                </a:solidFill>
              </a:rPr>
              <a:t>Minh</a:t>
            </a:r>
          </a:p>
        </p:txBody>
      </p:sp>
      <p:sp>
        <p:nvSpPr>
          <p:cNvPr id="26" name="Rounded Rectangle 25"/>
          <p:cNvSpPr/>
          <p:nvPr/>
        </p:nvSpPr>
        <p:spPr>
          <a:xfrm>
            <a:off x="6044183" y="1783080"/>
            <a:ext cx="1298448"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Oval 26"/>
          <p:cNvSpPr/>
          <p:nvPr/>
        </p:nvSpPr>
        <p:spPr>
          <a:xfrm>
            <a:off x="6153912" y="1892807"/>
            <a:ext cx="329184" cy="329184"/>
          </a:xfrm>
          <a:prstGeom prst="ellipse">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5</a:t>
            </a:r>
          </a:p>
        </p:txBody>
      </p:sp>
      <p:sp>
        <p:nvSpPr>
          <p:cNvPr id="28" name="TextBox 27"/>
          <p:cNvSpPr txBox="1"/>
          <p:nvPr/>
        </p:nvSpPr>
        <p:spPr>
          <a:xfrm>
            <a:off x="6135623" y="2313432"/>
            <a:ext cx="1115568" cy="502920"/>
          </a:xfrm>
          <a:prstGeom prst="rect">
            <a:avLst/>
          </a:prstGeom>
          <a:noFill/>
        </p:spPr>
        <p:txBody>
          <a:bodyPr wrap="square" lIns="45720" tIns="27432" rIns="45720" bIns="27432" anchor="t">
            <a:spAutoFit/>
          </a:bodyPr>
          <a:lstStyle/>
          <a:p>
            <a:pPr marL="0" indent="0" algn="l">
              <a:spcAft>
                <a:spcPts val="0"/>
              </a:spcAft>
              <a:buNone/>
            </a:pPr>
            <a:r>
              <a:rPr sz="1150" b="1">
                <a:solidFill>
                  <a:srgbClr val="3D3A3B"/>
                </a:solidFill>
              </a:rPr>
              <a:t>Use the app</a:t>
            </a:r>
          </a:p>
        </p:txBody>
      </p:sp>
      <p:sp>
        <p:nvSpPr>
          <p:cNvPr id="29" name="TextBox 28"/>
          <p:cNvSpPr txBox="1"/>
          <p:nvPr/>
        </p:nvSpPr>
        <p:spPr>
          <a:xfrm>
            <a:off x="6135623" y="2788920"/>
            <a:ext cx="1115568" cy="1325880"/>
          </a:xfrm>
          <a:prstGeom prst="rect">
            <a:avLst/>
          </a:prstGeom>
          <a:noFill/>
        </p:spPr>
        <p:txBody>
          <a:bodyPr wrap="square" lIns="45720" tIns="27432" rIns="45720" bIns="27432" anchor="t">
            <a:spAutoFit/>
          </a:bodyPr>
          <a:lstStyle/>
          <a:p>
            <a:pPr marL="0" indent="0" algn="l">
              <a:spcAft>
                <a:spcPts val="0"/>
              </a:spcAft>
              <a:buNone/>
            </a:pPr>
            <a:r>
              <a:rPr sz="1050">
                <a:solidFill>
                  <a:srgbClr val="3D3A3B"/>
                </a:solidFill>
              </a:rPr>
              <a:t>Create a short link, click it, open the stats page</a:t>
            </a:r>
          </a:p>
        </p:txBody>
      </p:sp>
      <p:sp>
        <p:nvSpPr>
          <p:cNvPr id="30" name="TextBox 29"/>
          <p:cNvSpPr txBox="1"/>
          <p:nvPr/>
        </p:nvSpPr>
        <p:spPr>
          <a:xfrm>
            <a:off x="6135623" y="4114800"/>
            <a:ext cx="1115568" cy="274320"/>
          </a:xfrm>
          <a:prstGeom prst="rect">
            <a:avLst/>
          </a:prstGeom>
          <a:noFill/>
        </p:spPr>
        <p:txBody>
          <a:bodyPr wrap="square" lIns="45720" tIns="27432" rIns="45720" bIns="27432" anchor="t">
            <a:spAutoFit/>
          </a:bodyPr>
          <a:lstStyle/>
          <a:p>
            <a:pPr marL="0" indent="0" algn="l">
              <a:spcAft>
                <a:spcPts val="200"/>
              </a:spcAft>
              <a:buNone/>
            </a:pPr>
            <a:r>
              <a:rPr sz="1050" b="1">
                <a:solidFill>
                  <a:srgbClr val="E3051E"/>
                </a:solidFill>
              </a:rPr>
              <a:t>Minh</a:t>
            </a:r>
          </a:p>
        </p:txBody>
      </p:sp>
      <p:sp>
        <p:nvSpPr>
          <p:cNvPr id="31" name="Rounded Rectangle 30"/>
          <p:cNvSpPr/>
          <p:nvPr/>
        </p:nvSpPr>
        <p:spPr>
          <a:xfrm>
            <a:off x="7447788" y="1783080"/>
            <a:ext cx="1298448"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Oval 31"/>
          <p:cNvSpPr/>
          <p:nvPr/>
        </p:nvSpPr>
        <p:spPr>
          <a:xfrm>
            <a:off x="7557515" y="1892807"/>
            <a:ext cx="329184" cy="329184"/>
          </a:xfrm>
          <a:prstGeom prst="ellipse">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6</a:t>
            </a:r>
          </a:p>
        </p:txBody>
      </p:sp>
      <p:sp>
        <p:nvSpPr>
          <p:cNvPr id="33" name="TextBox 32"/>
          <p:cNvSpPr txBox="1"/>
          <p:nvPr/>
        </p:nvSpPr>
        <p:spPr>
          <a:xfrm>
            <a:off x="7539227" y="2313432"/>
            <a:ext cx="1115568" cy="502920"/>
          </a:xfrm>
          <a:prstGeom prst="rect">
            <a:avLst/>
          </a:prstGeom>
          <a:noFill/>
        </p:spPr>
        <p:txBody>
          <a:bodyPr wrap="square" lIns="45720" tIns="27432" rIns="45720" bIns="27432" anchor="t">
            <a:spAutoFit/>
          </a:bodyPr>
          <a:lstStyle/>
          <a:p>
            <a:pPr marL="0" indent="0" algn="l">
              <a:spcAft>
                <a:spcPts val="0"/>
              </a:spcAft>
              <a:buNone/>
            </a:pPr>
            <a:r>
              <a:rPr sz="1150" b="1">
                <a:solidFill>
                  <a:srgbClr val="3D3A3B"/>
                </a:solidFill>
              </a:rPr>
              <a:t>Grafana</a:t>
            </a:r>
          </a:p>
        </p:txBody>
      </p:sp>
      <p:sp>
        <p:nvSpPr>
          <p:cNvPr id="34" name="TextBox 33"/>
          <p:cNvSpPr txBox="1"/>
          <p:nvPr/>
        </p:nvSpPr>
        <p:spPr>
          <a:xfrm>
            <a:off x="7539227" y="2788920"/>
            <a:ext cx="1115568" cy="1325880"/>
          </a:xfrm>
          <a:prstGeom prst="rect">
            <a:avLst/>
          </a:prstGeom>
          <a:noFill/>
        </p:spPr>
        <p:txBody>
          <a:bodyPr wrap="square" lIns="45720" tIns="27432" rIns="45720" bIns="27432" anchor="t">
            <a:spAutoFit/>
          </a:bodyPr>
          <a:lstStyle/>
          <a:p>
            <a:pPr marL="0" indent="0" algn="l">
              <a:spcAft>
                <a:spcPts val="0"/>
              </a:spcAft>
              <a:buNone/>
            </a:pPr>
            <a:r>
              <a:rPr sz="1050">
                <a:solidFill>
                  <a:srgbClr val="3D3A3B"/>
                </a:solidFill>
              </a:rPr>
              <a:t>Request rate and p95 latency show the clicks we just made</a:t>
            </a:r>
          </a:p>
        </p:txBody>
      </p:sp>
      <p:sp>
        <p:nvSpPr>
          <p:cNvPr id="35" name="TextBox 34"/>
          <p:cNvSpPr txBox="1"/>
          <p:nvPr/>
        </p:nvSpPr>
        <p:spPr>
          <a:xfrm>
            <a:off x="7539227" y="4114800"/>
            <a:ext cx="1115568" cy="274320"/>
          </a:xfrm>
          <a:prstGeom prst="rect">
            <a:avLst/>
          </a:prstGeom>
          <a:noFill/>
        </p:spPr>
        <p:txBody>
          <a:bodyPr wrap="square" lIns="45720" tIns="27432" rIns="45720" bIns="27432" anchor="t">
            <a:spAutoFit/>
          </a:bodyPr>
          <a:lstStyle/>
          <a:p>
            <a:pPr marL="0" indent="0" algn="l">
              <a:spcAft>
                <a:spcPts val="200"/>
              </a:spcAft>
              <a:buNone/>
            </a:pPr>
            <a:r>
              <a:rPr sz="1050" b="1">
                <a:solidFill>
                  <a:srgbClr val="E3051E"/>
                </a:solidFill>
              </a:rPr>
              <a:t>Duc</a:t>
            </a:r>
          </a:p>
        </p:txBody>
      </p:sp>
      <p:sp>
        <p:nvSpPr>
          <p:cNvPr id="36" name="Rounded Rectangle 35"/>
          <p:cNvSpPr/>
          <p:nvPr/>
        </p:nvSpPr>
        <p:spPr>
          <a:xfrm>
            <a:off x="8851392" y="1783080"/>
            <a:ext cx="1298448" cy="26974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Oval 36"/>
          <p:cNvSpPr/>
          <p:nvPr/>
        </p:nvSpPr>
        <p:spPr>
          <a:xfrm>
            <a:off x="8961119" y="1892807"/>
            <a:ext cx="329184" cy="329184"/>
          </a:xfrm>
          <a:prstGeom prst="ellipse">
            <a:avLst/>
          </a:prstGeom>
          <a:solidFill>
            <a:srgbClr val="3D3A3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marL="0" indent="0" algn="ctr">
              <a:spcAft>
                <a:spcPts val="200"/>
              </a:spcAft>
              <a:buNone/>
            </a:pPr>
            <a:r>
              <a:rPr sz="1200" b="1">
                <a:solidFill>
                  <a:srgbClr val="FFFFFF"/>
                </a:solidFill>
              </a:rPr>
              <a:t>7</a:t>
            </a:r>
          </a:p>
        </p:txBody>
      </p:sp>
      <p:sp>
        <p:nvSpPr>
          <p:cNvPr id="38" name="TextBox 37"/>
          <p:cNvSpPr txBox="1"/>
          <p:nvPr/>
        </p:nvSpPr>
        <p:spPr>
          <a:xfrm>
            <a:off x="8942832" y="2313432"/>
            <a:ext cx="1115568" cy="502920"/>
          </a:xfrm>
          <a:prstGeom prst="rect">
            <a:avLst/>
          </a:prstGeom>
          <a:noFill/>
        </p:spPr>
        <p:txBody>
          <a:bodyPr wrap="square" lIns="45720" tIns="27432" rIns="45720" bIns="27432" anchor="t">
            <a:spAutoFit/>
          </a:bodyPr>
          <a:lstStyle/>
          <a:p>
            <a:pPr marL="0" indent="0" algn="l">
              <a:spcAft>
                <a:spcPts val="0"/>
              </a:spcAft>
              <a:buNone/>
            </a:pPr>
            <a:r>
              <a:rPr sz="1150" b="1">
                <a:solidFill>
                  <a:srgbClr val="3D3A3B"/>
                </a:solidFill>
              </a:rPr>
              <a:t>Rollback</a:t>
            </a:r>
          </a:p>
        </p:txBody>
      </p:sp>
      <p:sp>
        <p:nvSpPr>
          <p:cNvPr id="39" name="TextBox 38"/>
          <p:cNvSpPr txBox="1"/>
          <p:nvPr/>
        </p:nvSpPr>
        <p:spPr>
          <a:xfrm>
            <a:off x="8942832" y="2788920"/>
            <a:ext cx="1115568" cy="1325880"/>
          </a:xfrm>
          <a:prstGeom prst="rect">
            <a:avLst/>
          </a:prstGeom>
          <a:noFill/>
        </p:spPr>
        <p:txBody>
          <a:bodyPr wrap="square" lIns="45720" tIns="27432" rIns="45720" bIns="27432" anchor="t">
            <a:spAutoFit/>
          </a:bodyPr>
          <a:lstStyle/>
          <a:p>
            <a:pPr marL="0" indent="0" algn="l">
              <a:spcAft>
                <a:spcPts val="0"/>
              </a:spcAft>
              <a:buNone/>
            </a:pPr>
            <a:r>
              <a:rPr sz="1050">
                <a:solidFill>
                  <a:srgbClr val="3D3A3B"/>
                </a:solidFill>
              </a:rPr>
              <a:t>Redeploy the previous SHA; footer changes back</a:t>
            </a:r>
          </a:p>
        </p:txBody>
      </p:sp>
      <p:sp>
        <p:nvSpPr>
          <p:cNvPr id="40" name="TextBox 39"/>
          <p:cNvSpPr txBox="1"/>
          <p:nvPr/>
        </p:nvSpPr>
        <p:spPr>
          <a:xfrm>
            <a:off x="8942832" y="4114800"/>
            <a:ext cx="1115568" cy="274320"/>
          </a:xfrm>
          <a:prstGeom prst="rect">
            <a:avLst/>
          </a:prstGeom>
          <a:noFill/>
        </p:spPr>
        <p:txBody>
          <a:bodyPr wrap="square" lIns="45720" tIns="27432" rIns="45720" bIns="27432" anchor="t">
            <a:spAutoFit/>
          </a:bodyPr>
          <a:lstStyle/>
          <a:p>
            <a:pPr marL="0" indent="0" algn="l">
              <a:spcAft>
                <a:spcPts val="200"/>
              </a:spcAft>
              <a:buNone/>
            </a:pPr>
            <a:r>
              <a:rPr sz="1050" b="1">
                <a:solidFill>
                  <a:srgbClr val="E3051E"/>
                </a:solidFill>
              </a:rPr>
              <a:t>Tuan</a:t>
            </a:r>
          </a:p>
        </p:txBody>
      </p:sp>
      <p:sp>
        <p:nvSpPr>
          <p:cNvPr id="41" name="Rounded Rectangle 40"/>
          <p:cNvSpPr/>
          <p:nvPr/>
        </p:nvSpPr>
        <p:spPr>
          <a:xfrm>
            <a:off x="429768" y="4709160"/>
            <a:ext cx="9683496" cy="868680"/>
          </a:xfrm>
          <a:prstGeom prst="roundRect">
            <a:avLst>
              <a:gd name="adj" fmla="val 10000"/>
            </a:avLst>
          </a:prstGeom>
          <a:solidFill>
            <a:srgbClr val="E7E7E8"/>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marL="0" indent="0" algn="l">
              <a:spcAft>
                <a:spcPts val="200"/>
              </a:spcAft>
              <a:buNone/>
            </a:pPr>
            <a:r>
              <a:rPr sz="1200" b="1">
                <a:solidFill>
                  <a:srgbClr val="3D3A3B"/>
                </a:solidFill>
              </a:rPr>
              <a:t>What to look for  </a:t>
            </a:r>
          </a:p>
          <a:p>
            <a:pPr marL="0" indent="0" algn="l">
              <a:spcAft>
                <a:spcPts val="200"/>
              </a:spcAft>
              <a:buNone/>
            </a:pPr>
            <a:r>
              <a:rPr sz="1100">
                <a:solidFill>
                  <a:srgbClr val="3D3A3B"/>
                </a:solidFill>
              </a:rPr>
              <a:t>The same commit SHA at every stage: the merge on GitHub, the run page, the image tag in GHCR, /health on the server and the footer of the live page. Nothing was copied to a server by hand, and the identical image that passed the tests on Staging is the one serving Production.</a:t>
            </a:r>
          </a:p>
        </p:txBody>
      </p:sp>
    </p:spTree>
    <p:extLst>
      <p:ext uri="{BB962C8B-B14F-4D97-AF65-F5344CB8AC3E}">
        <p14:creationId xmlns:p14="http://schemas.microsoft.com/office/powerpoint/2010/main" val="2032050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BC5A-8A08-8341-A806-3DDF5108FEA8}"/>
              </a:ext>
            </a:extLst>
          </p:cNvPr>
          <p:cNvSpPr>
            <a:spLocks noGrp="1"/>
          </p:cNvSpPr>
          <p:nvPr>
            <p:ph type="ctrTitle"/>
          </p:nvPr>
        </p:nvSpPr>
        <p:spPr>
          <a:xfrm>
            <a:off x="636239" y="2785803"/>
            <a:ext cx="9687755" cy="584775"/>
          </a:xfrm>
        </p:spPr>
        <p:txBody>
          <a:bodyPr/>
          <a:lstStyle/>
          <a:p>
            <a:pPr algn="ctr"/>
            <a:r>
              <a:t>Thank you</a:t>
            </a:r>
          </a:p>
        </p:txBody>
      </p:sp>
      <p:sp>
        <p:nvSpPr>
          <p:cNvPr id="3" name="Closing lines"/>
          <p:cNvSpPr txBox="1"/>
          <p:nvPr/>
        </p:nvSpPr>
        <p:spPr>
          <a:xfrm>
            <a:off x="640080" y="3520440"/>
            <a:ext cx="9683496" cy="1192955"/>
          </a:xfrm>
          <a:prstGeom prst="rect">
            <a:avLst/>
          </a:prstGeom>
          <a:noFill/>
        </p:spPr>
        <p:txBody>
          <a:bodyPr wrap="square" lIns="45720" tIns="27432" rIns="45720" bIns="27432" anchor="t">
            <a:spAutoFit/>
          </a:bodyPr>
          <a:lstStyle/>
          <a:p>
            <a:pPr marL="0" indent="0" algn="ctr">
              <a:lnSpc>
                <a:spcPct val="150000"/>
              </a:lnSpc>
              <a:spcAft>
                <a:spcPts val="600"/>
              </a:spcAft>
              <a:buNone/>
            </a:pPr>
            <a:r>
              <a:rPr sz="1800" b="1" dirty="0">
                <a:solidFill>
                  <a:srgbClr val="3D3A3B"/>
                </a:solidFill>
              </a:rPr>
              <a:t>Questions?</a:t>
            </a:r>
          </a:p>
          <a:p>
            <a:pPr marL="0" indent="0" algn="ctr">
              <a:lnSpc>
                <a:spcPct val="150000"/>
              </a:lnSpc>
              <a:spcAft>
                <a:spcPts val="600"/>
              </a:spcAft>
              <a:buNone/>
            </a:pPr>
            <a:r>
              <a:rPr sz="1300" dirty="0">
                <a:solidFill>
                  <a:srgbClr val="6E6B6C"/>
                </a:solidFill>
              </a:rPr>
              <a:t>Repository: github.com/anhtuanpro0645/SWE40006-Thurs16-30-G03-Project</a:t>
            </a:r>
          </a:p>
          <a:p>
            <a:pPr marL="0" indent="0" algn="ctr">
              <a:lnSpc>
                <a:spcPct val="150000"/>
              </a:lnSpc>
              <a:spcAft>
                <a:spcPts val="600"/>
              </a:spcAft>
              <a:buNone/>
            </a:pPr>
            <a:r>
              <a:rPr sz="1300" dirty="0">
                <a:solidFill>
                  <a:srgbClr val="6E6B6C"/>
                </a:solidFill>
              </a:rPr>
              <a:t>Group G03: Ngoc Anh Tuan Nguyen, Ha Minh Nguyen, Vinh Nghiem, Huu Tran Minh Duc</a:t>
            </a:r>
          </a:p>
        </p:txBody>
      </p:sp>
    </p:spTree>
    <p:extLst>
      <p:ext uri="{BB962C8B-B14F-4D97-AF65-F5344CB8AC3E}">
        <p14:creationId xmlns:p14="http://schemas.microsoft.com/office/powerpoint/2010/main" val="2679543290"/>
      </p:ext>
    </p:extLst>
  </p:cSld>
  <p:clrMapOvr>
    <a:masterClrMapping/>
  </p:clrMapOvr>
</p:sld>
</file>

<file path=ppt/theme/theme1.xml><?xml version="1.0" encoding="utf-8"?>
<a:theme xmlns:a="http://schemas.openxmlformats.org/drawingml/2006/main" name="Swinburne">
  <a:themeElements>
    <a:clrScheme name="Swinburne">
      <a:dk1>
        <a:srgbClr val="000000"/>
      </a:dk1>
      <a:lt1>
        <a:sysClr val="window" lastClr="FFFFFF"/>
      </a:lt1>
      <a:dk2>
        <a:srgbClr val="3D3A3B"/>
      </a:dk2>
      <a:lt2>
        <a:srgbClr val="E7E7E8"/>
      </a:lt2>
      <a:accent1>
        <a:srgbClr val="3D3A3B"/>
      </a:accent1>
      <a:accent2>
        <a:srgbClr val="E7E7E8"/>
      </a:accent2>
      <a:accent3>
        <a:srgbClr val="A5A5A5"/>
      </a:accent3>
      <a:accent4>
        <a:srgbClr val="BFBFBF"/>
      </a:accent4>
      <a:accent5>
        <a:srgbClr val="D8D8D8"/>
      </a:accent5>
      <a:accent6>
        <a:srgbClr val="F2F2F2"/>
      </a:accent6>
      <a:hlink>
        <a:srgbClr val="0563C1"/>
      </a:hlink>
      <a:folHlink>
        <a:srgbClr val="954F72"/>
      </a:folHlink>
    </a:clrScheme>
    <a:fontScheme name="SwinburneFonts">
      <a:majorFont>
        <a:latin typeface="Barlow Light"/>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nburne" id="{2F5F439F-722C-4FD2-84ED-4D1CD1AFAB38}" vid="{5462BE9E-DCA2-451B-A3C6-85FCFC982355}"/>
    </a:ext>
  </a:extLst>
</a:theme>
</file>

<file path=ppt/theme/theme2.xml><?xml version="1.0" encoding="utf-8"?>
<a:theme xmlns:a="http://schemas.openxmlformats.org/drawingml/2006/main" name="Swinburne - Light">
  <a:themeElements>
    <a:clrScheme name="Swinburne">
      <a:dk1>
        <a:srgbClr val="000000"/>
      </a:dk1>
      <a:lt1>
        <a:sysClr val="window" lastClr="FFFFFF"/>
      </a:lt1>
      <a:dk2>
        <a:srgbClr val="212121"/>
      </a:dk2>
      <a:lt2>
        <a:srgbClr val="FFFFFF"/>
      </a:lt2>
      <a:accent1>
        <a:srgbClr val="DC2D27"/>
      </a:accent1>
      <a:accent2>
        <a:srgbClr val="00B3EF"/>
      </a:accent2>
      <a:accent3>
        <a:srgbClr val="85C441"/>
      </a:accent3>
      <a:accent4>
        <a:srgbClr val="FDB945"/>
      </a:accent4>
      <a:accent5>
        <a:srgbClr val="882786"/>
      </a:accent5>
      <a:accent6>
        <a:srgbClr val="00BED8"/>
      </a:accent6>
      <a:hlink>
        <a:srgbClr val="006098"/>
      </a:hlink>
      <a:folHlink>
        <a:srgbClr val="006098"/>
      </a:folHlink>
    </a:clrScheme>
    <a:fontScheme name="Swinburne Font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nburneTemplate-Standard.potx [Read-Only]" id="{756BC337-38CE-44BA-B896-85768D508A04}" vid="{9554A963-9F5C-4F0C-9853-3723F7E40F3B}"/>
    </a:ext>
  </a:extLst>
</a:theme>
</file>

<file path=ppt/theme/theme3.xml><?xml version="1.0" encoding="utf-8"?>
<a:theme xmlns:a="http://schemas.openxmlformats.org/drawingml/2006/main" name="Swinburne - Colourful Titles">
  <a:themeElements>
    <a:clrScheme name="Swinburne">
      <a:dk1>
        <a:srgbClr val="000000"/>
      </a:dk1>
      <a:lt1>
        <a:sysClr val="window" lastClr="FFFFFF"/>
      </a:lt1>
      <a:dk2>
        <a:srgbClr val="212121"/>
      </a:dk2>
      <a:lt2>
        <a:srgbClr val="FFFFFF"/>
      </a:lt2>
      <a:accent1>
        <a:srgbClr val="DC2D27"/>
      </a:accent1>
      <a:accent2>
        <a:srgbClr val="00B3EF"/>
      </a:accent2>
      <a:accent3>
        <a:srgbClr val="85C441"/>
      </a:accent3>
      <a:accent4>
        <a:srgbClr val="FDB945"/>
      </a:accent4>
      <a:accent5>
        <a:srgbClr val="882786"/>
      </a:accent5>
      <a:accent6>
        <a:srgbClr val="00BED8"/>
      </a:accent6>
      <a:hlink>
        <a:srgbClr val="006098"/>
      </a:hlink>
      <a:folHlink>
        <a:srgbClr val="006098"/>
      </a:folHlink>
    </a:clrScheme>
    <a:fontScheme name="Swinburne Font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nburneTemplate-Standard.potx [Read-Only]" id="{756BC337-38CE-44BA-B896-85768D508A04}" vid="{CC3D3B01-8BE9-4307-AD09-768CABEC5801}"/>
    </a:ext>
  </a:extLst>
</a:theme>
</file>

<file path=ppt/theme/theme4.xml><?xml version="1.0" encoding="utf-8"?>
<a:theme xmlns:a="http://schemas.openxmlformats.org/drawingml/2006/main" name="Swinburne - Dark">
  <a:themeElements>
    <a:clrScheme name="Swinburne">
      <a:dk1>
        <a:srgbClr val="000000"/>
      </a:dk1>
      <a:lt1>
        <a:sysClr val="window" lastClr="FFFFFF"/>
      </a:lt1>
      <a:dk2>
        <a:srgbClr val="212121"/>
      </a:dk2>
      <a:lt2>
        <a:srgbClr val="FFFFFF"/>
      </a:lt2>
      <a:accent1>
        <a:srgbClr val="DC2D27"/>
      </a:accent1>
      <a:accent2>
        <a:srgbClr val="00B3EF"/>
      </a:accent2>
      <a:accent3>
        <a:srgbClr val="85C441"/>
      </a:accent3>
      <a:accent4>
        <a:srgbClr val="FDB945"/>
      </a:accent4>
      <a:accent5>
        <a:srgbClr val="882786"/>
      </a:accent5>
      <a:accent6>
        <a:srgbClr val="00BED8"/>
      </a:accent6>
      <a:hlink>
        <a:srgbClr val="006098"/>
      </a:hlink>
      <a:folHlink>
        <a:srgbClr val="006098"/>
      </a:folHlink>
    </a:clrScheme>
    <a:fontScheme name="Swinburne Fonts">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nburne-wide-PPT-Template_JF" id="{EFF4B9AF-445E-B24D-B9E2-CEAE88E6D320}" vid="{9ECE9064-D06A-8749-A6C2-4D09428F76C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4A9E6E55628542A9E00D522079AB8A" ma:contentTypeVersion="13" ma:contentTypeDescription="Create a new document." ma:contentTypeScope="" ma:versionID="bc9d5ad7b866290eeea8d0330b62b471">
  <xsd:schema xmlns:xsd="http://www.w3.org/2001/XMLSchema" xmlns:xs="http://www.w3.org/2001/XMLSchema" xmlns:p="http://schemas.microsoft.com/office/2006/metadata/properties" xmlns:ns2="6db94942-8a34-4a30-a8e6-78b89cf29212" xmlns:ns3="32a27114-0f9b-470d-a484-01f5ccaf5a0e" targetNamespace="http://schemas.microsoft.com/office/2006/metadata/properties" ma:root="true" ma:fieldsID="b30f91d08ecb2ef14acd979bef34f993" ns2:_="" ns3:_="">
    <xsd:import namespace="6db94942-8a34-4a30-a8e6-78b89cf29212"/>
    <xsd:import namespace="32a27114-0f9b-470d-a484-01f5ccaf5a0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b94942-8a34-4a30-a8e6-78b89cf292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2a27114-0f9b-470d-a484-01f5ccaf5a0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8B5A9C-D132-4FCF-951F-362122C708F1}">
  <ds:schemaRefs>
    <ds:schemaRef ds:uri="http://purl.org/dc/dcmitype/"/>
    <ds:schemaRef ds:uri="http://purl.org/dc/terms/"/>
    <ds:schemaRef ds:uri="http://schemas.microsoft.com/office/2006/documentManagement/types"/>
    <ds:schemaRef ds:uri="http://schemas.microsoft.com/office/infopath/2007/PartnerControls"/>
    <ds:schemaRef ds:uri="http://schemas.microsoft.com/office/2006/metadata/properties"/>
    <ds:schemaRef ds:uri="6db94942-8a34-4a30-a8e6-78b89cf29212"/>
    <ds:schemaRef ds:uri="32a27114-0f9b-470d-a484-01f5ccaf5a0e"/>
    <ds:schemaRef ds:uri="http://schemas.openxmlformats.org/package/2006/metadata/core-properties"/>
    <ds:schemaRef ds:uri="http://www.w3.org/XML/1998/namespace"/>
    <ds:schemaRef ds:uri="http://purl.org/dc/elements/1.1/"/>
  </ds:schemaRefs>
</ds:datastoreItem>
</file>

<file path=customXml/itemProps2.xml><?xml version="1.0" encoding="utf-8"?>
<ds:datastoreItem xmlns:ds="http://schemas.openxmlformats.org/officeDocument/2006/customXml" ds:itemID="{E64B8229-934D-4FDB-94FE-E9083E54BC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b94942-8a34-4a30-a8e6-78b89cf29212"/>
    <ds:schemaRef ds:uri="32a27114-0f9b-470d-a484-01f5ccaf5a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84C5A5F-5895-4E78-BACE-B717DFEC299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Swinburne</Template>
  <TotalTime>2625</TotalTime>
  <Words>3370</Words>
  <Application>Microsoft Office PowerPoint</Application>
  <PresentationFormat>Widescreen</PresentationFormat>
  <Paragraphs>291</Paragraphs>
  <Slides>10</Slides>
  <Notes>10</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10</vt:i4>
      </vt:variant>
    </vt:vector>
  </HeadingPairs>
  <TitlesOfParts>
    <vt:vector size="24" baseType="lpstr">
      <vt:lpstr>Barlow Light</vt:lpstr>
      <vt:lpstr>Consolas</vt:lpstr>
      <vt:lpstr>Open Sans Extrabold</vt:lpstr>
      <vt:lpstr>Montserrat</vt:lpstr>
      <vt:lpstr>Barlow SemiBold</vt:lpstr>
      <vt:lpstr>Calibri</vt:lpstr>
      <vt:lpstr>Arial</vt:lpstr>
      <vt:lpstr>Open Sans</vt:lpstr>
      <vt:lpstr>Open Sans Light</vt:lpstr>
      <vt:lpstr>Open Sans Semibold</vt:lpstr>
      <vt:lpstr>Swinburne</vt:lpstr>
      <vt:lpstr>Swinburne - Light</vt:lpstr>
      <vt:lpstr>Swinburne - Colourful Titles</vt:lpstr>
      <vt:lpstr>Swinburne - Dark</vt:lpstr>
      <vt:lpstr>Project Presentation and Demonstration</vt:lpstr>
      <vt:lpstr>PowerPoint Presentation</vt:lpstr>
      <vt:lpstr>Overview</vt:lpstr>
      <vt:lpstr>Project Background and Problem Statement</vt:lpstr>
      <vt:lpstr>Project Scope and Objectives</vt:lpstr>
      <vt:lpstr>Project Outcome/Deliverables</vt:lpstr>
      <vt:lpstr>Design Concepts &amp; Trade-offs</vt:lpstr>
      <vt:lpstr>Execution &amp; Technical Challenges</vt:lpstr>
      <vt:lpstr>Deployment Demonstration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Elliot Walsh</dc:creator>
  <cp:lastModifiedBy>HA MINH NGUYEN</cp:lastModifiedBy>
  <cp:revision>162</cp:revision>
  <dcterms:created xsi:type="dcterms:W3CDTF">2021-04-21T06:12:21Z</dcterms:created>
  <dcterms:modified xsi:type="dcterms:W3CDTF">2026-10-18T02:43:00Z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0x010100144A9E6E55628542A9E00D522079AB8A</vt:lpwstr>
  </property>
</Properties>
</file>